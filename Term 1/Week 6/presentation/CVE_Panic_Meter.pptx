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5F2067-7BDC-319E-1D3A-4952897DA059}">
          <p14:sldIdLst>
            <p14:sldId id="256"/>
          </p14:sldIdLst>
        </p14:section>
        <p14:section name="Problem and user" id="{67DEE3E0-801B-7C7E-03A0-DC6A6FABF08D}">
          <p14:sldIdLst>
            <p14:sldId id="257"/>
            <p14:sldId id="258"/>
            <p14:sldId id="259"/>
          </p14:sldIdLst>
        </p14:section>
        <p14:section name="Solution and demo" id="{3A2D3BC0-099D-AF55-670F-03757E4DD6B9}">
          <p14:sldIdLst>
            <p14:sldId id="260"/>
            <p14:sldId id="261"/>
          </p14:sldIdLst>
        </p14:section>
        <p14:section name="Test and fit" id="{5CB4749A-EFB0-3E7F-8A5D-999023F1AD18}">
          <p14:sldIdLst>
            <p14:sldId id="262"/>
            <p14:sldId id="267"/>
            <p14:sldId id="263"/>
          </p14:sldIdLst>
        </p14:section>
        <p14:section name="Ethics and approach" id="{F5749D8A-E81A-51D7-4992-2E6D36C6A9EA}">
          <p14:sldIdLst>
            <p14:sldId id="264"/>
            <p14:sldId id="265"/>
          </p14:sldIdLst>
        </p14:section>
        <p14:section name="Close" id="{9041D89D-27FA-F0E5-7793-01DEA51CC3C6}">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012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PAVITRA · about 20 seconds
Good morning. We are Lucas, Iqbal and me, Pavitra. Our project is the CVE Panic Meter.
It keeps reading what the security community writes on Mastodon and Bluesky about new software vulnerabilities, and a Hugging Face sentiment model measures how alarmed those posts sound.
It is built for one person: the information security officer of a Dutch municipality, who has to decide every week what to patch first. SDG 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PAVITRA · about 45 seconds
A CVE is a published security flaw with its own number. In 2025 a record 48,185 were published, about 131 a day. Nobody can read them all, so a team has to choose.
The usual way to choose is the official NVD score. But only 28% of the 2025 CVEs got a full NVD analysis. We saw it ourselves: on our first day of collecting, 87 of the 89 CVEs in our posts had no NVD score yet.
Attackers do not wait: 28.96% of the flaws exploited for the first time were exploited on or before the day the CVE was published, while organisations need a median of 32 days to fix one.
Dutch municipalities have felt this. In January 2020, 150 to 200 municipalities had to switch off Citrix: no working from home, and in some the Burgerzaken desk stopped.
And it is urgent now: since 15 August 2026 the Cyberbeveiligingswet applies. Serious incidents must be reported within 24 hours, and the mayor and aldermen are personally responsible.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PAVITRA · about 35 seconds
SDG 9, target 9.1, is about reliable and resilient infrastructure with affordable and equal access for all.
A municipality's IT is infrastructure: it runs the civil registry, benefits, permits, waste collection, and more and more the bridges, locks and traffic lights. The Cyberbeveiligingswet covers that operational technology too. When it goes down, residents feel it, as the Citrix shutdown of 2020 showed.
The 'for all' part: a large organisation buys commercial threat intelligence; a municipality of 30,000 inhabitants usually cannot. That is our argument for this tool: it brings part of that capability to the organisations with the least capacity. If it works, the officer acts sooner and residents keep their services.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PAVITRA · about 50 seconds
Our user is the information security officer, the CISO, of a small or mid-sized Dutch municipality. There are 342 municipalities and each one has to organise information security. In a big city that is a department; in a smaller one it is often one person, sometimes shared with neighbours, who also writes policy and handles audits and incidents.
Every week they decide: does this update go into the regular patch round, or does it need an emergency change? That costs downtime and overtime, and since August it has to be explained up to the mayor and aldermen.
Not our user: home users, large organisations with their own SOC, or anyone looking for a replacement for the NCSC.
Whose voices do we hear? 1,593 of our 1,764 posts are in English, and 75% come from 47 accounts that look automated. Missing: X and LinkedIn, closed channels, infosec.exchange, non-English speakers, people who only read, and the attackers. So the software Dutch municipalities depend on most is barely discussed.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about 1 minute 10
How it works inside. One script, the collector, runs everything without a button being pressed.
1. Every 5 minutes it asks two Mastodon servers for the newest posts under four hashtags, and it keeps a websocket open to Bluesky Jetstream, which pushes every public post.
2. Only posts with a CVE id are kept. Before anything is written, the account becomes a salted hash and @mentions become @user.
3. The post goes into SQLite.
4. Then the model. Every minute the scorer asks the database which posts have no score yet and runs them through our Hugging Face model, 16 at a time. It is a transformers pipeline that gives all three probabilities, not just the winning label. The probability of 'negative' is the alarm score of the post. It runs on our own processor; nothing goes to an API.
Why this model: it was trained on 124 million tweets, the same kind of short text; it has a neutral label for all the plain announcements; and it runs without a GPU.
What does it add? Take this post: exploited in the wild, patch now. The downloaded model gives 0.57, our fine-tuned model 1.00. A plain 'CVSS 9.8 critical' announcement goes from 0.31 to 0.00. A count of posts sees one post either way; the model hears the difference.
5. Every CVE is looked up in the NVD and the CISA list. 6. The Streamlit dashboard shows it.
It ran 66.6 hours on its own and analysed 1,764 posts, with none left unscored.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about 2 minutes · switch to the browser with the dashboard (localhost:8501)
1. Status line: how many posts are analysed and how old the newest one is. It is live: the collector is running right now.
2. Alarm per hour: the line is the average alarm, the bars the number of posts. Click one clear peak (pick it during rehearsal) and read two or three of the posts behind it out loud: is it a real warning or an automated feed?
3. The table of the last 24 hours: watchlist first, then alarm, number of posts and different accounts, the CVSS score with who gave it, and the CISA status. Tick one row to show its posts.
4. The scatter plot of official score against alarm. Point at the corners: high alarm with a low or missing score is the case our user wants first.
Mention the switch: automated accounts are left out by default. And the fixed warning at the top: no alarm does not mean no risk.
Then switch back to the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about 1 minute 10
The honest test. We labelled 100 posts from our own stream by hand, together: 20 alarmed, 78 neutral, 2 reassuring. Before we saw any result we set a bar: the model has to find at least 60% of the alarmed posts, and its F1 has to be at least 0.15 above a simple word list.
As downloaded, both models failed: twitter-roberta-base-sentiment-latest found only 7 of the 20 alarmed posts, F1 0.29, and a word list without any machine learning scored 0.83. So we fine-tuned, twice. With 900 posts from our own stream, the fine-tuned twitter-roberta-base-sentiment-latest finds 18 of the 20, F1 0.86. It passes bar 1. It does not pass bar 2: it is 0.03 above the word list, not 0.15.
We would still hand over this model, and say that it has not passed our bar. For our user a missed alarm is worse than a false one: it finds 18 where the word list finds 15, at the price of 4 false alarms against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about 30 seconds
The failure that taught us the most was not in the test. Japanese is the second language in our stream: 120 posts. The model calls 100 of them alarmed, average 0.83 against 0.18 for English. It cannot read Japanese; it seems to read what it does not understand as negative.
Our test had only 3 Japanese posts, so it could not show this. We found it only by looking at what the collector had stored. Most of those posts come from automated accounts, which the dashboard leaves out by default; next we want to leave non-English posts out of the averages too.
Lesson: a test set only tells you about what is in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IQBAL · about 35 seconds
Why not something simpler? Only the CVSS score: it is missing for most new CVEs; on our first day 87 of 89 had none. Only counting posts: 75% of our posts come from automated accounts, and volume is not alarm. Waiting for the CISA list: a vulnerability only gets on it after exploitation is confirmed, which is too late. And a word list came closest: F1 0.83 against 0.86, but it found 15 of the 20 alarmed posts where our model found 18.
So our honest answer: the tool is reliable enough to decide which posts to read first, not reliable enough to decide what to patch. It fits the user because it reorders the list they already work through, and gives them the posts as evidence for the 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IQBAL · about 50 seconds
Five risks that are specific to our stream and our model.
One, the worst: silence is not safety. The stream is English and Western, so a flaw in software made for Dutch municipalities stays quiet. If the officer reads that as 'no problem', the patch waits. So every score shows how many posts and accounts it rests on, 800 of the 847 CVEs are marked low data, the CISA status is always there, and the tool may move a CVE up the list, never down.
Two, bots: 47 accounts wrote 75% of the posts. We wrote our own bot rules, leave those accounts out by default, and count one account at most three times.
Three, the model misreads, and it was trained in one week. We set the bar beforehand, fine-tuned, show the test and its date on the dashboard, and the next step is to retest every month on fresh posts.
Four, the people in the data: we store no names or profiles, hash accounts, skip people who opted out and delete what Bluesky authors delete.
Five, trusting the line too much: the dashboard never says 'patch now', and it lists what it must not be used for.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IQBAL · about 35 seconds
What is ours and what is AI. Our choices: the idea and the user, the bar for good enough before we saw any result, and labelling the 100 test posts ourselves. When the downloaded model found only 7 of the 20 alarmed posts, we decided ourselves to fine-tune it.
AI helped: Claude checked the APIs and improved the plan, Claude Code wrote the code step by step while we directed and checked it, and Claude labelled most of the 900 training posts with our guide. We checked those labels by hand and corrected the ones we disagreed with, including the 47 the AI itself marked as doubtful.
And the most important line: no chat model scores a post. Every post is scored by the Hugging Face model, run by our own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IQBAL · about 15 seconds
We started with three questions. Can a sentiment model tell alarm from an announcement? Not as downloaded; after fine-tuning on our own stream, 18 of 20. Does it add something to the official sources? Yes: the tone of the specialists, while the official score is still missing. Is it reliable enough? Half our bar.
So our conclusion: it can help decide what to read. It cannot decide what to patch.
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F1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rtlCol="0"/>
          <a:lstStyle>
            <a:lvl1pPr marL="0" indent="0">
              <a:buNone/>
              <a:defRPr lang="en-US" sz="1200" b="1" kern="0" spc="200" dirty="0">
                <a:solidFill>
                  <a:srgbClr val="FFB000"/>
                </a:solidFill>
                <a:latin typeface="Consolas" pitchFamily="34" charset="0"/>
                <a:ea typeface="Consolas" pitchFamily="34" charset="-122"/>
                <a:cs typeface="Consolas" pitchFamily="34" charset="-120"/>
              </a:defRPr>
            </a:lvl1pP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rtlCol="0"/>
          <a:lstStyle>
            <a:lvl1pPr marL="0" indent="0" algn="l">
              <a:buNone/>
              <a:defRPr lang="en-US" sz="2800" dirty="0">
                <a:solidFill>
                  <a:srgbClr val="E6EDF3"/>
                </a:solidFill>
                <a:latin typeface="Segoe UI Semibold" pitchFamily="34" charset="0"/>
                <a:ea typeface="Segoe UI Semibold" pitchFamily="34" charset="-122"/>
                <a:cs typeface="Segoe UI Semibold" pitchFamily="34" charset="-120"/>
              </a:defRPr>
            </a:lvl1pP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Title</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rtlCol="0"/>
          <a:lstStyle>
            <a:lvl1pPr marL="0" indent="0">
              <a:buNone/>
              <a:defRPr lang="en-US" sz="1000" dirty="0">
                <a:solidFill>
                  <a:srgbClr val="93A1B3"/>
                </a:solidFill>
                <a:latin typeface="Segoe UI" pitchFamily="34" charset="0"/>
                <a:ea typeface="Segoe UI" pitchFamily="34" charset="-122"/>
                <a:cs typeface="Segoe UI" pitchFamily="34" charset="-120"/>
              </a:defRPr>
            </a:lvl1pPr>
          </a:lstStyle>
          <a:p>
            <a:pPr marL="0" indent="0">
              <a:buNone/>
            </a:pPr>
            <a:r>
              <a:rPr lang="en-US" sz="1000" dirty="0">
                <a:solidFill>
                  <a:srgbClr val="93A1B3"/>
                </a:solidFill>
                <a:latin typeface="Segoe UI" pitchFamily="34" charset="0"/>
                <a:ea typeface="Segoe UI" pitchFamily="34" charset="-122"/>
                <a:cs typeface="Segoe UI" pitchFamily="34" charset="-120"/>
              </a:rPr>
              <a:t>Source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0F1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6400800"/>
            <a:ext cx="11277295" cy="274320"/>
          </a:xfrm>
          <a:prstGeom prst="rect">
            <a:avLst/>
          </a:prstGeom>
          <a:noFill/>
          <a:ln/>
        </p:spPr>
        <p:txBody>
          <a:bodyPr wrap="square" rtlCol="0"/>
          <a:lstStyle>
            <a:lvl1pPr marL="0" indent="0">
              <a:buNone/>
              <a:defRPr lang="en-US" sz="1000" dirty="0">
                <a:solidFill>
                  <a:srgbClr val="93A1B3"/>
                </a:solidFill>
                <a:latin typeface="Segoe UI" pitchFamily="34" charset="0"/>
                <a:ea typeface="Segoe UI" pitchFamily="34" charset="-122"/>
                <a:cs typeface="Segoe UI" pitchFamily="34" charset="-120"/>
              </a:defRPr>
            </a:lvl1pPr>
          </a:lstStyle>
          <a:p>
            <a:pPr marL="0" indent="0">
              <a:buNone/>
            </a:pPr>
            <a:r>
              <a:rPr lang="en-US" sz="1000" dirty="0">
                <a:solidFill>
                  <a:srgbClr val="93A1B3"/>
                </a:solidFill>
                <a:latin typeface="Segoe UI" pitchFamily="34" charset="0"/>
                <a:ea typeface="Segoe UI" pitchFamily="34" charset="-122"/>
                <a:cs typeface="Segoe UI" pitchFamily="34" charset="-120"/>
              </a:rPr>
              <a:t>Source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README.md · model: cardiffnlp/twitter-roberta-base-sentiment-latest (Hugging Face)</a:t>
            </a:r>
            <a:endParaRPr lang="en-US" sz="1000" dirty="0"/>
          </a:p>
        </p:txBody>
      </p:sp>
      <p:sp>
        <p:nvSpPr>
          <p:cNvPr id="3"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01</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4" name="Text 2"/>
          <p:cNvSpPr txBox="1"/>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AI FOR GOOD · HACKATHON 6: LIVE PULSE · SDG 9</a:t>
            </a:r>
            <a:endParaRPr lang="en-US" sz="1200" dirty="0"/>
          </a:p>
        </p:txBody>
      </p:sp>
      <p:sp>
        <p:nvSpPr>
          <p:cNvPr id="5" name="Text 3"/>
          <p:cNvSpPr txBox="1"/>
          <p:nvPr/>
        </p:nvSpPr>
        <p:spPr>
          <a:xfrm>
            <a:off x="457200" y="1600200"/>
            <a:ext cx="6949440" cy="1005840"/>
          </a:xfrm>
          <a:prstGeom prst="rect">
            <a:avLst/>
          </a:prstGeom>
          <a:noFill/>
          <a:ln/>
        </p:spPr>
        <p:txBody>
          <a:bodyPr wrap="square" lIns="0" tIns="0" rIns="0" bIns="0" rtlCol="0" anchor="ctr"/>
          <a:lstStyle/>
          <a:p>
            <a:pPr marL="0" indent="0">
              <a:buNone/>
            </a:pPr>
            <a:r>
              <a:rPr lang="en-US" sz="5400" dirty="0">
                <a:solidFill>
                  <a:srgbClr val="E6EDF3"/>
                </a:solidFill>
                <a:latin typeface="Segoe UI Semibold" pitchFamily="34" charset="0"/>
                <a:ea typeface="Segoe UI Semibold" pitchFamily="34" charset="-122"/>
                <a:cs typeface="Segoe UI Semibold" pitchFamily="34" charset="-120"/>
              </a:rPr>
              <a:t>CVE Panic Meter</a:t>
            </a:r>
            <a:endParaRPr lang="en-US" sz="5400" dirty="0"/>
          </a:p>
        </p:txBody>
      </p:sp>
      <p:sp>
        <p:nvSpPr>
          <p:cNvPr id="6" name="Text 4"/>
          <p:cNvSpPr txBox="1"/>
          <p:nvPr/>
        </p:nvSpPr>
        <p:spPr>
          <a:xfrm>
            <a:off x="457200" y="2697480"/>
            <a:ext cx="6400800" cy="1097280"/>
          </a:xfrm>
          <a:prstGeom prst="rect">
            <a:avLst/>
          </a:prstGeom>
          <a:noFill/>
          <a:ln/>
        </p:spPr>
        <p:txBody>
          <a:bodyPr wrap="square" lIns="0" tIns="0" rIns="0" bIns="0" rtlCol="0" anchor="t"/>
          <a:lstStyle/>
          <a:p>
            <a:pPr marL="0" indent="0">
              <a:buNone/>
            </a:pPr>
            <a:r>
              <a:rPr lang="en-US" sz="2000" dirty="0">
                <a:solidFill>
                  <a:srgbClr val="E6EDF3"/>
                </a:solidFill>
                <a:latin typeface="Segoe UI" pitchFamily="34" charset="0"/>
                <a:ea typeface="Segoe UI" pitchFamily="34" charset="-122"/>
                <a:cs typeface="Segoe UI" pitchFamily="34" charset="-120"/>
              </a:rPr>
              <a:t>A live meter of how alarmed the security community sounds about new CVEs, for the municipal security officer who decides what to patch first.</a:t>
            </a:r>
            <a:endParaRPr lang="en-US" sz="2000" dirty="0"/>
          </a:p>
        </p:txBody>
      </p:sp>
      <p:sp>
        <p:nvSpPr>
          <p:cNvPr id="7" name="Text 5"/>
          <p:cNvSpPr txBox="1"/>
          <p:nvPr/>
        </p:nvSpPr>
        <p:spPr>
          <a:xfrm>
            <a:off x="457200" y="3931920"/>
            <a:ext cx="6766560" cy="320040"/>
          </a:xfrm>
          <a:prstGeom prst="rect">
            <a:avLst/>
          </a:prstGeom>
          <a:noFill/>
          <a:ln/>
        </p:spPr>
        <p:txBody>
          <a:bodyPr wrap="square" lIns="0" tIns="0" rIns="0" bIns="0" rtlCol="0" anchor="t"/>
          <a:lstStyle/>
          <a:p>
            <a:pPr marL="0" indent="0">
              <a:buNone/>
            </a:pPr>
            <a:r>
              <a:rPr lang="en-US" sz="1300" dirty="0">
                <a:solidFill>
                  <a:srgbClr val="7AA2C8"/>
                </a:solidFill>
                <a:latin typeface="Consolas" pitchFamily="34" charset="0"/>
                <a:ea typeface="Consolas" pitchFamily="34" charset="-122"/>
                <a:cs typeface="Consolas" pitchFamily="34" charset="-120"/>
              </a:rPr>
              <a:t>Mastodon + Bluesky  →  Hugging Face sentiment model  →  live dashboard</a:t>
            </a:r>
            <a:endParaRPr lang="en-US" sz="1300" dirty="0"/>
          </a:p>
        </p:txBody>
      </p:sp>
      <p:sp>
        <p:nvSpPr>
          <p:cNvPr id="8" name="Text 6"/>
          <p:cNvSpPr txBox="1"/>
          <p:nvPr/>
        </p:nvSpPr>
        <p:spPr>
          <a:xfrm>
            <a:off x="457200" y="5029200"/>
            <a:ext cx="6766560" cy="365760"/>
          </a:xfrm>
          <a:prstGeom prst="rect">
            <a:avLst/>
          </a:prstGeom>
          <a:noFill/>
          <a:ln/>
        </p:spPr>
        <p:txBody>
          <a:bodyPr wrap="square" lIns="0" tIns="0" rIns="0" bIns="0" rtlCol="0" anchor="t"/>
          <a:lstStyle/>
          <a:p>
            <a:pPr marL="0" indent="0">
              <a:buNone/>
            </a:pPr>
            <a:r>
              <a:rPr lang="en-US" sz="1800" dirty="0">
                <a:solidFill>
                  <a:srgbClr val="E6EDF3"/>
                </a:solidFill>
                <a:latin typeface="Segoe UI Semibold" pitchFamily="34" charset="0"/>
                <a:ea typeface="Segoe UI Semibold" pitchFamily="34" charset="-122"/>
                <a:cs typeface="Segoe UI Semibold" pitchFamily="34" charset="-120"/>
              </a:rPr>
              <a:t>Lucas Jansze  ·  Muhammad Iqbal  ·  Pavitra Pradeep</a:t>
            </a:r>
            <a:endParaRPr lang="en-US" sz="1800" dirty="0"/>
          </a:p>
        </p:txBody>
      </p:sp>
      <p:sp>
        <p:nvSpPr>
          <p:cNvPr id="9" name="Text 7"/>
          <p:cNvSpPr txBox="1"/>
          <p:nvPr/>
        </p:nvSpPr>
        <p:spPr>
          <a:xfrm>
            <a:off x="457200" y="5440680"/>
            <a:ext cx="6766560" cy="320040"/>
          </a:xfrm>
          <a:prstGeom prst="rect">
            <a:avLst/>
          </a:prstGeom>
          <a:noFill/>
          <a:ln/>
        </p:spPr>
        <p:txBody>
          <a:bodyPr wrap="square" lIns="0" tIns="0" rIns="0" bIns="0" rtlCol="0" anchor="t"/>
          <a:lstStyle/>
          <a:p>
            <a:pPr marL="0" indent="0">
              <a:buNone/>
            </a:pPr>
            <a:r>
              <a:rPr lang="en-US" sz="1400" dirty="0">
                <a:solidFill>
                  <a:srgbClr val="93A1B3"/>
                </a:solidFill>
                <a:latin typeface="Segoe UI" pitchFamily="34" charset="0"/>
                <a:ea typeface="Segoe UI" pitchFamily="34" charset="-122"/>
                <a:cs typeface="Segoe UI" pitchFamily="34" charset="-120"/>
              </a:rPr>
              <a:t>SDG 9 · Industry, Innovation and Infrastructure</a:t>
            </a:r>
            <a:endParaRPr lang="en-US" sz="1400" dirty="0"/>
          </a:p>
        </p:txBody>
      </p:sp>
      <p:sp>
        <p:nvSpPr>
          <p:cNvPr id="10" name="Gauge segment"/>
          <p:cNvSpPr/>
          <p:nvPr/>
        </p:nvSpPr>
        <p:spPr>
          <a:xfrm>
            <a:off x="7315200" y="2011680"/>
            <a:ext cx="4297680" cy="4297680"/>
          </a:xfrm>
          <a:prstGeom prst="blockArc">
            <a:avLst>
              <a:gd name="adj1" fmla="val 10836000"/>
              <a:gd name="adj2" fmla="val 11364000"/>
              <a:gd name="adj3" fmla="val 12000"/>
            </a:avLst>
          </a:prstGeom>
          <a:solidFill>
            <a:srgbClr val="4E6A88"/>
          </a:solidFill>
          <a:ln/>
        </p:spPr>
        <p:txBody>
          <a:bodyPr/>
          <a:lstStyle/>
          <a:p>
            <a:endParaRPr lang="en-US"/>
          </a:p>
        </p:txBody>
      </p:sp>
      <p:sp>
        <p:nvSpPr>
          <p:cNvPr id="11" name="Gauge segment"/>
          <p:cNvSpPr/>
          <p:nvPr/>
        </p:nvSpPr>
        <p:spPr>
          <a:xfrm>
            <a:off x="7315200" y="2011680"/>
            <a:ext cx="4297680" cy="4297680"/>
          </a:xfrm>
          <a:prstGeom prst="blockArc">
            <a:avLst>
              <a:gd name="adj1" fmla="val 11436000"/>
              <a:gd name="adj2" fmla="val 11964000"/>
              <a:gd name="adj3" fmla="val 12000"/>
            </a:avLst>
          </a:prstGeom>
          <a:solidFill>
            <a:srgbClr val="637278"/>
          </a:solidFill>
          <a:ln/>
        </p:spPr>
        <p:txBody>
          <a:bodyPr/>
          <a:lstStyle/>
          <a:p>
            <a:endParaRPr lang="en-US"/>
          </a:p>
        </p:txBody>
      </p:sp>
      <p:sp>
        <p:nvSpPr>
          <p:cNvPr id="12" name="Gauge segment"/>
          <p:cNvSpPr/>
          <p:nvPr/>
        </p:nvSpPr>
        <p:spPr>
          <a:xfrm>
            <a:off x="7315200" y="2011680"/>
            <a:ext cx="4297680" cy="4297680"/>
          </a:xfrm>
          <a:prstGeom prst="blockArc">
            <a:avLst>
              <a:gd name="adj1" fmla="val 12036000"/>
              <a:gd name="adj2" fmla="val 12564000"/>
              <a:gd name="adj3" fmla="val 12000"/>
            </a:avLst>
          </a:prstGeom>
          <a:solidFill>
            <a:srgbClr val="787A68"/>
          </a:solidFill>
          <a:ln/>
        </p:spPr>
        <p:txBody>
          <a:bodyPr/>
          <a:lstStyle/>
          <a:p>
            <a:endParaRPr lang="en-US"/>
          </a:p>
        </p:txBody>
      </p:sp>
      <p:sp>
        <p:nvSpPr>
          <p:cNvPr id="13" name="Gauge segment"/>
          <p:cNvSpPr/>
          <p:nvPr/>
        </p:nvSpPr>
        <p:spPr>
          <a:xfrm>
            <a:off x="7315200" y="2011680"/>
            <a:ext cx="4297680" cy="4297680"/>
          </a:xfrm>
          <a:prstGeom prst="blockArc">
            <a:avLst>
              <a:gd name="adj1" fmla="val 12636000"/>
              <a:gd name="adj2" fmla="val 13164000"/>
              <a:gd name="adj3" fmla="val 12000"/>
            </a:avLst>
          </a:prstGeom>
          <a:solidFill>
            <a:srgbClr val="8C8358"/>
          </a:solidFill>
          <a:ln/>
        </p:spPr>
        <p:txBody>
          <a:bodyPr/>
          <a:lstStyle/>
          <a:p>
            <a:endParaRPr lang="en-US"/>
          </a:p>
        </p:txBody>
      </p:sp>
      <p:sp>
        <p:nvSpPr>
          <p:cNvPr id="14" name="Gauge segment"/>
          <p:cNvSpPr/>
          <p:nvPr/>
        </p:nvSpPr>
        <p:spPr>
          <a:xfrm>
            <a:off x="7315200" y="2011680"/>
            <a:ext cx="4297680" cy="4297680"/>
          </a:xfrm>
          <a:prstGeom prst="blockArc">
            <a:avLst>
              <a:gd name="adj1" fmla="val 13236000"/>
              <a:gd name="adj2" fmla="val 13764000"/>
              <a:gd name="adj3" fmla="val 12000"/>
            </a:avLst>
          </a:prstGeom>
          <a:solidFill>
            <a:srgbClr val="A18B48"/>
          </a:solidFill>
          <a:ln/>
        </p:spPr>
        <p:txBody>
          <a:bodyPr/>
          <a:lstStyle/>
          <a:p>
            <a:endParaRPr lang="en-US"/>
          </a:p>
        </p:txBody>
      </p:sp>
      <p:sp>
        <p:nvSpPr>
          <p:cNvPr id="15" name="Gauge segment"/>
          <p:cNvSpPr/>
          <p:nvPr/>
        </p:nvSpPr>
        <p:spPr>
          <a:xfrm>
            <a:off x="7315200" y="2011680"/>
            <a:ext cx="4297680" cy="4297680"/>
          </a:xfrm>
          <a:prstGeom prst="blockArc">
            <a:avLst>
              <a:gd name="adj1" fmla="val 13836000"/>
              <a:gd name="adj2" fmla="val 14364000"/>
              <a:gd name="adj3" fmla="val 12000"/>
            </a:avLst>
          </a:prstGeom>
          <a:solidFill>
            <a:srgbClr val="B69338"/>
          </a:solidFill>
          <a:ln/>
        </p:spPr>
        <p:txBody>
          <a:bodyPr/>
          <a:lstStyle/>
          <a:p>
            <a:endParaRPr lang="en-US"/>
          </a:p>
        </p:txBody>
      </p:sp>
      <p:sp>
        <p:nvSpPr>
          <p:cNvPr id="16" name="Gauge segment"/>
          <p:cNvSpPr/>
          <p:nvPr/>
        </p:nvSpPr>
        <p:spPr>
          <a:xfrm>
            <a:off x="7315200" y="2011680"/>
            <a:ext cx="4297680" cy="4297680"/>
          </a:xfrm>
          <a:prstGeom prst="blockArc">
            <a:avLst>
              <a:gd name="adj1" fmla="val 14436000"/>
              <a:gd name="adj2" fmla="val 14964000"/>
              <a:gd name="adj3" fmla="val 12000"/>
            </a:avLst>
          </a:prstGeom>
          <a:solidFill>
            <a:srgbClr val="CB9B28"/>
          </a:solidFill>
          <a:ln/>
        </p:spPr>
        <p:txBody>
          <a:bodyPr/>
          <a:lstStyle/>
          <a:p>
            <a:endParaRPr lang="en-US"/>
          </a:p>
        </p:txBody>
      </p:sp>
      <p:sp>
        <p:nvSpPr>
          <p:cNvPr id="17" name="Gauge segment"/>
          <p:cNvSpPr/>
          <p:nvPr/>
        </p:nvSpPr>
        <p:spPr>
          <a:xfrm>
            <a:off x="7315200" y="2011680"/>
            <a:ext cx="4297680" cy="4297680"/>
          </a:xfrm>
          <a:prstGeom prst="blockArc">
            <a:avLst>
              <a:gd name="adj1" fmla="val 15036000"/>
              <a:gd name="adj2" fmla="val 15564000"/>
              <a:gd name="adj3" fmla="val 12000"/>
            </a:avLst>
          </a:prstGeom>
          <a:solidFill>
            <a:srgbClr val="E0A418"/>
          </a:solidFill>
          <a:ln/>
        </p:spPr>
        <p:txBody>
          <a:bodyPr/>
          <a:lstStyle/>
          <a:p>
            <a:endParaRPr lang="en-US"/>
          </a:p>
        </p:txBody>
      </p:sp>
      <p:sp>
        <p:nvSpPr>
          <p:cNvPr id="18" name="Gauge segment"/>
          <p:cNvSpPr/>
          <p:nvPr/>
        </p:nvSpPr>
        <p:spPr>
          <a:xfrm>
            <a:off x="7315200" y="2011680"/>
            <a:ext cx="4297680" cy="4297680"/>
          </a:xfrm>
          <a:prstGeom prst="blockArc">
            <a:avLst>
              <a:gd name="adj1" fmla="val 15636000"/>
              <a:gd name="adj2" fmla="val 16164000"/>
              <a:gd name="adj3" fmla="val 12000"/>
            </a:avLst>
          </a:prstGeom>
          <a:solidFill>
            <a:srgbClr val="F5AC08"/>
          </a:solidFill>
          <a:ln/>
        </p:spPr>
        <p:txBody>
          <a:bodyPr/>
          <a:lstStyle/>
          <a:p>
            <a:endParaRPr lang="en-US"/>
          </a:p>
        </p:txBody>
      </p:sp>
      <p:sp>
        <p:nvSpPr>
          <p:cNvPr id="19" name="Gauge segment"/>
          <p:cNvSpPr/>
          <p:nvPr/>
        </p:nvSpPr>
        <p:spPr>
          <a:xfrm>
            <a:off x="7315200" y="2011680"/>
            <a:ext cx="4297680" cy="4297680"/>
          </a:xfrm>
          <a:prstGeom prst="blockArc">
            <a:avLst>
              <a:gd name="adj1" fmla="val 16236000"/>
              <a:gd name="adj2" fmla="val 16764000"/>
              <a:gd name="adj3" fmla="val 12000"/>
            </a:avLst>
          </a:prstGeom>
          <a:solidFill>
            <a:srgbClr val="FFAA03"/>
          </a:solidFill>
          <a:ln/>
        </p:spPr>
        <p:txBody>
          <a:bodyPr/>
          <a:lstStyle/>
          <a:p>
            <a:endParaRPr lang="en-US"/>
          </a:p>
        </p:txBody>
      </p:sp>
      <p:sp>
        <p:nvSpPr>
          <p:cNvPr id="20" name="Gauge segment"/>
          <p:cNvSpPr/>
          <p:nvPr/>
        </p:nvSpPr>
        <p:spPr>
          <a:xfrm>
            <a:off x="7315200" y="2011680"/>
            <a:ext cx="4297680" cy="4297680"/>
          </a:xfrm>
          <a:prstGeom prst="blockArc">
            <a:avLst>
              <a:gd name="adj1" fmla="val 16836000"/>
              <a:gd name="adj2" fmla="val 17364000"/>
              <a:gd name="adj3" fmla="val 12000"/>
            </a:avLst>
          </a:prstGeom>
          <a:solidFill>
            <a:srgbClr val="FF9D0A"/>
          </a:solidFill>
          <a:ln/>
        </p:spPr>
        <p:txBody>
          <a:bodyPr/>
          <a:lstStyle/>
          <a:p>
            <a:endParaRPr lang="en-US"/>
          </a:p>
        </p:txBody>
      </p:sp>
      <p:sp>
        <p:nvSpPr>
          <p:cNvPr id="21" name="Gauge segment"/>
          <p:cNvSpPr/>
          <p:nvPr/>
        </p:nvSpPr>
        <p:spPr>
          <a:xfrm>
            <a:off x="7315200" y="2011680"/>
            <a:ext cx="4297680" cy="4297680"/>
          </a:xfrm>
          <a:prstGeom prst="blockArc">
            <a:avLst>
              <a:gd name="adj1" fmla="val 17436000"/>
              <a:gd name="adj2" fmla="val 17964000"/>
              <a:gd name="adj3" fmla="val 12000"/>
            </a:avLst>
          </a:prstGeom>
          <a:solidFill>
            <a:srgbClr val="FF9111"/>
          </a:solidFill>
          <a:ln/>
        </p:spPr>
        <p:txBody>
          <a:bodyPr/>
          <a:lstStyle/>
          <a:p>
            <a:endParaRPr lang="en-US"/>
          </a:p>
        </p:txBody>
      </p:sp>
      <p:sp>
        <p:nvSpPr>
          <p:cNvPr id="22" name="Gauge segment"/>
          <p:cNvSpPr/>
          <p:nvPr/>
        </p:nvSpPr>
        <p:spPr>
          <a:xfrm>
            <a:off x="7315200" y="2011680"/>
            <a:ext cx="4297680" cy="4297680"/>
          </a:xfrm>
          <a:prstGeom prst="blockArc">
            <a:avLst>
              <a:gd name="adj1" fmla="val 18036000"/>
              <a:gd name="adj2" fmla="val 18564000"/>
              <a:gd name="adj3" fmla="val 12000"/>
            </a:avLst>
          </a:prstGeom>
          <a:solidFill>
            <a:srgbClr val="FF8418"/>
          </a:solidFill>
          <a:ln/>
        </p:spPr>
        <p:txBody>
          <a:bodyPr/>
          <a:lstStyle/>
          <a:p>
            <a:endParaRPr lang="en-US"/>
          </a:p>
        </p:txBody>
      </p:sp>
      <p:sp>
        <p:nvSpPr>
          <p:cNvPr id="23" name="Gauge segment"/>
          <p:cNvSpPr/>
          <p:nvPr/>
        </p:nvSpPr>
        <p:spPr>
          <a:xfrm>
            <a:off x="7315200" y="2011680"/>
            <a:ext cx="4297680" cy="4297680"/>
          </a:xfrm>
          <a:prstGeom prst="blockArc">
            <a:avLst>
              <a:gd name="adj1" fmla="val 18636000"/>
              <a:gd name="adj2" fmla="val 19164000"/>
              <a:gd name="adj3" fmla="val 12000"/>
            </a:avLst>
          </a:prstGeom>
          <a:solidFill>
            <a:srgbClr val="FF771F"/>
          </a:solidFill>
          <a:ln/>
        </p:spPr>
        <p:txBody>
          <a:bodyPr/>
          <a:lstStyle/>
          <a:p>
            <a:endParaRPr lang="en-US"/>
          </a:p>
        </p:txBody>
      </p:sp>
      <p:sp>
        <p:nvSpPr>
          <p:cNvPr id="24" name="Gauge segment"/>
          <p:cNvSpPr/>
          <p:nvPr/>
        </p:nvSpPr>
        <p:spPr>
          <a:xfrm>
            <a:off x="7315200" y="2011680"/>
            <a:ext cx="4297680" cy="4297680"/>
          </a:xfrm>
          <a:prstGeom prst="blockArc">
            <a:avLst>
              <a:gd name="adj1" fmla="val 19236000"/>
              <a:gd name="adj2" fmla="val 19764000"/>
              <a:gd name="adj3" fmla="val 12000"/>
            </a:avLst>
          </a:prstGeom>
          <a:solidFill>
            <a:srgbClr val="FF6B26"/>
          </a:solidFill>
          <a:ln/>
        </p:spPr>
        <p:txBody>
          <a:bodyPr/>
          <a:lstStyle/>
          <a:p>
            <a:endParaRPr lang="en-US"/>
          </a:p>
        </p:txBody>
      </p:sp>
      <p:sp>
        <p:nvSpPr>
          <p:cNvPr id="25" name="Gauge segment"/>
          <p:cNvSpPr/>
          <p:nvPr/>
        </p:nvSpPr>
        <p:spPr>
          <a:xfrm>
            <a:off x="7315200" y="2011680"/>
            <a:ext cx="4297680" cy="4297680"/>
          </a:xfrm>
          <a:prstGeom prst="blockArc">
            <a:avLst>
              <a:gd name="adj1" fmla="val 19836000"/>
              <a:gd name="adj2" fmla="val 20364000"/>
              <a:gd name="adj3" fmla="val 12000"/>
            </a:avLst>
          </a:prstGeom>
          <a:solidFill>
            <a:srgbClr val="FF5E2C"/>
          </a:solidFill>
          <a:ln/>
        </p:spPr>
        <p:txBody>
          <a:bodyPr/>
          <a:lstStyle/>
          <a:p>
            <a:endParaRPr lang="en-US"/>
          </a:p>
        </p:txBody>
      </p:sp>
      <p:sp>
        <p:nvSpPr>
          <p:cNvPr id="26" name="Gauge segment"/>
          <p:cNvSpPr/>
          <p:nvPr/>
        </p:nvSpPr>
        <p:spPr>
          <a:xfrm>
            <a:off x="7315200" y="2011680"/>
            <a:ext cx="4297680" cy="4297680"/>
          </a:xfrm>
          <a:prstGeom prst="blockArc">
            <a:avLst>
              <a:gd name="adj1" fmla="val 20436000"/>
              <a:gd name="adj2" fmla="val 20964000"/>
              <a:gd name="adj3" fmla="val 12000"/>
            </a:avLst>
          </a:prstGeom>
          <a:solidFill>
            <a:srgbClr val="FF5233"/>
          </a:solidFill>
          <a:ln/>
        </p:spPr>
        <p:txBody>
          <a:bodyPr/>
          <a:lstStyle/>
          <a:p>
            <a:endParaRPr lang="en-US"/>
          </a:p>
        </p:txBody>
      </p:sp>
      <p:sp>
        <p:nvSpPr>
          <p:cNvPr id="27" name="Gauge segment"/>
          <p:cNvSpPr/>
          <p:nvPr/>
        </p:nvSpPr>
        <p:spPr>
          <a:xfrm>
            <a:off x="7315200" y="2011680"/>
            <a:ext cx="4297680" cy="4297680"/>
          </a:xfrm>
          <a:prstGeom prst="blockArc">
            <a:avLst>
              <a:gd name="adj1" fmla="val 21036000"/>
              <a:gd name="adj2" fmla="val 21564000"/>
              <a:gd name="adj3" fmla="val 12000"/>
            </a:avLst>
          </a:prstGeom>
          <a:solidFill>
            <a:srgbClr val="FF453A"/>
          </a:solidFill>
          <a:ln/>
        </p:spPr>
        <p:txBody>
          <a:bodyPr/>
          <a:lstStyle/>
          <a:p>
            <a:endParaRPr lang="en-US"/>
          </a:p>
        </p:txBody>
      </p:sp>
      <p:sp>
        <p:nvSpPr>
          <p:cNvPr id="28" name="Gauge needle"/>
          <p:cNvSpPr/>
          <p:nvPr/>
        </p:nvSpPr>
        <p:spPr>
          <a:xfrm flipV="1">
            <a:off x="9464040" y="3373679"/>
            <a:ext cx="1672123" cy="786841"/>
          </a:xfrm>
          <a:prstGeom prst="line">
            <a:avLst/>
          </a:prstGeom>
          <a:noFill/>
          <a:ln w="50800">
            <a:solidFill>
              <a:srgbClr val="E6EDF3"/>
            </a:solidFill>
            <a:prstDash val="solid"/>
          </a:ln>
        </p:spPr>
        <p:txBody>
          <a:bodyPr/>
          <a:lstStyle/>
          <a:p>
            <a:endParaRPr lang="en-US"/>
          </a:p>
        </p:txBody>
      </p:sp>
      <p:sp>
        <p:nvSpPr>
          <p:cNvPr id="29" name="Gauge hub"/>
          <p:cNvSpPr/>
          <p:nvPr/>
        </p:nvSpPr>
        <p:spPr>
          <a:xfrm>
            <a:off x="9270644" y="3967124"/>
            <a:ext cx="386791" cy="386791"/>
          </a:xfrm>
          <a:prstGeom prst="ellipse">
            <a:avLst/>
          </a:prstGeom>
          <a:solidFill>
            <a:srgbClr val="E6EDF3"/>
          </a:solidFill>
          <a:ln/>
        </p:spPr>
        <p:txBody>
          <a:bodyPr/>
          <a:lstStyle/>
          <a:p>
            <a:endParaRPr lang="en-US"/>
          </a:p>
        </p:txBody>
      </p:sp>
      <p:sp>
        <p:nvSpPr>
          <p:cNvPr id="30" name="Text 28"/>
          <p:cNvSpPr txBox="1"/>
          <p:nvPr/>
        </p:nvSpPr>
        <p:spPr>
          <a:xfrm>
            <a:off x="7315200" y="4434840"/>
            <a:ext cx="4297680" cy="320040"/>
          </a:xfrm>
          <a:prstGeom prst="rect">
            <a:avLst/>
          </a:prstGeom>
          <a:noFill/>
          <a:ln/>
        </p:spPr>
        <p:txBody>
          <a:bodyPr wrap="square" lIns="0" tIns="0" rIns="0" bIns="0" rtlCol="0" anchor="t"/>
          <a:lstStyle/>
          <a:p>
            <a:pPr marL="0" indent="0" algn="ctr">
              <a:buNone/>
            </a:pPr>
            <a:r>
              <a:rPr lang="en-US" sz="1300" b="1" kern="0" spc="400" dirty="0">
                <a:solidFill>
                  <a:srgbClr val="93A1B3"/>
                </a:solidFill>
                <a:latin typeface="Consolas" pitchFamily="34" charset="0"/>
                <a:ea typeface="Consolas" pitchFamily="34" charset="-122"/>
                <a:cs typeface="Consolas" pitchFamily="34" charset="-120"/>
              </a:rPr>
              <a:t>ALARM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1 · PROBLEM DEFINITION</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The official score comes late, attackers come early</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Gamblin (2026) · AppSec Santa (2026) · VulnCheck (2026) · Infosecurity Magazine (2025) · Binnenlands Bestuur (2020) · Dutch IT Channel (2026) · our stream, day 1</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02</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9" name="Panel"/>
          <p:cNvSpPr/>
          <p:nvPr/>
        </p:nvSpPr>
        <p:spPr>
          <a:xfrm>
            <a:off x="457200" y="1645920"/>
            <a:ext cx="5468112" cy="1828800"/>
          </a:xfrm>
          <a:prstGeom prst="roundRect">
            <a:avLst>
              <a:gd name="adj" fmla="val 5634"/>
            </a:avLst>
          </a:prstGeom>
          <a:solidFill>
            <a:srgbClr val="121922"/>
          </a:solidFill>
          <a:ln w="9525">
            <a:solidFill>
              <a:srgbClr val="2A3646"/>
            </a:solidFill>
            <a:prstDash val="solid"/>
          </a:ln>
        </p:spPr>
        <p:txBody>
          <a:bodyPr/>
          <a:lstStyle/>
          <a:p>
            <a:endParaRPr lang="en-US"/>
          </a:p>
        </p:txBody>
      </p:sp>
      <p:sp>
        <p:nvSpPr>
          <p:cNvPr id="10" name="Text 8"/>
          <p:cNvSpPr txBox="1"/>
          <p:nvPr/>
        </p:nvSpPr>
        <p:spPr>
          <a:xfrm>
            <a:off x="731520" y="1810512"/>
            <a:ext cx="1554480" cy="640080"/>
          </a:xfrm>
          <a:prstGeom prst="rect">
            <a:avLst/>
          </a:prstGeom>
          <a:noFill/>
          <a:ln/>
        </p:spPr>
        <p:txBody>
          <a:bodyPr wrap="square" lIns="0" tIns="0" rIns="0" bIns="0" rtlCol="0" anchor="ctr"/>
          <a:lstStyle/>
          <a:p>
            <a:pPr marL="0" indent="0">
              <a:buNone/>
            </a:pPr>
            <a:r>
              <a:rPr lang="en-US" sz="4000" b="1" dirty="0">
                <a:solidFill>
                  <a:srgbClr val="7AA2C8"/>
                </a:solidFill>
                <a:latin typeface="Consolas" pitchFamily="34" charset="0"/>
                <a:ea typeface="Consolas" pitchFamily="34" charset="-122"/>
                <a:cs typeface="Consolas" pitchFamily="34" charset="-120"/>
              </a:rPr>
              <a:t>28%</a:t>
            </a:r>
            <a:endParaRPr lang="en-US" sz="4000" dirty="0"/>
          </a:p>
        </p:txBody>
      </p:sp>
      <p:sp>
        <p:nvSpPr>
          <p:cNvPr id="11" name="Text 9"/>
          <p:cNvSpPr txBox="1"/>
          <p:nvPr/>
        </p:nvSpPr>
        <p:spPr>
          <a:xfrm>
            <a:off x="2331720" y="1856232"/>
            <a:ext cx="3383280" cy="548640"/>
          </a:xfrm>
          <a:prstGeom prst="rect">
            <a:avLst/>
          </a:prstGeom>
          <a:noFill/>
          <a:ln/>
        </p:spPr>
        <p:txBody>
          <a:bodyPr wrap="square" lIns="0" tIns="0" rIns="0" bIns="0" rtlCol="0" anchor="ctr"/>
          <a:lstStyle/>
          <a:p>
            <a:pPr marL="0" indent="0">
              <a:buNone/>
            </a:pPr>
            <a:r>
              <a:rPr lang="en-US" sz="1400" dirty="0">
                <a:solidFill>
                  <a:srgbClr val="E6EDF3"/>
                </a:solidFill>
                <a:latin typeface="Segoe UI" pitchFamily="34" charset="0"/>
                <a:ea typeface="Segoe UI" pitchFamily="34" charset="-122"/>
                <a:cs typeface="Segoe UI" pitchFamily="34" charset="-120"/>
              </a:rPr>
              <a:t>of 2025 CVEs got a full NVD analysis</a:t>
            </a:r>
            <a:endParaRPr lang="en-US" sz="1400" dirty="0"/>
          </a:p>
        </p:txBody>
      </p:sp>
      <p:sp>
        <p:nvSpPr>
          <p:cNvPr id="12" name="Text 10"/>
          <p:cNvSpPr txBox="1"/>
          <p:nvPr/>
        </p:nvSpPr>
        <p:spPr>
          <a:xfrm>
            <a:off x="731520" y="2761488"/>
            <a:ext cx="4937760" cy="640080"/>
          </a:xfrm>
          <a:prstGeom prst="rect">
            <a:avLst/>
          </a:prstGeom>
          <a:noFill/>
          <a:ln/>
        </p:spPr>
        <p:txBody>
          <a:bodyPr wrap="square" lIns="0" tIns="0" rIns="0" bIns="0" rtlCol="0" anchor="t"/>
          <a:lstStyle/>
          <a:p>
            <a:pPr marL="0" indent="0">
              <a:buNone/>
            </a:pPr>
            <a:r>
              <a:rPr lang="en-US" sz="1400" dirty="0">
                <a:solidFill>
                  <a:srgbClr val="93A1B3"/>
                </a:solidFill>
                <a:latin typeface="Segoe UI" pitchFamily="34" charset="0"/>
                <a:ea typeface="Segoe UI" pitchFamily="34" charset="-122"/>
                <a:cs typeface="Segoe UI" pitchFamily="34" charset="-120"/>
              </a:rPr>
              <a:t>Our stream, day 1: </a:t>
            </a:r>
            <a:r>
              <a:rPr lang="en-US" sz="1400" b="1" dirty="0">
                <a:solidFill>
                  <a:srgbClr val="FFB000"/>
                </a:solidFill>
                <a:latin typeface="Consolas" pitchFamily="34" charset="0"/>
                <a:ea typeface="Consolas" pitchFamily="34" charset="-122"/>
                <a:cs typeface="Consolas" pitchFamily="34" charset="-120"/>
              </a:rPr>
              <a:t>87 of 89</a:t>
            </a:r>
            <a:r>
              <a:rPr lang="en-US" sz="1400" dirty="0">
                <a:solidFill>
                  <a:srgbClr val="E6EDF3"/>
                </a:solidFill>
                <a:latin typeface="Segoe UI" pitchFamily="34" charset="0"/>
                <a:ea typeface="Segoe UI" pitchFamily="34" charset="-122"/>
                <a:cs typeface="Segoe UI" pitchFamily="34" charset="-120"/>
              </a:rPr>
              <a:t> CVEs had no NVD score yet</a:t>
            </a:r>
            <a:endParaRPr lang="en-US" sz="1400" dirty="0"/>
          </a:p>
        </p:txBody>
      </p:sp>
      <p:sp>
        <p:nvSpPr>
          <p:cNvPr id="13" name="Panel"/>
          <p:cNvSpPr/>
          <p:nvPr/>
        </p:nvSpPr>
        <p:spPr>
          <a:xfrm>
            <a:off x="6263640" y="1645920"/>
            <a:ext cx="5468112" cy="1828800"/>
          </a:xfrm>
          <a:prstGeom prst="roundRect">
            <a:avLst>
              <a:gd name="adj" fmla="val 4324"/>
            </a:avLst>
          </a:prstGeom>
          <a:solidFill>
            <a:srgbClr val="121922"/>
          </a:solidFill>
          <a:ln w="9525">
            <a:solidFill>
              <a:srgbClr val="2A3646"/>
            </a:solidFill>
            <a:prstDash val="solid"/>
          </a:ln>
        </p:spPr>
        <p:txBody>
          <a:bodyPr/>
          <a:lstStyle/>
          <a:p>
            <a:endParaRPr lang="en-US"/>
          </a:p>
        </p:txBody>
      </p:sp>
      <p:sp>
        <p:nvSpPr>
          <p:cNvPr id="14" name="Text 12"/>
          <p:cNvSpPr txBox="1"/>
          <p:nvPr/>
        </p:nvSpPr>
        <p:spPr>
          <a:xfrm>
            <a:off x="6537960" y="1810512"/>
            <a:ext cx="2377440" cy="640080"/>
          </a:xfrm>
          <a:prstGeom prst="rect">
            <a:avLst/>
          </a:prstGeom>
          <a:noFill/>
          <a:ln/>
        </p:spPr>
        <p:txBody>
          <a:bodyPr wrap="square" lIns="0" tIns="0" rIns="0" bIns="0" rtlCol="0" anchor="ctr"/>
          <a:lstStyle/>
          <a:p>
            <a:pPr marL="0" indent="0">
              <a:buNone/>
            </a:pPr>
            <a:r>
              <a:rPr lang="en-US" sz="4000" b="1" dirty="0">
                <a:solidFill>
                  <a:srgbClr val="FF453A"/>
                </a:solidFill>
                <a:latin typeface="Consolas" pitchFamily="34" charset="0"/>
                <a:ea typeface="Consolas" pitchFamily="34" charset="-122"/>
                <a:cs typeface="Consolas" pitchFamily="34" charset="-120"/>
              </a:rPr>
              <a:t>28.96%</a:t>
            </a:r>
            <a:endParaRPr lang="en-US" sz="4000" dirty="0"/>
          </a:p>
        </p:txBody>
      </p:sp>
      <p:sp>
        <p:nvSpPr>
          <p:cNvPr id="15" name="Text 13"/>
          <p:cNvSpPr txBox="1"/>
          <p:nvPr/>
        </p:nvSpPr>
        <p:spPr>
          <a:xfrm>
            <a:off x="6537960" y="2487168"/>
            <a:ext cx="4937760" cy="566928"/>
          </a:xfrm>
          <a:prstGeom prst="rect">
            <a:avLst/>
          </a:prstGeom>
          <a:noFill/>
          <a:ln/>
        </p:spPr>
        <p:txBody>
          <a:bodyPr wrap="square" lIns="0" tIns="0" rIns="0" bIns="0" rtlCol="0" anchor="t"/>
          <a:lstStyle/>
          <a:p>
            <a:pPr marL="0" indent="0">
              <a:buNone/>
            </a:pPr>
            <a:r>
              <a:rPr lang="en-US" sz="1400" dirty="0">
                <a:solidFill>
                  <a:srgbClr val="E6EDF3"/>
                </a:solidFill>
                <a:latin typeface="Segoe UI" pitchFamily="34" charset="0"/>
                <a:ea typeface="Segoe UI" pitchFamily="34" charset="-122"/>
                <a:cs typeface="Segoe UI" pitchFamily="34" charset="-120"/>
              </a:rPr>
              <a:t>of first-time exploited flaws (2025) were exploited on or before the day the CVE was published</a:t>
            </a:r>
            <a:endParaRPr lang="en-US" sz="1400" dirty="0"/>
          </a:p>
        </p:txBody>
      </p:sp>
      <p:sp>
        <p:nvSpPr>
          <p:cNvPr id="16" name="Text 14"/>
          <p:cNvSpPr txBox="1"/>
          <p:nvPr/>
        </p:nvSpPr>
        <p:spPr>
          <a:xfrm>
            <a:off x="6537960" y="3127248"/>
            <a:ext cx="4937760" cy="320040"/>
          </a:xfrm>
          <a:prstGeom prst="rect">
            <a:avLst/>
          </a:prstGeom>
          <a:noFill/>
          <a:ln/>
        </p:spPr>
        <p:txBody>
          <a:bodyPr wrap="square" lIns="0" tIns="0" rIns="0" bIns="0" rtlCol="0" anchor="t"/>
          <a:lstStyle/>
          <a:p>
            <a:pPr marL="0" indent="0">
              <a:buNone/>
            </a:pPr>
            <a:r>
              <a:rPr lang="en-US" sz="1400" dirty="0">
                <a:solidFill>
                  <a:srgbClr val="93A1B3"/>
                </a:solidFill>
                <a:latin typeface="Segoe UI" pitchFamily="34" charset="0"/>
                <a:ea typeface="Segoe UI" pitchFamily="34" charset="-122"/>
                <a:cs typeface="Segoe UI" pitchFamily="34" charset="-120"/>
              </a:rPr>
              <a:t>Median time to fix: </a:t>
            </a:r>
            <a:r>
              <a:rPr lang="en-US" sz="1400" b="1" dirty="0">
                <a:solidFill>
                  <a:srgbClr val="E6EDF3"/>
                </a:solidFill>
                <a:latin typeface="Consolas" pitchFamily="34" charset="0"/>
                <a:ea typeface="Consolas" pitchFamily="34" charset="-122"/>
                <a:cs typeface="Consolas" pitchFamily="34" charset="-120"/>
              </a:rPr>
              <a:t>32 days</a:t>
            </a:r>
            <a:endParaRPr lang="en-US" sz="1400" dirty="0"/>
          </a:p>
        </p:txBody>
      </p:sp>
      <p:sp>
        <p:nvSpPr>
          <p:cNvPr id="17" name="Text 15"/>
          <p:cNvSpPr txBox="1"/>
          <p:nvPr/>
        </p:nvSpPr>
        <p:spPr>
          <a:xfrm>
            <a:off x="457200" y="3749040"/>
            <a:ext cx="11274552" cy="256032"/>
          </a:xfrm>
          <a:prstGeom prst="rect">
            <a:avLst/>
          </a:prstGeom>
          <a:noFill/>
          <a:ln/>
        </p:spPr>
        <p:txBody>
          <a:bodyPr wrap="square" lIns="0" tIns="0" rIns="0" bIns="0" rtlCol="0" anchor="ctr"/>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IT ALREADY HAPPENED TO DUTCH MUNICIPALITIES</a:t>
            </a:r>
            <a:endParaRPr lang="en-US" sz="1100" dirty="0"/>
          </a:p>
        </p:txBody>
      </p:sp>
      <p:sp>
        <p:nvSpPr>
          <p:cNvPr id="18" name="Panel"/>
          <p:cNvSpPr/>
          <p:nvPr/>
        </p:nvSpPr>
        <p:spPr>
          <a:xfrm>
            <a:off x="457200" y="4069080"/>
            <a:ext cx="11274552" cy="914400"/>
          </a:xfrm>
          <a:prstGeom prst="roundRect">
            <a:avLst>
              <a:gd name="adj" fmla="val 6957"/>
            </a:avLst>
          </a:prstGeom>
          <a:solidFill>
            <a:srgbClr val="121922"/>
          </a:solidFill>
          <a:ln w="9525">
            <a:solidFill>
              <a:srgbClr val="2A3646"/>
            </a:solidFill>
            <a:prstDash val="solid"/>
          </a:ln>
        </p:spPr>
        <p:txBody>
          <a:bodyPr/>
          <a:lstStyle/>
          <a:p>
            <a:endParaRPr lang="en-US"/>
          </a:p>
        </p:txBody>
      </p:sp>
      <p:sp>
        <p:nvSpPr>
          <p:cNvPr id="19" name="Text 17"/>
          <p:cNvSpPr txBox="1"/>
          <p:nvPr/>
        </p:nvSpPr>
        <p:spPr>
          <a:xfrm>
            <a:off x="731520" y="4315968"/>
            <a:ext cx="1371600" cy="274320"/>
          </a:xfrm>
          <a:prstGeom prst="rect">
            <a:avLst/>
          </a:prstGeom>
          <a:noFill/>
          <a:ln/>
        </p:spPr>
        <p:txBody>
          <a:bodyPr wrap="square" lIns="0" tIns="0" rIns="0" bIns="0" rtlCol="0" anchor="t"/>
          <a:lstStyle/>
          <a:p>
            <a:pPr marL="0" indent="0">
              <a:buNone/>
            </a:pPr>
            <a:r>
              <a:rPr lang="en-US" sz="1300" b="1" dirty="0">
                <a:solidFill>
                  <a:srgbClr val="FFB000"/>
                </a:solidFill>
                <a:latin typeface="Consolas" pitchFamily="34" charset="0"/>
                <a:ea typeface="Consolas" pitchFamily="34" charset="-122"/>
                <a:cs typeface="Consolas" pitchFamily="34" charset="-120"/>
              </a:rPr>
              <a:t>JAN 2020</a:t>
            </a:r>
            <a:endParaRPr lang="en-US" sz="1300" dirty="0"/>
          </a:p>
        </p:txBody>
      </p:sp>
      <p:sp>
        <p:nvSpPr>
          <p:cNvPr id="20" name="Text 18"/>
          <p:cNvSpPr txBox="1"/>
          <p:nvPr/>
        </p:nvSpPr>
        <p:spPr>
          <a:xfrm>
            <a:off x="2240280" y="4261104"/>
            <a:ext cx="9281160" cy="548640"/>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Citrix flaw exploited: </a:t>
            </a:r>
            <a:r>
              <a:rPr lang="en-US" sz="1400" dirty="0">
                <a:solidFill>
                  <a:srgbClr val="E6EDF3"/>
                </a:solidFill>
                <a:latin typeface="Segoe UI" pitchFamily="34" charset="0"/>
                <a:ea typeface="Segoe UI" pitchFamily="34" charset="-122"/>
                <a:cs typeface="Segoe UI" pitchFamily="34" charset="-120"/>
              </a:rPr>
              <a:t>150 to 200 municipalities switched off their Citrix systems. No working from home; in some, email, the website or the whole Burgerzaken desk stopped.</a:t>
            </a:r>
            <a:endParaRPr lang="en-US" sz="1400" dirty="0"/>
          </a:p>
        </p:txBody>
      </p:sp>
      <p:sp>
        <p:nvSpPr>
          <p:cNvPr id="36" name="Panel"/>
          <p:cNvSpPr/>
          <p:nvPr/>
        </p:nvSpPr>
        <p:spPr>
          <a:xfrm>
            <a:off x="457200" y="5257800"/>
            <a:ext cx="11274552" cy="914400"/>
          </a:xfrm>
          <a:prstGeom prst="roundRect">
            <a:avLst>
              <a:gd name="adj" fmla="val 6957"/>
            </a:avLst>
          </a:prstGeom>
          <a:solidFill>
            <a:srgbClr val="1F1A10"/>
          </a:solidFill>
          <a:ln w="9525">
            <a:solidFill>
              <a:srgbClr val="5C4510"/>
            </a:solidFill>
            <a:prstDash val="solid"/>
          </a:ln>
        </p:spPr>
        <p:txBody>
          <a:bodyPr/>
          <a:lstStyle/>
          <a:p>
            <a:endParaRPr lang="en-US"/>
          </a:p>
        </p:txBody>
      </p:sp>
      <p:sp>
        <p:nvSpPr>
          <p:cNvPr id="37" name="Text 35"/>
          <p:cNvSpPr txBox="1"/>
          <p:nvPr/>
        </p:nvSpPr>
        <p:spPr>
          <a:xfrm>
            <a:off x="731520" y="5577840"/>
            <a:ext cx="1371600" cy="274320"/>
          </a:xfrm>
          <a:prstGeom prst="rect">
            <a:avLst/>
          </a:prstGeom>
          <a:noFill/>
          <a:ln/>
        </p:spPr>
        <p:txBody>
          <a:bodyPr wrap="square" lIns="0" tIns="0" rIns="0" bIns="0" rtlCol="0" anchor="t"/>
          <a:lstStyle/>
          <a:p>
            <a:pPr marL="0" indent="0">
              <a:buNone/>
            </a:pPr>
            <a:r>
              <a:rPr lang="en-US" sz="1300" b="1" dirty="0">
                <a:solidFill>
                  <a:srgbClr val="FFB000"/>
                </a:solidFill>
                <a:latin typeface="Consolas" pitchFamily="34" charset="0"/>
                <a:ea typeface="Consolas" pitchFamily="34" charset="-122"/>
                <a:cs typeface="Consolas" pitchFamily="34" charset="-120"/>
              </a:rPr>
              <a:t>WHY NOW</a:t>
            </a:r>
            <a:endParaRPr lang="en-US" sz="1300" dirty="0"/>
          </a:p>
        </p:txBody>
      </p:sp>
      <p:sp>
        <p:nvSpPr>
          <p:cNvPr id="38" name="Text 36"/>
          <p:cNvSpPr txBox="1"/>
          <p:nvPr/>
        </p:nvSpPr>
        <p:spPr>
          <a:xfrm>
            <a:off x="2240280" y="5449824"/>
            <a:ext cx="9281160" cy="548640"/>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Cyberbeveiligingswet since 15 August 2026: </a:t>
            </a:r>
            <a:r>
              <a:rPr lang="en-US" sz="1400" dirty="0">
                <a:solidFill>
                  <a:srgbClr val="E6EDF3"/>
                </a:solidFill>
                <a:latin typeface="Segoe UI" pitchFamily="34" charset="0"/>
                <a:ea typeface="Segoe UI" pitchFamily="34" charset="-122"/>
                <a:cs typeface="Segoe UI" pitchFamily="34" charset="-120"/>
              </a:rPr>
              <a:t>serious incidents reported within 24 hours; the mayor and aldermen are personally responsible.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K2 · SDG RELEVANCE</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Municipal IT is infrastructure, and small municipalities count too</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United Nations (n.d.), Goal 9, target 9.1 · Dutch IT Channel (2026) · Binnenlands Bestuur (2020)</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03</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45920"/>
            <a:ext cx="3291840" cy="4526280"/>
          </a:xfrm>
          <a:prstGeom prst="roundRect">
            <a:avLst>
              <a:gd name="adj" fmla="val 2222"/>
            </a:avLst>
          </a:prstGeom>
          <a:solidFill>
            <a:srgbClr val="1F1A10"/>
          </a:solidFill>
          <a:ln w="9525">
            <a:solidFill>
              <a:srgbClr val="5C4510"/>
            </a:solidFill>
            <a:prstDash val="solid"/>
          </a:ln>
        </p:spPr>
        <p:txBody>
          <a:bodyPr/>
          <a:lstStyle/>
          <a:p>
            <a:endParaRPr lang="en-US"/>
          </a:p>
        </p:txBody>
      </p:sp>
      <p:sp>
        <p:nvSpPr>
          <p:cNvPr id="7" name="Text 5"/>
          <p:cNvSpPr txBox="1"/>
          <p:nvPr/>
        </p:nvSpPr>
        <p:spPr>
          <a:xfrm>
            <a:off x="731520" y="1783080"/>
            <a:ext cx="1280160" cy="1188720"/>
          </a:xfrm>
          <a:prstGeom prst="rect">
            <a:avLst/>
          </a:prstGeom>
          <a:noFill/>
          <a:ln/>
        </p:spPr>
        <p:txBody>
          <a:bodyPr wrap="square" lIns="0" tIns="0" rIns="0" bIns="0" rtlCol="0" anchor="ctr"/>
          <a:lstStyle/>
          <a:p>
            <a:pPr marL="0" indent="0">
              <a:buNone/>
            </a:pPr>
            <a:r>
              <a:rPr lang="en-US" sz="8000" b="1" dirty="0">
                <a:solidFill>
                  <a:srgbClr val="FFB000"/>
                </a:solidFill>
                <a:latin typeface="Consolas" pitchFamily="34" charset="0"/>
                <a:ea typeface="Consolas" pitchFamily="34" charset="-122"/>
                <a:cs typeface="Consolas" pitchFamily="34" charset="-120"/>
              </a:rPr>
              <a:t>9</a:t>
            </a:r>
            <a:endParaRPr lang="en-US" sz="8000" dirty="0"/>
          </a:p>
        </p:txBody>
      </p:sp>
      <p:sp>
        <p:nvSpPr>
          <p:cNvPr id="8" name="Text 6"/>
          <p:cNvSpPr txBox="1"/>
          <p:nvPr/>
        </p:nvSpPr>
        <p:spPr>
          <a:xfrm>
            <a:off x="731520" y="3017520"/>
            <a:ext cx="2743200" cy="640080"/>
          </a:xfrm>
          <a:prstGeom prst="rect">
            <a:avLst/>
          </a:prstGeom>
          <a:noFill/>
          <a:ln/>
        </p:spPr>
        <p:txBody>
          <a:bodyPr wrap="square" lIns="0" tIns="0" rIns="0" bIns="0" rtlCol="0" anchor="t"/>
          <a:lstStyle/>
          <a:p>
            <a:pPr marL="0" indent="0">
              <a:buNone/>
            </a:pPr>
            <a:r>
              <a:rPr lang="en-US" sz="1200" b="1" kern="0" spc="100" dirty="0">
                <a:solidFill>
                  <a:srgbClr val="FFB000"/>
                </a:solidFill>
                <a:latin typeface="Consolas" pitchFamily="34" charset="0"/>
                <a:ea typeface="Consolas" pitchFamily="34" charset="-122"/>
                <a:cs typeface="Consolas" pitchFamily="34" charset="-120"/>
              </a:rPr>
              <a:t>INDUSTRY, INNOVATION AND INFRASTRUCTURE</a:t>
            </a:r>
            <a:endParaRPr lang="en-US" sz="1200" dirty="0"/>
          </a:p>
        </p:txBody>
      </p:sp>
      <p:sp>
        <p:nvSpPr>
          <p:cNvPr id="9" name="Text 7"/>
          <p:cNvSpPr txBox="1"/>
          <p:nvPr/>
        </p:nvSpPr>
        <p:spPr>
          <a:xfrm>
            <a:off x="731520" y="3840480"/>
            <a:ext cx="2743200" cy="274320"/>
          </a:xfrm>
          <a:prstGeom prst="rect">
            <a:avLst/>
          </a:prstGeom>
          <a:noFill/>
          <a:ln/>
        </p:spPr>
        <p:txBody>
          <a:bodyPr wrap="square" lIns="0" tIns="0" rIns="0" bIns="0" rtlCol="0" anchor="t"/>
          <a:lstStyle/>
          <a:p>
            <a:pPr marL="0" indent="0">
              <a:buNone/>
            </a:pPr>
            <a:r>
              <a:rPr lang="en-US" sz="1200" b="1" dirty="0">
                <a:solidFill>
                  <a:srgbClr val="93A1B3"/>
                </a:solidFill>
                <a:latin typeface="Consolas" pitchFamily="34" charset="0"/>
                <a:ea typeface="Consolas" pitchFamily="34" charset="-122"/>
                <a:cs typeface="Consolas" pitchFamily="34" charset="-120"/>
              </a:rPr>
              <a:t>TARGET 9.1</a:t>
            </a:r>
            <a:endParaRPr lang="en-US" sz="1200" dirty="0"/>
          </a:p>
        </p:txBody>
      </p:sp>
      <p:sp>
        <p:nvSpPr>
          <p:cNvPr id="10" name="Text 8"/>
          <p:cNvSpPr txBox="1"/>
          <p:nvPr/>
        </p:nvSpPr>
        <p:spPr>
          <a:xfrm>
            <a:off x="731520" y="4160520"/>
            <a:ext cx="2743200" cy="1463040"/>
          </a:xfrm>
          <a:prstGeom prst="rect">
            <a:avLst/>
          </a:prstGeom>
          <a:noFill/>
          <a:ln/>
        </p:spPr>
        <p:txBody>
          <a:bodyPr wrap="square" lIns="0" tIns="0" rIns="0" bIns="0" rtlCol="0" anchor="t"/>
          <a:lstStyle/>
          <a:p>
            <a:pPr marL="0" indent="0">
              <a:buNone/>
            </a:pPr>
            <a:r>
              <a:rPr lang="en-US" sz="1500" i="1" dirty="0">
                <a:solidFill>
                  <a:srgbClr val="E6EDF3"/>
                </a:solidFill>
                <a:latin typeface="Segoe UI" pitchFamily="34" charset="0"/>
                <a:ea typeface="Segoe UI" pitchFamily="34" charset="-122"/>
                <a:cs typeface="Segoe UI" pitchFamily="34" charset="-120"/>
              </a:rPr>
              <a:t>Quality, reliable, sustainable and resilient infrastructure, with affordable and equal access for all.</a:t>
            </a:r>
            <a:endParaRPr lang="en-US" sz="1500" dirty="0"/>
          </a:p>
        </p:txBody>
      </p:sp>
      <p:sp>
        <p:nvSpPr>
          <p:cNvPr id="11" name="Text 9"/>
          <p:cNvSpPr txBox="1"/>
          <p:nvPr/>
        </p:nvSpPr>
        <p:spPr>
          <a:xfrm>
            <a:off x="4023360" y="1645920"/>
            <a:ext cx="3749040" cy="256032"/>
          </a:xfrm>
          <a:prstGeom prst="rect">
            <a:avLst/>
          </a:prstGeom>
          <a:noFill/>
          <a:ln/>
        </p:spPr>
        <p:txBody>
          <a:bodyPr wrap="square" lIns="0" tIns="0" rIns="0" bIns="0" rtlCol="0" anchor="ctr"/>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WHAT RUNS ON MUNICIPAL IT</a:t>
            </a:r>
            <a:endParaRPr lang="en-US" sz="1100" dirty="0"/>
          </a:p>
        </p:txBody>
      </p:sp>
      <p:sp>
        <p:nvSpPr>
          <p:cNvPr id="12" name="Panel"/>
          <p:cNvSpPr/>
          <p:nvPr/>
        </p:nvSpPr>
        <p:spPr>
          <a:xfrm>
            <a:off x="4023360" y="1993392"/>
            <a:ext cx="3749040" cy="2331720"/>
          </a:xfrm>
          <a:prstGeom prst="roundRect">
            <a:avLst>
              <a:gd name="adj" fmla="val 10811"/>
            </a:avLst>
          </a:prstGeom>
          <a:solidFill>
            <a:srgbClr val="121922"/>
          </a:solidFill>
          <a:ln w="9525">
            <a:solidFill>
              <a:srgbClr val="2A3646"/>
            </a:solidFill>
            <a:prstDash val="solid"/>
          </a:ln>
        </p:spPr>
        <p:txBody>
          <a:bodyPr/>
          <a:lstStyle/>
          <a:p>
            <a:endParaRPr lang="en-US"/>
          </a:p>
        </p:txBody>
      </p:sp>
      <p:sp>
        <p:nvSpPr>
          <p:cNvPr id="13" name="Bullet dot"/>
          <p:cNvSpPr/>
          <p:nvPr/>
        </p:nvSpPr>
        <p:spPr>
          <a:xfrm>
            <a:off x="4224528" y="2286000"/>
            <a:ext cx="146304" cy="146304"/>
          </a:xfrm>
          <a:prstGeom prst="ellipse">
            <a:avLst/>
          </a:prstGeom>
          <a:solidFill>
            <a:srgbClr val="7AA2C8"/>
          </a:solidFill>
          <a:ln/>
        </p:spPr>
        <p:txBody>
          <a:bodyPr/>
          <a:lstStyle/>
          <a:p>
            <a:endParaRPr lang="en-US"/>
          </a:p>
        </p:txBody>
      </p:sp>
      <p:sp>
        <p:nvSpPr>
          <p:cNvPr id="14" name="Text 12"/>
          <p:cNvSpPr txBox="1"/>
          <p:nvPr/>
        </p:nvSpPr>
        <p:spPr>
          <a:xfrm>
            <a:off x="4526280" y="2212848"/>
            <a:ext cx="3108960" cy="292608"/>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Civil registry (Burgerzaken)</a:t>
            </a:r>
            <a:endParaRPr lang="en-US" sz="1400" dirty="0"/>
          </a:p>
        </p:txBody>
      </p:sp>
      <p:sp>
        <p:nvSpPr>
          <p:cNvPr id="17" name="Bullet dot"/>
          <p:cNvSpPr/>
          <p:nvPr/>
        </p:nvSpPr>
        <p:spPr>
          <a:xfrm>
            <a:off x="4224528" y="2788920"/>
            <a:ext cx="146304" cy="146304"/>
          </a:xfrm>
          <a:prstGeom prst="ellipse">
            <a:avLst/>
          </a:prstGeom>
          <a:solidFill>
            <a:srgbClr val="7AA2C8"/>
          </a:solidFill>
          <a:ln/>
        </p:spPr>
        <p:txBody>
          <a:bodyPr/>
          <a:lstStyle/>
          <a:p>
            <a:endParaRPr lang="en-US"/>
          </a:p>
        </p:txBody>
      </p:sp>
      <p:sp>
        <p:nvSpPr>
          <p:cNvPr id="18" name="Text 16"/>
          <p:cNvSpPr txBox="1"/>
          <p:nvPr/>
        </p:nvSpPr>
        <p:spPr>
          <a:xfrm>
            <a:off x="4526280" y="2715768"/>
            <a:ext cx="3108960" cy="292608"/>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Social benefits and permits</a:t>
            </a:r>
            <a:endParaRPr lang="en-US" sz="1400" dirty="0"/>
          </a:p>
        </p:txBody>
      </p:sp>
      <p:sp>
        <p:nvSpPr>
          <p:cNvPr id="21" name="Bullet dot"/>
          <p:cNvSpPr/>
          <p:nvPr/>
        </p:nvSpPr>
        <p:spPr>
          <a:xfrm>
            <a:off x="4224528" y="3291840"/>
            <a:ext cx="146304" cy="146304"/>
          </a:xfrm>
          <a:prstGeom prst="ellipse">
            <a:avLst/>
          </a:prstGeom>
          <a:solidFill>
            <a:srgbClr val="7AA2C8"/>
          </a:solidFill>
          <a:ln/>
        </p:spPr>
        <p:txBody>
          <a:bodyPr/>
          <a:lstStyle/>
          <a:p>
            <a:endParaRPr lang="en-US"/>
          </a:p>
        </p:txBody>
      </p:sp>
      <p:sp>
        <p:nvSpPr>
          <p:cNvPr id="22" name="Text 20"/>
          <p:cNvSpPr txBox="1"/>
          <p:nvPr/>
        </p:nvSpPr>
        <p:spPr>
          <a:xfrm>
            <a:off x="4526280" y="3218688"/>
            <a:ext cx="3108960" cy="292608"/>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Waste collection</a:t>
            </a:r>
            <a:endParaRPr lang="en-US" sz="1400" dirty="0"/>
          </a:p>
        </p:txBody>
      </p:sp>
      <p:sp>
        <p:nvSpPr>
          <p:cNvPr id="25" name="Bullet dot"/>
          <p:cNvSpPr/>
          <p:nvPr/>
        </p:nvSpPr>
        <p:spPr>
          <a:xfrm>
            <a:off x="4224528" y="3794760"/>
            <a:ext cx="146304" cy="146304"/>
          </a:xfrm>
          <a:prstGeom prst="ellipse">
            <a:avLst/>
          </a:prstGeom>
          <a:solidFill>
            <a:srgbClr val="7AA2C8"/>
          </a:solidFill>
          <a:ln/>
        </p:spPr>
        <p:txBody>
          <a:bodyPr/>
          <a:lstStyle/>
          <a:p>
            <a:endParaRPr lang="en-US"/>
          </a:p>
        </p:txBody>
      </p:sp>
      <p:sp>
        <p:nvSpPr>
          <p:cNvPr id="26" name="Text 24"/>
          <p:cNvSpPr txBox="1"/>
          <p:nvPr/>
        </p:nvSpPr>
        <p:spPr>
          <a:xfrm>
            <a:off x="4526280" y="3721608"/>
            <a:ext cx="3108960" cy="292608"/>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Bridges, locks, traffic lights</a:t>
            </a:r>
            <a:endParaRPr lang="en-US" sz="1400" dirty="0"/>
          </a:p>
        </p:txBody>
      </p:sp>
      <p:sp>
        <p:nvSpPr>
          <p:cNvPr id="28" name="Text 26"/>
          <p:cNvSpPr txBox="1"/>
          <p:nvPr/>
        </p:nvSpPr>
        <p:spPr>
          <a:xfrm>
            <a:off x="4023360" y="4526280"/>
            <a:ext cx="3749040" cy="548640"/>
          </a:xfrm>
          <a:prstGeom prst="rect">
            <a:avLst/>
          </a:prstGeom>
          <a:noFill/>
          <a:ln/>
        </p:spPr>
        <p:txBody>
          <a:bodyPr wrap="square" lIns="0" tIns="0" rIns="0" bIns="0" rtlCol="0" anchor="t"/>
          <a:lstStyle/>
          <a:p>
            <a:pPr marL="0" indent="0">
              <a:buNone/>
            </a:pPr>
            <a:r>
              <a:rPr lang="en-US" sz="1300" dirty="0">
                <a:solidFill>
                  <a:srgbClr val="93A1B3"/>
                </a:solidFill>
                <a:latin typeface="Segoe UI" pitchFamily="34" charset="0"/>
                <a:ea typeface="Segoe UI" pitchFamily="34" charset="-122"/>
                <a:cs typeface="Segoe UI" pitchFamily="34" charset="-120"/>
              </a:rPr>
              <a:t>When it goes down, residents feel it: </a:t>
            </a:r>
            <a:r>
              <a:rPr lang="en-US" sz="1300" b="1" dirty="0">
                <a:solidFill>
                  <a:srgbClr val="E6EDF3"/>
                </a:solidFill>
                <a:latin typeface="Segoe UI" pitchFamily="34" charset="0"/>
                <a:ea typeface="Segoe UI" pitchFamily="34" charset="-122"/>
                <a:cs typeface="Segoe UI" pitchFamily="34" charset="-120"/>
              </a:rPr>
              <a:t>Citrix, 2020.</a:t>
            </a:r>
            <a:endParaRPr lang="en-US" sz="1300" dirty="0"/>
          </a:p>
        </p:txBody>
      </p:sp>
      <p:sp>
        <p:nvSpPr>
          <p:cNvPr id="29" name="Text 27"/>
          <p:cNvSpPr txBox="1"/>
          <p:nvPr/>
        </p:nvSpPr>
        <p:spPr>
          <a:xfrm>
            <a:off x="8092440" y="1645920"/>
            <a:ext cx="3642055" cy="256032"/>
          </a:xfrm>
          <a:prstGeom prst="rect">
            <a:avLst/>
          </a:prstGeom>
          <a:noFill/>
          <a:ln/>
        </p:spPr>
        <p:txBody>
          <a:bodyPr wrap="square" lIns="0" tIns="0" rIns="0" bIns="0" rtlCol="0" anchor="ctr"/>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THE “FOR ALL” PART</a:t>
            </a:r>
            <a:endParaRPr lang="en-US" sz="1100" dirty="0"/>
          </a:p>
        </p:txBody>
      </p:sp>
      <p:sp>
        <p:nvSpPr>
          <p:cNvPr id="30" name="Panel"/>
          <p:cNvSpPr/>
          <p:nvPr/>
        </p:nvSpPr>
        <p:spPr>
          <a:xfrm>
            <a:off x="8092440" y="1993392"/>
            <a:ext cx="3642055" cy="2286000"/>
          </a:xfrm>
          <a:prstGeom prst="roundRect">
            <a:avLst>
              <a:gd name="adj" fmla="val 3200"/>
            </a:avLst>
          </a:prstGeom>
          <a:solidFill>
            <a:srgbClr val="121922"/>
          </a:solidFill>
          <a:ln w="9525">
            <a:solidFill>
              <a:srgbClr val="2A3646"/>
            </a:solidFill>
            <a:prstDash val="solid"/>
          </a:ln>
        </p:spPr>
        <p:txBody>
          <a:bodyPr/>
          <a:lstStyle/>
          <a:p>
            <a:endParaRPr lang="en-US"/>
          </a:p>
        </p:txBody>
      </p:sp>
      <p:sp>
        <p:nvSpPr>
          <p:cNvPr id="31" name="Text 29"/>
          <p:cNvSpPr txBox="1"/>
          <p:nvPr/>
        </p:nvSpPr>
        <p:spPr>
          <a:xfrm>
            <a:off x="8321040" y="2130552"/>
            <a:ext cx="3184855" cy="914400"/>
          </a:xfrm>
          <a:prstGeom prst="rect">
            <a:avLst/>
          </a:prstGeom>
          <a:noFill/>
          <a:ln/>
        </p:spPr>
        <p:txBody>
          <a:bodyPr wrap="square" lIns="0" tIns="0" rIns="0" bIns="0" rtlCol="0" anchor="t"/>
          <a:lstStyle/>
          <a:p>
            <a:pPr marL="0" indent="0">
              <a:buNone/>
            </a:pPr>
            <a:r>
              <a:rPr lang="en-US" sz="1400" dirty="0">
                <a:solidFill>
                  <a:srgbClr val="E6EDF3"/>
                </a:solidFill>
                <a:latin typeface="Segoe UI" pitchFamily="34" charset="0"/>
                <a:ea typeface="Segoe UI" pitchFamily="34" charset="-122"/>
                <a:cs typeface="Segoe UI" pitchFamily="34" charset="-120"/>
              </a:rPr>
              <a:t>Large organisations buy commercial threat intelligence. A municipality of 30,000 inhabitants usually cannot.</a:t>
            </a:r>
            <a:endParaRPr lang="en-US" sz="1400" dirty="0"/>
          </a:p>
        </p:txBody>
      </p:sp>
      <p:sp>
        <p:nvSpPr>
          <p:cNvPr id="32" name="Text 30"/>
          <p:cNvSpPr txBox="1"/>
          <p:nvPr/>
        </p:nvSpPr>
        <p:spPr>
          <a:xfrm>
            <a:off x="8321040" y="3108960"/>
            <a:ext cx="3184855" cy="228600"/>
          </a:xfrm>
          <a:prstGeom prst="rect">
            <a:avLst/>
          </a:prstGeom>
          <a:noFill/>
          <a:ln/>
        </p:spPr>
        <p:txBody>
          <a:bodyPr wrap="square" lIns="0" tIns="0" rIns="0" bIns="0" rtlCol="0" anchor="t"/>
          <a:lstStyle/>
          <a:p>
            <a:pPr marL="0" indent="0">
              <a:buNone/>
            </a:pPr>
            <a:r>
              <a:rPr lang="en-US" sz="1100" b="1" dirty="0">
                <a:solidFill>
                  <a:srgbClr val="FFB000"/>
                </a:solidFill>
                <a:latin typeface="Consolas" pitchFamily="34" charset="0"/>
                <a:ea typeface="Consolas" pitchFamily="34" charset="-122"/>
                <a:cs typeface="Consolas" pitchFamily="34" charset="-120"/>
              </a:rPr>
              <a:t>OUR ARGUMENT</a:t>
            </a:r>
            <a:endParaRPr lang="en-US" sz="1100" dirty="0"/>
          </a:p>
        </p:txBody>
      </p:sp>
      <p:sp>
        <p:nvSpPr>
          <p:cNvPr id="33" name="Text 31"/>
          <p:cNvSpPr txBox="1"/>
          <p:nvPr/>
        </p:nvSpPr>
        <p:spPr>
          <a:xfrm>
            <a:off x="8321040" y="3364992"/>
            <a:ext cx="3184855" cy="868680"/>
          </a:xfrm>
          <a:prstGeom prst="rect">
            <a:avLst/>
          </a:prstGeom>
          <a:noFill/>
          <a:ln/>
        </p:spPr>
        <p:txBody>
          <a:bodyPr wrap="square" lIns="0" tIns="0" rIns="0" bIns="0" rtlCol="0" anchor="t"/>
          <a:lstStyle/>
          <a:p>
            <a:pPr marL="0" indent="0">
              <a:buNone/>
            </a:pPr>
            <a:r>
              <a:rPr lang="en-US" sz="1400" dirty="0">
                <a:solidFill>
                  <a:srgbClr val="E6EDF3"/>
                </a:solidFill>
                <a:latin typeface="Segoe UI" pitchFamily="34" charset="0"/>
                <a:ea typeface="Segoe UI" pitchFamily="34" charset="-122"/>
                <a:cs typeface="Segoe UI" pitchFamily="34" charset="-120"/>
              </a:rPr>
              <a:t>Turning public discussion into a signal brings part of that capability to the organisations with the least capacity.</a:t>
            </a:r>
            <a:endParaRPr lang="en-US" sz="1400" dirty="0"/>
          </a:p>
        </p:txBody>
      </p:sp>
      <p:sp>
        <p:nvSpPr>
          <p:cNvPr id="34" name="Text 32"/>
          <p:cNvSpPr txBox="1"/>
          <p:nvPr/>
        </p:nvSpPr>
        <p:spPr>
          <a:xfrm>
            <a:off x="8092440" y="4462272"/>
            <a:ext cx="3642055" cy="256032"/>
          </a:xfrm>
          <a:prstGeom prst="rect">
            <a:avLst/>
          </a:prstGeom>
          <a:noFill/>
          <a:ln/>
        </p:spPr>
        <p:txBody>
          <a:bodyPr wrap="square" lIns="0" tIns="0" rIns="0" bIns="0" rtlCol="0" anchor="ctr"/>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WHO BENEFITS IF IT WORKS</a:t>
            </a:r>
            <a:endParaRPr lang="en-US" sz="1100" dirty="0"/>
          </a:p>
        </p:txBody>
      </p:sp>
      <p:sp>
        <p:nvSpPr>
          <p:cNvPr id="35" name="Text 33"/>
          <p:cNvSpPr txBox="1"/>
          <p:nvPr/>
        </p:nvSpPr>
        <p:spPr>
          <a:xfrm>
            <a:off x="8092440" y="4754880"/>
            <a:ext cx="3642055" cy="1280160"/>
          </a:xfrm>
          <a:prstGeom prst="rect">
            <a:avLst/>
          </a:prstGeom>
          <a:noFill/>
          <a:ln/>
        </p:spPr>
        <p:txBody>
          <a:bodyPr wrap="square" lIns="0" tIns="0" rIns="0" bIns="0" rtlCol="0" anchor="t"/>
          <a:lstStyle/>
          <a:p>
            <a:pPr marL="0" indent="0">
              <a:spcAft>
                <a:spcPts val="200"/>
              </a:spcAft>
              <a:buNone/>
            </a:pPr>
            <a:r>
              <a:rPr lang="en-US" sz="1400" b="1" dirty="0">
                <a:solidFill>
                  <a:srgbClr val="E6EDF3"/>
                </a:solidFill>
                <a:latin typeface="Segoe UI" pitchFamily="34" charset="0"/>
                <a:ea typeface="Segoe UI" pitchFamily="34" charset="-122"/>
                <a:cs typeface="Segoe UI" pitchFamily="34" charset="-120"/>
              </a:rPr>
              <a:t>The security officer</a:t>
            </a:r>
            <a:endParaRPr lang="en-US" sz="1400" dirty="0"/>
          </a:p>
          <a:p>
            <a:pPr marL="0" indent="0">
              <a:spcAft>
                <a:spcPts val="200"/>
              </a:spcAft>
              <a:buNone/>
            </a:pPr>
            <a:r>
              <a:rPr lang="en-US" sz="1400" dirty="0">
                <a:solidFill>
                  <a:srgbClr val="93A1B3"/>
                </a:solidFill>
                <a:latin typeface="Segoe UI" pitchFamily="34" charset="0"/>
                <a:ea typeface="Segoe UI" pitchFamily="34" charset="-122"/>
                <a:cs typeface="Segoe UI" pitchFamily="34" charset="-120"/>
              </a:rPr>
              <a:t>acts sooner on the right vulnerability</a:t>
            </a:r>
            <a:endParaRPr lang="en-US" sz="1400" dirty="0"/>
          </a:p>
          <a:p>
            <a:pPr marL="0" indent="0">
              <a:spcAft>
                <a:spcPts val="200"/>
              </a:spcAft>
              <a:buNone/>
            </a:pPr>
            <a:r>
              <a:rPr lang="en-US" sz="1400" b="1" dirty="0">
                <a:solidFill>
                  <a:srgbClr val="E6EDF3"/>
                </a:solidFill>
                <a:latin typeface="Segoe UI" pitchFamily="34" charset="0"/>
                <a:ea typeface="Segoe UI" pitchFamily="34" charset="-122"/>
                <a:cs typeface="Segoe UI" pitchFamily="34" charset="-120"/>
              </a:rPr>
              <a:t>Residents</a:t>
            </a:r>
            <a:endParaRPr lang="en-US" sz="1400" dirty="0"/>
          </a:p>
          <a:p>
            <a:pPr marL="0" indent="0">
              <a:spcAft>
                <a:spcPts val="200"/>
              </a:spcAft>
              <a:buNone/>
            </a:pPr>
            <a:r>
              <a:rPr lang="en-US" sz="1400" dirty="0">
                <a:solidFill>
                  <a:srgbClr val="93A1B3"/>
                </a:solidFill>
                <a:latin typeface="Segoe UI" pitchFamily="34" charset="0"/>
                <a:ea typeface="Segoe UI" pitchFamily="34" charset="-122"/>
                <a:cs typeface="Segoe UI" pitchFamily="34" charset="-120"/>
              </a:rPr>
              <a:t>their services stay up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2 · USER GROUP</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Often one person, deciding every week what can wait</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CBS (2026) · Binnenlands Bestuur (2021, 2025) · our 1,764 collected posts · Bluesky, 15 minutes of replies and quotes</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04</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Text 4"/>
          <p:cNvSpPr txBox="1"/>
          <p:nvPr/>
        </p:nvSpPr>
        <p:spPr>
          <a:xfrm>
            <a:off x="457200" y="1600200"/>
            <a:ext cx="3611880"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WHO READS THE PULSE</a:t>
            </a:r>
            <a:endParaRPr lang="en-US" sz="1100" dirty="0"/>
          </a:p>
        </p:txBody>
      </p:sp>
      <p:sp>
        <p:nvSpPr>
          <p:cNvPr id="7" name="Text 5"/>
          <p:cNvSpPr txBox="1"/>
          <p:nvPr/>
        </p:nvSpPr>
        <p:spPr>
          <a:xfrm>
            <a:off x="457200" y="1874520"/>
            <a:ext cx="3611880" cy="566928"/>
          </a:xfrm>
          <a:prstGeom prst="rect">
            <a:avLst/>
          </a:prstGeom>
          <a:noFill/>
          <a:ln/>
        </p:spPr>
        <p:txBody>
          <a:bodyPr wrap="square" lIns="0" tIns="0" rIns="0" bIns="0" rtlCol="0" anchor="t"/>
          <a:lstStyle/>
          <a:p>
            <a:pPr marL="0" indent="0">
              <a:buNone/>
            </a:pPr>
            <a:r>
              <a:rPr lang="en-US" sz="1500" dirty="0">
                <a:solidFill>
                  <a:srgbClr val="E6EDF3"/>
                </a:solidFill>
                <a:latin typeface="Segoe UI Semibold" pitchFamily="34" charset="0"/>
                <a:ea typeface="Segoe UI Semibold" pitchFamily="34" charset="-122"/>
                <a:cs typeface="Segoe UI Semibold" pitchFamily="34" charset="-120"/>
              </a:rPr>
              <a:t>The CISO of a small or mid-sized Dutch municipality</a:t>
            </a:r>
            <a:endParaRPr lang="en-US" sz="1500" dirty="0"/>
          </a:p>
        </p:txBody>
      </p:sp>
      <p:sp>
        <p:nvSpPr>
          <p:cNvPr id="8" name="Panel"/>
          <p:cNvSpPr/>
          <p:nvPr/>
        </p:nvSpPr>
        <p:spPr>
          <a:xfrm>
            <a:off x="457200" y="2606040"/>
            <a:ext cx="3611880" cy="694944"/>
          </a:xfrm>
          <a:prstGeom prst="roundRect">
            <a:avLst>
              <a:gd name="adj" fmla="val 10526"/>
            </a:avLst>
          </a:prstGeom>
          <a:solidFill>
            <a:srgbClr val="121922"/>
          </a:solidFill>
          <a:ln w="9525">
            <a:solidFill>
              <a:srgbClr val="2A3646"/>
            </a:solidFill>
            <a:prstDash val="solid"/>
          </a:ln>
        </p:spPr>
        <p:txBody>
          <a:bodyPr/>
          <a:lstStyle/>
          <a:p>
            <a:endParaRPr lang="en-US"/>
          </a:p>
        </p:txBody>
      </p:sp>
      <p:sp>
        <p:nvSpPr>
          <p:cNvPr id="9" name="Text 7"/>
          <p:cNvSpPr txBox="1"/>
          <p:nvPr/>
        </p:nvSpPr>
        <p:spPr>
          <a:xfrm>
            <a:off x="621792" y="2679192"/>
            <a:ext cx="1143000" cy="548640"/>
          </a:xfrm>
          <a:prstGeom prst="rect">
            <a:avLst/>
          </a:prstGeom>
          <a:noFill/>
          <a:ln/>
        </p:spPr>
        <p:txBody>
          <a:bodyPr wrap="square" lIns="0" tIns="0" rIns="0" bIns="0" rtlCol="0" anchor="ctr"/>
          <a:lstStyle/>
          <a:p>
            <a:pPr marL="0" indent="0">
              <a:buNone/>
            </a:pPr>
            <a:r>
              <a:rPr lang="en-US" sz="2200" b="1" dirty="0">
                <a:solidFill>
                  <a:srgbClr val="FFB000"/>
                </a:solidFill>
                <a:latin typeface="Consolas" pitchFamily="34" charset="0"/>
                <a:ea typeface="Consolas" pitchFamily="34" charset="-122"/>
                <a:cs typeface="Consolas" pitchFamily="34" charset="-120"/>
              </a:rPr>
              <a:t>342</a:t>
            </a:r>
            <a:endParaRPr lang="en-US" sz="2200" dirty="0"/>
          </a:p>
        </p:txBody>
      </p:sp>
      <p:sp>
        <p:nvSpPr>
          <p:cNvPr id="10" name="Text 8"/>
          <p:cNvSpPr txBox="1"/>
          <p:nvPr/>
        </p:nvSpPr>
        <p:spPr>
          <a:xfrm>
            <a:off x="1783080" y="2679192"/>
            <a:ext cx="2148840" cy="548640"/>
          </a:xfrm>
          <a:prstGeom prst="rect">
            <a:avLst/>
          </a:prstGeom>
          <a:noFill/>
          <a:ln/>
        </p:spPr>
        <p:txBody>
          <a:bodyPr wrap="square" lIns="0" tIns="0" rIns="0" bIns="0" rtlCol="0" anchor="ctr"/>
          <a:lstStyle/>
          <a:p>
            <a:pPr marL="0" indent="0">
              <a:buNone/>
            </a:pPr>
            <a:r>
              <a:rPr lang="en-US" sz="1200" dirty="0">
                <a:solidFill>
                  <a:srgbClr val="E6EDF3"/>
                </a:solidFill>
                <a:latin typeface="Segoe UI" pitchFamily="34" charset="0"/>
                <a:ea typeface="Segoe UI" pitchFamily="34" charset="-122"/>
                <a:cs typeface="Segoe UI" pitchFamily="34" charset="-120"/>
              </a:rPr>
              <a:t>municipalities, each must organise information security</a:t>
            </a:r>
            <a:endParaRPr lang="en-US" sz="1200" dirty="0"/>
          </a:p>
        </p:txBody>
      </p:sp>
      <p:sp>
        <p:nvSpPr>
          <p:cNvPr id="11" name="Panel"/>
          <p:cNvSpPr/>
          <p:nvPr/>
        </p:nvSpPr>
        <p:spPr>
          <a:xfrm>
            <a:off x="457200" y="3438144"/>
            <a:ext cx="3611880" cy="694944"/>
          </a:xfrm>
          <a:prstGeom prst="roundRect">
            <a:avLst>
              <a:gd name="adj" fmla="val 10526"/>
            </a:avLst>
          </a:prstGeom>
          <a:solidFill>
            <a:srgbClr val="121922"/>
          </a:solidFill>
          <a:ln w="9525">
            <a:solidFill>
              <a:srgbClr val="2A3646"/>
            </a:solidFill>
            <a:prstDash val="solid"/>
          </a:ln>
        </p:spPr>
        <p:txBody>
          <a:bodyPr/>
          <a:lstStyle/>
          <a:p>
            <a:endParaRPr lang="en-US"/>
          </a:p>
        </p:txBody>
      </p:sp>
      <p:sp>
        <p:nvSpPr>
          <p:cNvPr id="12" name="Text 10"/>
          <p:cNvSpPr txBox="1"/>
          <p:nvPr/>
        </p:nvSpPr>
        <p:spPr>
          <a:xfrm>
            <a:off x="621792" y="3511296"/>
            <a:ext cx="1143000" cy="548640"/>
          </a:xfrm>
          <a:prstGeom prst="rect">
            <a:avLst/>
          </a:prstGeom>
          <a:noFill/>
          <a:ln/>
        </p:spPr>
        <p:txBody>
          <a:bodyPr wrap="square" lIns="0" tIns="0" rIns="0" bIns="0" rtlCol="0" anchor="ctr"/>
          <a:lstStyle/>
          <a:p>
            <a:pPr marL="0" indent="0">
              <a:buNone/>
            </a:pPr>
            <a:r>
              <a:rPr lang="en-US" sz="1700" b="1" dirty="0">
                <a:solidFill>
                  <a:srgbClr val="FFB000"/>
                </a:solidFill>
                <a:latin typeface="Consolas" pitchFamily="34" charset="0"/>
                <a:ea typeface="Consolas" pitchFamily="34" charset="-122"/>
                <a:cs typeface="Consolas" pitchFamily="34" charset="-120"/>
              </a:rPr>
              <a:t>often 1</a:t>
            </a:r>
            <a:endParaRPr lang="en-US" sz="1700" dirty="0"/>
          </a:p>
        </p:txBody>
      </p:sp>
      <p:sp>
        <p:nvSpPr>
          <p:cNvPr id="13" name="Text 11"/>
          <p:cNvSpPr txBox="1"/>
          <p:nvPr/>
        </p:nvSpPr>
        <p:spPr>
          <a:xfrm>
            <a:off x="1783080" y="3511296"/>
            <a:ext cx="2148840" cy="548640"/>
          </a:xfrm>
          <a:prstGeom prst="rect">
            <a:avLst/>
          </a:prstGeom>
          <a:noFill/>
          <a:ln/>
        </p:spPr>
        <p:txBody>
          <a:bodyPr wrap="square" lIns="0" tIns="0" rIns="0" bIns="0" rtlCol="0" anchor="ctr"/>
          <a:lstStyle/>
          <a:p>
            <a:pPr marL="0" indent="0">
              <a:buNone/>
            </a:pPr>
            <a:r>
              <a:rPr lang="en-US" sz="1200" dirty="0">
                <a:solidFill>
                  <a:srgbClr val="E6EDF3"/>
                </a:solidFill>
                <a:latin typeface="Segoe UI" pitchFamily="34" charset="0"/>
                <a:ea typeface="Segoe UI" pitchFamily="34" charset="-122"/>
                <a:cs typeface="Segoe UI" pitchFamily="34" charset="-120"/>
              </a:rPr>
              <a:t>person, sometimes shared with neighbours; also policy, audits, incidents</a:t>
            </a:r>
            <a:endParaRPr lang="en-US" sz="1200" dirty="0"/>
          </a:p>
        </p:txBody>
      </p:sp>
      <p:sp>
        <p:nvSpPr>
          <p:cNvPr id="18" name="Panel"/>
          <p:cNvSpPr/>
          <p:nvPr/>
        </p:nvSpPr>
        <p:spPr>
          <a:xfrm>
            <a:off x="457200" y="4270248"/>
            <a:ext cx="3611880" cy="914400"/>
          </a:xfrm>
          <a:prstGeom prst="roundRect">
            <a:avLst>
              <a:gd name="adj" fmla="val 8889"/>
            </a:avLst>
          </a:prstGeom>
          <a:solidFill>
            <a:srgbClr val="1A2330"/>
          </a:solidFill>
          <a:ln w="9525">
            <a:solidFill>
              <a:srgbClr val="2A3646"/>
            </a:solidFill>
            <a:prstDash val="solid"/>
          </a:ln>
        </p:spPr>
        <p:txBody>
          <a:bodyPr/>
          <a:lstStyle/>
          <a:p>
            <a:endParaRPr lang="en-US"/>
          </a:p>
        </p:txBody>
      </p:sp>
      <p:sp>
        <p:nvSpPr>
          <p:cNvPr id="19" name="Text 17"/>
          <p:cNvSpPr txBox="1"/>
          <p:nvPr/>
        </p:nvSpPr>
        <p:spPr>
          <a:xfrm>
            <a:off x="621792" y="4379976"/>
            <a:ext cx="3282696" cy="694944"/>
          </a:xfrm>
          <a:prstGeom prst="rect">
            <a:avLst/>
          </a:prstGeom>
          <a:noFill/>
          <a:ln/>
        </p:spPr>
        <p:txBody>
          <a:bodyPr wrap="square" lIns="0" tIns="0" rIns="0" bIns="0" rtlCol="0" anchor="ctr"/>
          <a:lstStyle/>
          <a:p>
            <a:pPr marL="0" indent="0">
              <a:buNone/>
            </a:pPr>
            <a:r>
              <a:rPr lang="en-US" sz="1000" b="1" dirty="0">
                <a:solidFill>
                  <a:srgbClr val="93A1B3"/>
                </a:solidFill>
                <a:latin typeface="Consolas" pitchFamily="34" charset="0"/>
                <a:ea typeface="Consolas" pitchFamily="34" charset="-122"/>
                <a:cs typeface="Consolas" pitchFamily="34" charset="-120"/>
              </a:rPr>
              <a:t>MADE-UP EXAMPLE  </a:t>
            </a:r>
            <a:r>
              <a:rPr lang="en-US" sz="1150" dirty="0">
                <a:solidFill>
                  <a:srgbClr val="E6EDF3"/>
                </a:solidFill>
                <a:latin typeface="Segoe UI" pitchFamily="34" charset="0"/>
                <a:ea typeface="Segoe UI" pitchFamily="34" charset="-122"/>
                <a:cs typeface="Segoe UI" pitchFamily="34" charset="-120"/>
              </a:rPr>
              <a:t>Ingrid, 46, the only security specialist in a municipality of about 35,000. Tuesday mornings: new advisories with the IT manager.</a:t>
            </a:r>
            <a:endParaRPr lang="en-US" sz="1400" dirty="0"/>
          </a:p>
        </p:txBody>
      </p:sp>
      <p:sp>
        <p:nvSpPr>
          <p:cNvPr id="20" name="Text 18"/>
          <p:cNvSpPr txBox="1"/>
          <p:nvPr/>
        </p:nvSpPr>
        <p:spPr>
          <a:xfrm>
            <a:off x="4288536" y="1600200"/>
            <a:ext cx="3611880"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THE WEEKLY DECISION</a:t>
            </a:r>
            <a:endParaRPr lang="en-US" sz="1100" dirty="0"/>
          </a:p>
        </p:txBody>
      </p:sp>
      <p:sp>
        <p:nvSpPr>
          <p:cNvPr id="21" name="Panel"/>
          <p:cNvSpPr/>
          <p:nvPr/>
        </p:nvSpPr>
        <p:spPr>
          <a:xfrm>
            <a:off x="4288536" y="1874520"/>
            <a:ext cx="3611880" cy="1325880"/>
          </a:xfrm>
          <a:prstGeom prst="roundRect">
            <a:avLst>
              <a:gd name="adj" fmla="val 6400"/>
            </a:avLst>
          </a:prstGeom>
          <a:solidFill>
            <a:srgbClr val="1F1A10"/>
          </a:solidFill>
          <a:ln w="9525">
            <a:solidFill>
              <a:srgbClr val="5C4510"/>
            </a:solidFill>
            <a:prstDash val="solid"/>
          </a:ln>
        </p:spPr>
        <p:txBody>
          <a:bodyPr/>
          <a:lstStyle/>
          <a:p>
            <a:endParaRPr lang="en-US"/>
          </a:p>
        </p:txBody>
      </p:sp>
      <p:sp>
        <p:nvSpPr>
          <p:cNvPr id="22" name="Text 20"/>
          <p:cNvSpPr txBox="1"/>
          <p:nvPr/>
        </p:nvSpPr>
        <p:spPr>
          <a:xfrm>
            <a:off x="4471416" y="2011680"/>
            <a:ext cx="3246120" cy="1005840"/>
          </a:xfrm>
          <a:prstGeom prst="rect">
            <a:avLst/>
          </a:prstGeom>
          <a:noFill/>
          <a:ln/>
        </p:spPr>
        <p:txBody>
          <a:bodyPr wrap="square" lIns="0" tIns="0" rIns="0" bIns="0" rtlCol="0" anchor="ctr"/>
          <a:lstStyle/>
          <a:p>
            <a:pPr marL="0" indent="0">
              <a:spcAft>
                <a:spcPts val="300"/>
              </a:spcAft>
              <a:buNone/>
            </a:pPr>
            <a:r>
              <a:rPr lang="en-US" sz="1500" dirty="0">
                <a:solidFill>
                  <a:srgbClr val="E6EDF3"/>
                </a:solidFill>
                <a:latin typeface="Segoe UI Semibold" pitchFamily="34" charset="0"/>
                <a:ea typeface="Segoe UI Semibold" pitchFamily="34" charset="-122"/>
                <a:cs typeface="Segoe UI Semibold" pitchFamily="34" charset="-120"/>
              </a:rPr>
              <a:t>Regular patch round, or emergency change?</a:t>
            </a:r>
            <a:endParaRPr lang="en-US" sz="1400" dirty="0"/>
          </a:p>
          <a:p>
            <a:pPr marL="0" indent="0">
              <a:spcAft>
                <a:spcPts val="300"/>
              </a:spcAft>
              <a:buNone/>
            </a:pPr>
            <a:r>
              <a:rPr lang="en-US" sz="1200" dirty="0">
                <a:solidFill>
                  <a:srgbClr val="E6EDF3"/>
                </a:solidFill>
                <a:latin typeface="Segoe UI" pitchFamily="34" charset="0"/>
                <a:ea typeface="Segoe UI" pitchFamily="34" charset="-122"/>
                <a:cs typeface="Segoe UI" pitchFamily="34" charset="-120"/>
              </a:rPr>
              <a:t>An emergency patch means downtime, overtime and explaining why, since August 2026 up to the mayor and aldermen.</a:t>
            </a:r>
            <a:endParaRPr lang="en-US" sz="1400" dirty="0"/>
          </a:p>
        </p:txBody>
      </p:sp>
      <p:sp>
        <p:nvSpPr>
          <p:cNvPr id="27" name="Text 25"/>
          <p:cNvSpPr txBox="1"/>
          <p:nvPr/>
        </p:nvSpPr>
        <p:spPr>
          <a:xfrm>
            <a:off x="4288536" y="3474720"/>
            <a:ext cx="3611880" cy="256032"/>
          </a:xfrm>
          <a:prstGeom prst="rect">
            <a:avLst/>
          </a:prstGeom>
          <a:noFill/>
          <a:ln/>
        </p:spPr>
        <p:txBody>
          <a:bodyPr wrap="square" lIns="0" tIns="0" rIns="0" bIns="0" rtlCol="0" anchor="ctr"/>
          <a:lstStyle/>
          <a:p>
            <a:pPr marL="0" indent="0">
              <a:buNone/>
            </a:pPr>
            <a:r>
              <a:rPr lang="en-US" sz="1100" b="1" kern="0" spc="100" dirty="0">
                <a:solidFill>
                  <a:srgbClr val="FF453A"/>
                </a:solidFill>
                <a:latin typeface="Consolas" pitchFamily="34" charset="0"/>
                <a:ea typeface="Consolas" pitchFamily="34" charset="-122"/>
                <a:cs typeface="Consolas" pitchFamily="34" charset="-120"/>
              </a:rPr>
              <a:t>NOT THE USER</a:t>
            </a:r>
            <a:endParaRPr lang="en-US" sz="1100" dirty="0"/>
          </a:p>
        </p:txBody>
      </p:sp>
      <p:sp>
        <p:nvSpPr>
          <p:cNvPr id="28" name="Text 26"/>
          <p:cNvSpPr txBox="1"/>
          <p:nvPr/>
        </p:nvSpPr>
        <p:spPr>
          <a:xfrm>
            <a:off x="4288536" y="3749040"/>
            <a:ext cx="3611880" cy="868680"/>
          </a:xfrm>
          <a:prstGeom prst="rect">
            <a:avLst/>
          </a:prstGeom>
          <a:noFill/>
          <a:ln/>
        </p:spPr>
        <p:txBody>
          <a:bodyPr wrap="square" lIns="0" tIns="0" rIns="0" bIns="0" rtlCol="0" anchor="t"/>
          <a:lstStyle/>
          <a:p>
            <a:pPr marL="177800" indent="-177800">
              <a:buSzPct val="100000"/>
              <a:buChar char="•"/>
            </a:pPr>
            <a:r>
              <a:rPr lang="en-US" sz="1250" dirty="0">
                <a:solidFill>
                  <a:srgbClr val="E6EDF3"/>
                </a:solidFill>
                <a:latin typeface="Segoe UI" pitchFamily="34" charset="0"/>
                <a:ea typeface="Segoe UI" pitchFamily="34" charset="-122"/>
                <a:cs typeface="Segoe UI" pitchFamily="34" charset="-120"/>
              </a:rPr>
              <a:t>Home users</a:t>
            </a:r>
            <a:endParaRPr lang="en-US" sz="1250" dirty="0"/>
          </a:p>
          <a:p>
            <a:pPr marL="177800" indent="-177800">
              <a:buSzPct val="100000"/>
              <a:buChar char="•"/>
            </a:pPr>
            <a:r>
              <a:rPr lang="en-US" sz="1250" dirty="0">
                <a:solidFill>
                  <a:srgbClr val="E6EDF3"/>
                </a:solidFill>
                <a:latin typeface="Segoe UI" pitchFamily="34" charset="0"/>
                <a:ea typeface="Segoe UI" pitchFamily="34" charset="-122"/>
                <a:cs typeface="Segoe UI" pitchFamily="34" charset="-120"/>
              </a:rPr>
              <a:t>Large organisations with their own SOC</a:t>
            </a:r>
            <a:endParaRPr lang="en-US" sz="1250" dirty="0"/>
          </a:p>
          <a:p>
            <a:pPr marL="177800" indent="-177800">
              <a:buSzPct val="100000"/>
              <a:buChar char="•"/>
            </a:pPr>
            <a:r>
              <a:rPr lang="en-US" sz="1250" dirty="0">
                <a:solidFill>
                  <a:srgbClr val="E6EDF3"/>
                </a:solidFill>
                <a:latin typeface="Segoe UI" pitchFamily="34" charset="0"/>
                <a:ea typeface="Segoe UI" pitchFamily="34" charset="-122"/>
                <a:cs typeface="Segoe UI" pitchFamily="34" charset="-120"/>
              </a:rPr>
              <a:t>Anyone replacing the NCSC, IBD or a scanner</a:t>
            </a:r>
            <a:endParaRPr lang="en-US" sz="1250" dirty="0"/>
          </a:p>
        </p:txBody>
      </p:sp>
      <p:sp>
        <p:nvSpPr>
          <p:cNvPr id="29" name="Text 27"/>
          <p:cNvSpPr txBox="1"/>
          <p:nvPr/>
        </p:nvSpPr>
        <p:spPr>
          <a:xfrm>
            <a:off x="8119872" y="1600200"/>
            <a:ext cx="3611880"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WHOSE VOICES ARE IN THE STREAM</a:t>
            </a:r>
            <a:endParaRPr lang="en-US" sz="1100" dirty="0"/>
          </a:p>
        </p:txBody>
      </p:sp>
      <p:sp>
        <p:nvSpPr>
          <p:cNvPr id="30" name="Text 28"/>
          <p:cNvSpPr txBox="1"/>
          <p:nvPr/>
        </p:nvSpPr>
        <p:spPr>
          <a:xfrm>
            <a:off x="8119872" y="1901952"/>
            <a:ext cx="3611880" cy="274320"/>
          </a:xfrm>
          <a:prstGeom prst="rect">
            <a:avLst/>
          </a:prstGeom>
          <a:noFill/>
          <a:ln/>
        </p:spPr>
        <p:txBody>
          <a:bodyPr wrap="square" lIns="0" tIns="0" rIns="0" bIns="0" rtlCol="0" anchor="t"/>
          <a:lstStyle/>
          <a:p>
            <a:pPr marL="0" indent="0">
              <a:buNone/>
            </a:pPr>
            <a:r>
              <a:rPr lang="en-US" sz="1400" b="1" dirty="0">
                <a:solidFill>
                  <a:srgbClr val="7AA2C8"/>
                </a:solidFill>
                <a:latin typeface="Consolas" pitchFamily="34" charset="0"/>
                <a:ea typeface="Consolas" pitchFamily="34" charset="-122"/>
                <a:cs typeface="Consolas" pitchFamily="34" charset="-120"/>
              </a:rPr>
              <a:t>1,593 of 1,764</a:t>
            </a:r>
            <a:endParaRPr lang="en-US" sz="1400" dirty="0"/>
          </a:p>
        </p:txBody>
      </p:sp>
      <p:sp>
        <p:nvSpPr>
          <p:cNvPr id="31" name="Bar track"/>
          <p:cNvSpPr/>
          <p:nvPr/>
        </p:nvSpPr>
        <p:spPr>
          <a:xfrm>
            <a:off x="8119872" y="2212848"/>
            <a:ext cx="3611880" cy="118872"/>
          </a:xfrm>
          <a:prstGeom prst="rect">
            <a:avLst/>
          </a:prstGeom>
          <a:solidFill>
            <a:srgbClr val="1A2330"/>
          </a:solidFill>
          <a:ln/>
        </p:spPr>
        <p:txBody>
          <a:bodyPr/>
          <a:lstStyle/>
          <a:p>
            <a:endParaRPr lang="en-US"/>
          </a:p>
        </p:txBody>
      </p:sp>
      <p:sp>
        <p:nvSpPr>
          <p:cNvPr id="32" name="Bar"/>
          <p:cNvSpPr/>
          <p:nvPr/>
        </p:nvSpPr>
        <p:spPr>
          <a:xfrm>
            <a:off x="8119872" y="2212848"/>
            <a:ext cx="3261749" cy="118872"/>
          </a:xfrm>
          <a:prstGeom prst="rect">
            <a:avLst/>
          </a:prstGeom>
          <a:solidFill>
            <a:srgbClr val="7AA2C8"/>
          </a:solidFill>
          <a:ln/>
        </p:spPr>
        <p:txBody>
          <a:bodyPr/>
          <a:lstStyle/>
          <a:p>
            <a:endParaRPr lang="en-US"/>
          </a:p>
        </p:txBody>
      </p:sp>
      <p:sp>
        <p:nvSpPr>
          <p:cNvPr id="33" name="Text 31"/>
          <p:cNvSpPr txBox="1"/>
          <p:nvPr/>
        </p:nvSpPr>
        <p:spPr>
          <a:xfrm>
            <a:off x="8119872" y="2377440"/>
            <a:ext cx="3611880" cy="329184"/>
          </a:xfrm>
          <a:prstGeom prst="rect">
            <a:avLst/>
          </a:prstGeom>
          <a:noFill/>
          <a:ln/>
        </p:spPr>
        <p:txBody>
          <a:bodyPr wrap="square" lIns="0" tIns="0" rIns="0" bIns="0" rtlCol="0" anchor="t"/>
          <a:lstStyle/>
          <a:p>
            <a:pPr marL="0" indent="0">
              <a:buNone/>
            </a:pPr>
            <a:r>
              <a:rPr lang="en-US" sz="1150" dirty="0">
                <a:solidFill>
                  <a:srgbClr val="93A1B3"/>
                </a:solidFill>
                <a:latin typeface="Segoe UI" pitchFamily="34" charset="0"/>
                <a:ea typeface="Segoe UI" pitchFamily="34" charset="-122"/>
                <a:cs typeface="Segoe UI" pitchFamily="34" charset="-120"/>
              </a:rPr>
              <a:t>posts in English</a:t>
            </a:r>
            <a:endParaRPr lang="en-US" sz="1150" dirty="0"/>
          </a:p>
        </p:txBody>
      </p:sp>
      <p:sp>
        <p:nvSpPr>
          <p:cNvPr id="34" name="Text 32"/>
          <p:cNvSpPr txBox="1"/>
          <p:nvPr/>
        </p:nvSpPr>
        <p:spPr>
          <a:xfrm>
            <a:off x="8119872" y="2770632"/>
            <a:ext cx="3611880" cy="274320"/>
          </a:xfrm>
          <a:prstGeom prst="rect">
            <a:avLst/>
          </a:prstGeom>
          <a:noFill/>
          <a:ln/>
        </p:spPr>
        <p:txBody>
          <a:bodyPr wrap="square" lIns="0" tIns="0" rIns="0" bIns="0" rtlCol="0" anchor="t"/>
          <a:lstStyle/>
          <a:p>
            <a:pPr marL="0" indent="0">
              <a:buNone/>
            </a:pPr>
            <a:r>
              <a:rPr lang="en-US" sz="1400" b="1" dirty="0">
                <a:solidFill>
                  <a:srgbClr val="FF453A"/>
                </a:solidFill>
                <a:latin typeface="Consolas" pitchFamily="34" charset="0"/>
                <a:ea typeface="Consolas" pitchFamily="34" charset="-122"/>
                <a:cs typeface="Consolas" pitchFamily="34" charset="-120"/>
              </a:rPr>
              <a:t>1,325 of 1,764</a:t>
            </a:r>
            <a:endParaRPr lang="en-US" sz="1400" dirty="0"/>
          </a:p>
        </p:txBody>
      </p:sp>
      <p:sp>
        <p:nvSpPr>
          <p:cNvPr id="35" name="Bar track"/>
          <p:cNvSpPr/>
          <p:nvPr/>
        </p:nvSpPr>
        <p:spPr>
          <a:xfrm>
            <a:off x="8119872" y="3081528"/>
            <a:ext cx="3611880" cy="118872"/>
          </a:xfrm>
          <a:prstGeom prst="rect">
            <a:avLst/>
          </a:prstGeom>
          <a:solidFill>
            <a:srgbClr val="1A2330"/>
          </a:solidFill>
          <a:ln/>
        </p:spPr>
        <p:txBody>
          <a:bodyPr/>
          <a:lstStyle/>
          <a:p>
            <a:endParaRPr lang="en-US"/>
          </a:p>
        </p:txBody>
      </p:sp>
      <p:sp>
        <p:nvSpPr>
          <p:cNvPr id="36" name="Bar"/>
          <p:cNvSpPr/>
          <p:nvPr/>
        </p:nvSpPr>
        <p:spPr>
          <a:xfrm>
            <a:off x="8119872" y="3081528"/>
            <a:ext cx="2713005" cy="118872"/>
          </a:xfrm>
          <a:prstGeom prst="rect">
            <a:avLst/>
          </a:prstGeom>
          <a:solidFill>
            <a:srgbClr val="FF453A"/>
          </a:solidFill>
          <a:ln/>
        </p:spPr>
        <p:txBody>
          <a:bodyPr/>
          <a:lstStyle/>
          <a:p>
            <a:endParaRPr lang="en-US"/>
          </a:p>
        </p:txBody>
      </p:sp>
      <p:sp>
        <p:nvSpPr>
          <p:cNvPr id="37" name="Text 35"/>
          <p:cNvSpPr txBox="1"/>
          <p:nvPr/>
        </p:nvSpPr>
        <p:spPr>
          <a:xfrm>
            <a:off x="8119872" y="3246120"/>
            <a:ext cx="3611880" cy="329184"/>
          </a:xfrm>
          <a:prstGeom prst="rect">
            <a:avLst/>
          </a:prstGeom>
          <a:noFill/>
          <a:ln/>
        </p:spPr>
        <p:txBody>
          <a:bodyPr wrap="square" lIns="0" tIns="0" rIns="0" bIns="0" rtlCol="0" anchor="t"/>
          <a:lstStyle/>
          <a:p>
            <a:pPr marL="0" indent="0">
              <a:buNone/>
            </a:pPr>
            <a:r>
              <a:rPr lang="en-US" sz="1150" dirty="0">
                <a:solidFill>
                  <a:srgbClr val="93A1B3"/>
                </a:solidFill>
                <a:latin typeface="Segoe UI" pitchFamily="34" charset="0"/>
                <a:ea typeface="Segoe UI" pitchFamily="34" charset="-122"/>
                <a:cs typeface="Segoe UI" pitchFamily="34" charset="-120"/>
              </a:rPr>
              <a:t>posts (75%) by 47 of 209 accounts that look automated</a:t>
            </a:r>
            <a:endParaRPr lang="en-US" sz="1150" dirty="0"/>
          </a:p>
        </p:txBody>
      </p:sp>
      <p:sp>
        <p:nvSpPr>
          <p:cNvPr id="38" name="Text 36"/>
          <p:cNvSpPr txBox="1"/>
          <p:nvPr/>
        </p:nvSpPr>
        <p:spPr>
          <a:xfrm>
            <a:off x="8119872" y="3657600"/>
            <a:ext cx="3611880" cy="457200"/>
          </a:xfrm>
          <a:prstGeom prst="rect">
            <a:avLst/>
          </a:prstGeom>
          <a:noFill/>
          <a:ln/>
        </p:spPr>
        <p:txBody>
          <a:bodyPr wrap="square" lIns="0" tIns="0" rIns="0" bIns="0" rtlCol="0" anchor="t"/>
          <a:lstStyle/>
          <a:p>
            <a:pPr marL="0" indent="0">
              <a:buNone/>
            </a:pPr>
            <a:r>
              <a:rPr lang="en-US" sz="1200" dirty="0">
                <a:solidFill>
                  <a:srgbClr val="93A1B3"/>
                </a:solidFill>
                <a:latin typeface="Segoe UI" pitchFamily="34" charset="0"/>
                <a:ea typeface="Segoe UI" pitchFamily="34" charset="-122"/>
                <a:cs typeface="Segoe UI" pitchFamily="34" charset="-120"/>
              </a:rPr>
              <a:t>Bluesky, 15 min: </a:t>
            </a:r>
            <a:r>
              <a:rPr lang="en-US" sz="1200" b="1" dirty="0">
                <a:solidFill>
                  <a:srgbClr val="E6EDF3"/>
                </a:solidFill>
                <a:latin typeface="Consolas" pitchFamily="34" charset="0"/>
                <a:ea typeface="Consolas" pitchFamily="34" charset="-122"/>
                <a:cs typeface="Consolas" pitchFamily="34" charset="-120"/>
              </a:rPr>
              <a:t>27,240</a:t>
            </a:r>
            <a:r>
              <a:rPr lang="en-US" sz="1200" dirty="0">
                <a:solidFill>
                  <a:srgbClr val="E6EDF3"/>
                </a:solidFill>
                <a:latin typeface="Segoe UI" pitchFamily="34" charset="0"/>
                <a:ea typeface="Segoe UI" pitchFamily="34" charset="-122"/>
                <a:cs typeface="Segoe UI" pitchFamily="34" charset="-120"/>
              </a:rPr>
              <a:t> posts, </a:t>
            </a:r>
            <a:r>
              <a:rPr lang="en-US" sz="1200" b="1" dirty="0">
                <a:solidFill>
                  <a:srgbClr val="FF453A"/>
                </a:solidFill>
                <a:latin typeface="Consolas" pitchFamily="34" charset="0"/>
                <a:ea typeface="Consolas" pitchFamily="34" charset="-122"/>
                <a:cs typeface="Consolas" pitchFamily="34" charset="-120"/>
              </a:rPr>
              <a:t>0</a:t>
            </a:r>
            <a:r>
              <a:rPr lang="en-US" sz="1200" dirty="0">
                <a:solidFill>
                  <a:srgbClr val="E6EDF3"/>
                </a:solidFill>
                <a:latin typeface="Segoe UI" pitchFamily="34" charset="0"/>
                <a:ea typeface="Segoe UI" pitchFamily="34" charset="-122"/>
                <a:cs typeface="Segoe UI" pitchFamily="34" charset="-120"/>
              </a:rPr>
              <a:t> replies to or quotes of our stored posts</a:t>
            </a:r>
            <a:endParaRPr lang="en-US" sz="1200" dirty="0"/>
          </a:p>
        </p:txBody>
      </p:sp>
      <p:sp>
        <p:nvSpPr>
          <p:cNvPr id="39" name="Text 37"/>
          <p:cNvSpPr txBox="1"/>
          <p:nvPr/>
        </p:nvSpPr>
        <p:spPr>
          <a:xfrm>
            <a:off x="8119872" y="4206240"/>
            <a:ext cx="3611880" cy="256032"/>
          </a:xfrm>
          <a:prstGeom prst="rect">
            <a:avLst/>
          </a:prstGeom>
          <a:noFill/>
          <a:ln/>
        </p:spPr>
        <p:txBody>
          <a:bodyPr wrap="square" lIns="0" tIns="0" rIns="0" bIns="0" rtlCol="0" anchor="ctr"/>
          <a:lstStyle/>
          <a:p>
            <a:pPr marL="0" indent="0">
              <a:buNone/>
            </a:pPr>
            <a:r>
              <a:rPr lang="en-US" sz="1100" b="1" kern="0" spc="100" dirty="0">
                <a:solidFill>
                  <a:srgbClr val="FF453A"/>
                </a:solidFill>
                <a:latin typeface="Consolas" pitchFamily="34" charset="0"/>
                <a:ea typeface="Consolas" pitchFamily="34" charset="-122"/>
                <a:cs typeface="Consolas" pitchFamily="34" charset="-120"/>
              </a:rPr>
              <a:t>WHO IS MISSING</a:t>
            </a:r>
            <a:endParaRPr lang="en-US" sz="1100" dirty="0"/>
          </a:p>
        </p:txBody>
      </p:sp>
      <p:sp>
        <p:nvSpPr>
          <p:cNvPr id="40" name="Text 38"/>
          <p:cNvSpPr txBox="1"/>
          <p:nvPr/>
        </p:nvSpPr>
        <p:spPr>
          <a:xfrm>
            <a:off x="8119872" y="4480560"/>
            <a:ext cx="3611880" cy="868680"/>
          </a:xfrm>
          <a:prstGeom prst="rect">
            <a:avLst/>
          </a:prstGeom>
          <a:noFill/>
          <a:ln/>
        </p:spPr>
        <p:txBody>
          <a:bodyPr wrap="square" lIns="0" tIns="0" rIns="0" bIns="0" rtlCol="0" anchor="t"/>
          <a:lstStyle/>
          <a:p>
            <a:pPr marL="0" indent="0">
              <a:buNone/>
            </a:pPr>
            <a:r>
              <a:rPr lang="en-US" sz="1200" dirty="0">
                <a:solidFill>
                  <a:srgbClr val="E6EDF3"/>
                </a:solidFill>
                <a:latin typeface="Segoe UI" pitchFamily="34" charset="0"/>
                <a:ea typeface="Segoe UI" pitchFamily="34" charset="-122"/>
                <a:cs typeface="Segoe UI" pitchFamily="34" charset="-120"/>
              </a:rPr>
              <a:t>X and LinkedIn · closed channels (CERTs, IBD network) · infosec.exchange · non-English speakers · people who read but never post · opted-out accounts · attackers</a:t>
            </a:r>
            <a:endParaRPr lang="en-US" sz="1200" dirty="0"/>
          </a:p>
        </p:txBody>
      </p:sp>
      <p:sp>
        <p:nvSpPr>
          <p:cNvPr id="41" name="Panel"/>
          <p:cNvSpPr/>
          <p:nvPr/>
        </p:nvSpPr>
        <p:spPr>
          <a:xfrm>
            <a:off x="8119872" y="5394960"/>
            <a:ext cx="3611880" cy="777240"/>
          </a:xfrm>
          <a:prstGeom prst="roundRect">
            <a:avLst>
              <a:gd name="adj" fmla="val 9412"/>
            </a:avLst>
          </a:prstGeom>
          <a:solidFill>
            <a:srgbClr val="1A2330"/>
          </a:solidFill>
          <a:ln w="9525">
            <a:solidFill>
              <a:srgbClr val="2A3646"/>
            </a:solidFill>
            <a:prstDash val="solid"/>
          </a:ln>
        </p:spPr>
        <p:txBody>
          <a:bodyPr/>
          <a:lstStyle/>
          <a:p>
            <a:endParaRPr lang="en-US"/>
          </a:p>
        </p:txBody>
      </p:sp>
      <p:sp>
        <p:nvSpPr>
          <p:cNvPr id="42" name="Text 40"/>
          <p:cNvSpPr txBox="1"/>
          <p:nvPr/>
        </p:nvSpPr>
        <p:spPr>
          <a:xfrm>
            <a:off x="8284464" y="5440680"/>
            <a:ext cx="3282696" cy="685800"/>
          </a:xfrm>
          <a:prstGeom prst="rect">
            <a:avLst/>
          </a:prstGeom>
          <a:noFill/>
          <a:ln/>
        </p:spPr>
        <p:txBody>
          <a:bodyPr wrap="square" lIns="0" tIns="0" rIns="0" bIns="0" rtlCol="0" anchor="ctr"/>
          <a:lstStyle/>
          <a:p>
            <a:pPr marL="0" indent="0">
              <a:buNone/>
            </a:pPr>
            <a:r>
              <a:rPr lang="en-US" sz="1150" dirty="0">
                <a:solidFill>
                  <a:srgbClr val="E6EDF3"/>
                </a:solidFill>
                <a:latin typeface="Segoe UI" pitchFamily="34" charset="0"/>
                <a:ea typeface="Segoe UI" pitchFamily="34" charset="-122"/>
                <a:cs typeface="Segoe UI" pitchFamily="34" charset="-120"/>
              </a:rPr>
              <a:t>So software used mainly by Dutch government is barely discussed, even when it matters most to a municipality.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3 · SOLUTION · K1 · AI TOOL</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Six steps from live post to dashboard, with the model at the core</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README.md (Solution, The model, Working prototype) · docs/workflow.md (example post) · scripts/cve_meter/sentiment.py</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05</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00200"/>
            <a:ext cx="1700784" cy="1417320"/>
          </a:xfrm>
          <a:prstGeom prst="roundRect">
            <a:avLst>
              <a:gd name="adj" fmla="val 5161"/>
            </a:avLst>
          </a:prstGeom>
          <a:solidFill>
            <a:srgbClr val="121922"/>
          </a:solidFill>
          <a:ln w="9525">
            <a:solidFill>
              <a:srgbClr val="2A3646"/>
            </a:solidFill>
            <a:prstDash val="solid"/>
          </a:ln>
        </p:spPr>
        <p:txBody>
          <a:bodyPr/>
          <a:lstStyle/>
          <a:p>
            <a:endParaRPr lang="en-US"/>
          </a:p>
        </p:txBody>
      </p:sp>
      <p:sp>
        <p:nvSpPr>
          <p:cNvPr id="7" name="Text 5"/>
          <p:cNvSpPr txBox="1"/>
          <p:nvPr/>
        </p:nvSpPr>
        <p:spPr>
          <a:xfrm>
            <a:off x="585216" y="1691640"/>
            <a:ext cx="1444752" cy="256032"/>
          </a:xfrm>
          <a:prstGeom prst="rect">
            <a:avLst/>
          </a:prstGeom>
          <a:noFill/>
          <a:ln/>
        </p:spPr>
        <p:txBody>
          <a:bodyPr wrap="square" lIns="0" tIns="0" rIns="0" bIns="0" rtlCol="0" anchor="t"/>
          <a:lstStyle/>
          <a:p>
            <a:pPr marL="0" indent="0">
              <a:buNone/>
            </a:pPr>
            <a:r>
              <a:rPr lang="en-US" sz="1150" b="1" dirty="0">
                <a:solidFill>
                  <a:srgbClr val="7AA2C8"/>
                </a:solidFill>
                <a:latin typeface="Consolas" pitchFamily="34" charset="0"/>
                <a:ea typeface="Consolas" pitchFamily="34" charset="-122"/>
                <a:cs typeface="Consolas" pitchFamily="34" charset="-120"/>
              </a:rPr>
              <a:t>1 STREAM</a:t>
            </a:r>
            <a:endParaRPr lang="en-US" sz="1150" dirty="0"/>
          </a:p>
        </p:txBody>
      </p:sp>
      <p:sp>
        <p:nvSpPr>
          <p:cNvPr id="8" name="Text 6"/>
          <p:cNvSpPr txBox="1"/>
          <p:nvPr/>
        </p:nvSpPr>
        <p:spPr>
          <a:xfrm>
            <a:off x="585216"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Mastodon: 4 hashtags, 2 servers, every 5 min · Bluesky Jetstream websocket</a:t>
            </a:r>
            <a:endParaRPr lang="en-US" sz="1100" dirty="0"/>
          </a:p>
        </p:txBody>
      </p:sp>
      <p:sp>
        <p:nvSpPr>
          <p:cNvPr id="9" name="Text 7"/>
          <p:cNvSpPr txBox="1"/>
          <p:nvPr/>
        </p:nvSpPr>
        <p:spPr>
          <a:xfrm>
            <a:off x="585216"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mastodon.py</a:t>
            </a:r>
            <a:endParaRPr lang="en-US" sz="950" dirty="0"/>
          </a:p>
          <a:p>
            <a:pPr marL="0" indent="0">
              <a:buNone/>
            </a:pPr>
            <a:r>
              <a:rPr lang="en-US" sz="950" dirty="0">
                <a:solidFill>
                  <a:srgbClr val="93A1B3"/>
                </a:solidFill>
                <a:latin typeface="Consolas" pitchFamily="34" charset="0"/>
                <a:ea typeface="Consolas" pitchFamily="34" charset="-122"/>
                <a:cs typeface="Consolas" pitchFamily="34" charset="-120"/>
              </a:rPr>
              <a:t>bluesky.py</a:t>
            </a:r>
            <a:endParaRPr lang="en-US" sz="950" dirty="0"/>
          </a:p>
        </p:txBody>
      </p:sp>
      <p:sp>
        <p:nvSpPr>
          <p:cNvPr id="10" name="Arrow"/>
          <p:cNvSpPr/>
          <p:nvPr/>
        </p:nvSpPr>
        <p:spPr>
          <a:xfrm rot="5400000">
            <a:off x="2176272" y="2244852"/>
            <a:ext cx="155448" cy="128016"/>
          </a:xfrm>
          <a:prstGeom prst="triangle">
            <a:avLst/>
          </a:prstGeom>
          <a:solidFill>
            <a:srgbClr val="93A1B3"/>
          </a:solidFill>
          <a:ln/>
        </p:spPr>
        <p:txBody>
          <a:bodyPr/>
          <a:lstStyle/>
          <a:p>
            <a:endParaRPr lang="en-US"/>
          </a:p>
        </p:txBody>
      </p:sp>
      <p:sp>
        <p:nvSpPr>
          <p:cNvPr id="11" name="Panel"/>
          <p:cNvSpPr/>
          <p:nvPr/>
        </p:nvSpPr>
        <p:spPr>
          <a:xfrm>
            <a:off x="2350008" y="1600200"/>
            <a:ext cx="1700784" cy="1417320"/>
          </a:xfrm>
          <a:prstGeom prst="roundRect">
            <a:avLst>
              <a:gd name="adj" fmla="val 5161"/>
            </a:avLst>
          </a:prstGeom>
          <a:solidFill>
            <a:srgbClr val="121922"/>
          </a:solidFill>
          <a:ln w="9525">
            <a:solidFill>
              <a:srgbClr val="2A3646"/>
            </a:solidFill>
            <a:prstDash val="solid"/>
          </a:ln>
        </p:spPr>
        <p:txBody>
          <a:bodyPr/>
          <a:lstStyle/>
          <a:p>
            <a:endParaRPr lang="en-US"/>
          </a:p>
        </p:txBody>
      </p:sp>
      <p:sp>
        <p:nvSpPr>
          <p:cNvPr id="12" name="Text 10"/>
          <p:cNvSpPr txBox="1"/>
          <p:nvPr/>
        </p:nvSpPr>
        <p:spPr>
          <a:xfrm>
            <a:off x="2478024" y="1691640"/>
            <a:ext cx="1444752" cy="256032"/>
          </a:xfrm>
          <a:prstGeom prst="rect">
            <a:avLst/>
          </a:prstGeom>
          <a:noFill/>
          <a:ln/>
        </p:spPr>
        <p:txBody>
          <a:bodyPr wrap="square" lIns="0" tIns="0" rIns="0" bIns="0" rtlCol="0" anchor="t"/>
          <a:lstStyle/>
          <a:p>
            <a:pPr marL="0" indent="0">
              <a:buNone/>
            </a:pPr>
            <a:r>
              <a:rPr lang="en-US" sz="1150" b="1" dirty="0">
                <a:solidFill>
                  <a:srgbClr val="7AA2C8"/>
                </a:solidFill>
                <a:latin typeface="Consolas" pitchFamily="34" charset="0"/>
                <a:ea typeface="Consolas" pitchFamily="34" charset="-122"/>
                <a:cs typeface="Consolas" pitchFamily="34" charset="-120"/>
              </a:rPr>
              <a:t>2 FILTER + HASH</a:t>
            </a:r>
            <a:endParaRPr lang="en-US" sz="1150" dirty="0"/>
          </a:p>
        </p:txBody>
      </p:sp>
      <p:sp>
        <p:nvSpPr>
          <p:cNvPr id="13" name="Text 11"/>
          <p:cNvSpPr txBox="1"/>
          <p:nvPr/>
        </p:nvSpPr>
        <p:spPr>
          <a:xfrm>
            <a:off x="2478024"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Keep posts with a CVE id · account → salted hash · @mentions → @user</a:t>
            </a:r>
            <a:endParaRPr lang="en-US" sz="1100" dirty="0"/>
          </a:p>
        </p:txBody>
      </p:sp>
      <p:sp>
        <p:nvSpPr>
          <p:cNvPr id="14" name="Text 12"/>
          <p:cNvSpPr txBox="1"/>
          <p:nvPr/>
        </p:nvSpPr>
        <p:spPr>
          <a:xfrm>
            <a:off x="2478024"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clean.py</a:t>
            </a:r>
            <a:endParaRPr lang="en-US" sz="950" dirty="0"/>
          </a:p>
        </p:txBody>
      </p:sp>
      <p:sp>
        <p:nvSpPr>
          <p:cNvPr id="15" name="Arrow"/>
          <p:cNvSpPr/>
          <p:nvPr/>
        </p:nvSpPr>
        <p:spPr>
          <a:xfrm rot="5400000">
            <a:off x="4069080" y="2244852"/>
            <a:ext cx="155448" cy="128016"/>
          </a:xfrm>
          <a:prstGeom prst="triangle">
            <a:avLst/>
          </a:prstGeom>
          <a:solidFill>
            <a:srgbClr val="93A1B3"/>
          </a:solidFill>
          <a:ln/>
        </p:spPr>
        <p:txBody>
          <a:bodyPr/>
          <a:lstStyle/>
          <a:p>
            <a:endParaRPr lang="en-US"/>
          </a:p>
        </p:txBody>
      </p:sp>
      <p:sp>
        <p:nvSpPr>
          <p:cNvPr id="16" name="Panel"/>
          <p:cNvSpPr/>
          <p:nvPr/>
        </p:nvSpPr>
        <p:spPr>
          <a:xfrm>
            <a:off x="4242816" y="1600200"/>
            <a:ext cx="1700784" cy="1417320"/>
          </a:xfrm>
          <a:prstGeom prst="roundRect">
            <a:avLst>
              <a:gd name="adj" fmla="val 5161"/>
            </a:avLst>
          </a:prstGeom>
          <a:solidFill>
            <a:srgbClr val="121922"/>
          </a:solidFill>
          <a:ln w="9525">
            <a:solidFill>
              <a:srgbClr val="2A3646"/>
            </a:solidFill>
            <a:prstDash val="solid"/>
          </a:ln>
        </p:spPr>
        <p:txBody>
          <a:bodyPr/>
          <a:lstStyle/>
          <a:p>
            <a:endParaRPr lang="en-US"/>
          </a:p>
        </p:txBody>
      </p:sp>
      <p:sp>
        <p:nvSpPr>
          <p:cNvPr id="17" name="Text 15"/>
          <p:cNvSpPr txBox="1"/>
          <p:nvPr/>
        </p:nvSpPr>
        <p:spPr>
          <a:xfrm>
            <a:off x="4370832" y="1691640"/>
            <a:ext cx="1444752" cy="256032"/>
          </a:xfrm>
          <a:prstGeom prst="rect">
            <a:avLst/>
          </a:prstGeom>
          <a:noFill/>
          <a:ln/>
        </p:spPr>
        <p:txBody>
          <a:bodyPr wrap="square" lIns="0" tIns="0" rIns="0" bIns="0" rtlCol="0" anchor="t"/>
          <a:lstStyle/>
          <a:p>
            <a:pPr marL="0" indent="0">
              <a:buNone/>
            </a:pPr>
            <a:r>
              <a:rPr lang="en-US" sz="1150" b="1" dirty="0">
                <a:solidFill>
                  <a:srgbClr val="7AA2C8"/>
                </a:solidFill>
                <a:latin typeface="Consolas" pitchFamily="34" charset="0"/>
                <a:ea typeface="Consolas" pitchFamily="34" charset="-122"/>
                <a:cs typeface="Consolas" pitchFamily="34" charset="-120"/>
              </a:rPr>
              <a:t>3 STORE</a:t>
            </a:r>
            <a:endParaRPr lang="en-US" sz="1150" dirty="0"/>
          </a:p>
        </p:txBody>
      </p:sp>
      <p:sp>
        <p:nvSpPr>
          <p:cNvPr id="18" name="Text 16"/>
          <p:cNvSpPr txBox="1"/>
          <p:nvPr/>
        </p:nvSpPr>
        <p:spPr>
          <a:xfrm>
            <a:off x="4370832"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SQLite, times in UTC: posts, post_cves, scores, cves</a:t>
            </a:r>
            <a:endParaRPr lang="en-US" sz="1100" dirty="0"/>
          </a:p>
        </p:txBody>
      </p:sp>
      <p:sp>
        <p:nvSpPr>
          <p:cNvPr id="19" name="Text 17"/>
          <p:cNvSpPr txBox="1"/>
          <p:nvPr/>
        </p:nvSpPr>
        <p:spPr>
          <a:xfrm>
            <a:off x="4370832"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db.py</a:t>
            </a:r>
            <a:endParaRPr lang="en-US" sz="950" dirty="0"/>
          </a:p>
        </p:txBody>
      </p:sp>
      <p:sp>
        <p:nvSpPr>
          <p:cNvPr id="20" name="Arrow"/>
          <p:cNvSpPr/>
          <p:nvPr/>
        </p:nvSpPr>
        <p:spPr>
          <a:xfrm rot="5400000">
            <a:off x="5961888" y="2244852"/>
            <a:ext cx="155448" cy="128016"/>
          </a:xfrm>
          <a:prstGeom prst="triangle">
            <a:avLst/>
          </a:prstGeom>
          <a:solidFill>
            <a:srgbClr val="93A1B3"/>
          </a:solidFill>
          <a:ln/>
        </p:spPr>
        <p:txBody>
          <a:bodyPr/>
          <a:lstStyle/>
          <a:p>
            <a:endParaRPr lang="en-US"/>
          </a:p>
        </p:txBody>
      </p:sp>
      <p:sp>
        <p:nvSpPr>
          <p:cNvPr id="21" name="Panel"/>
          <p:cNvSpPr/>
          <p:nvPr/>
        </p:nvSpPr>
        <p:spPr>
          <a:xfrm>
            <a:off x="6135624" y="1600200"/>
            <a:ext cx="1700784" cy="1417320"/>
          </a:xfrm>
          <a:prstGeom prst="roundRect">
            <a:avLst>
              <a:gd name="adj" fmla="val 5161"/>
            </a:avLst>
          </a:prstGeom>
          <a:solidFill>
            <a:srgbClr val="2A1F05"/>
          </a:solidFill>
          <a:ln w="22225">
            <a:solidFill>
              <a:srgbClr val="FFB000"/>
            </a:solidFill>
            <a:prstDash val="solid"/>
          </a:ln>
        </p:spPr>
        <p:txBody>
          <a:bodyPr/>
          <a:lstStyle/>
          <a:p>
            <a:endParaRPr lang="en-US"/>
          </a:p>
        </p:txBody>
      </p:sp>
      <p:sp>
        <p:nvSpPr>
          <p:cNvPr id="22" name="Text 20"/>
          <p:cNvSpPr txBox="1"/>
          <p:nvPr/>
        </p:nvSpPr>
        <p:spPr>
          <a:xfrm>
            <a:off x="6263640" y="1691640"/>
            <a:ext cx="1444752" cy="256032"/>
          </a:xfrm>
          <a:prstGeom prst="rect">
            <a:avLst/>
          </a:prstGeom>
          <a:noFill/>
          <a:ln/>
        </p:spPr>
        <p:txBody>
          <a:bodyPr wrap="square" lIns="0" tIns="0" rIns="0" bIns="0" rtlCol="0" anchor="t"/>
          <a:lstStyle/>
          <a:p>
            <a:pPr marL="0" indent="0">
              <a:buNone/>
            </a:pPr>
            <a:r>
              <a:rPr lang="en-US" sz="1150" b="1" dirty="0">
                <a:solidFill>
                  <a:srgbClr val="FFB000"/>
                </a:solidFill>
                <a:latin typeface="Consolas" pitchFamily="34" charset="0"/>
                <a:ea typeface="Consolas" pitchFamily="34" charset="-122"/>
                <a:cs typeface="Consolas" pitchFamily="34" charset="-120"/>
              </a:rPr>
              <a:t>4 MODEL</a:t>
            </a:r>
            <a:endParaRPr lang="en-US" sz="1150" dirty="0"/>
          </a:p>
        </p:txBody>
      </p:sp>
      <p:sp>
        <p:nvSpPr>
          <p:cNvPr id="23" name="Text 21"/>
          <p:cNvSpPr txBox="1"/>
          <p:nvPr/>
        </p:nvSpPr>
        <p:spPr>
          <a:xfrm>
            <a:off x="6263640"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Every minute: unscored posts, 16 at a time → negative, neutral, positive</a:t>
            </a:r>
            <a:endParaRPr lang="en-US" sz="1100" dirty="0"/>
          </a:p>
        </p:txBody>
      </p:sp>
      <p:sp>
        <p:nvSpPr>
          <p:cNvPr id="24" name="Text 22"/>
          <p:cNvSpPr txBox="1"/>
          <p:nvPr/>
        </p:nvSpPr>
        <p:spPr>
          <a:xfrm>
            <a:off x="6263640"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sentiment.py</a:t>
            </a:r>
            <a:endParaRPr lang="en-US" sz="950" dirty="0"/>
          </a:p>
          <a:p>
            <a:pPr marL="0" indent="0">
              <a:buNone/>
            </a:pPr>
            <a:r>
              <a:rPr lang="en-US" sz="950" dirty="0">
                <a:solidFill>
                  <a:srgbClr val="93A1B3"/>
                </a:solidFill>
                <a:latin typeface="Consolas" pitchFamily="34" charset="0"/>
                <a:ea typeface="Consolas" pitchFamily="34" charset="-122"/>
                <a:cs typeface="Consolas" pitchFamily="34" charset="-120"/>
              </a:rPr>
              <a:t>scorer.py</a:t>
            </a:r>
            <a:endParaRPr lang="en-US" sz="950" dirty="0"/>
          </a:p>
        </p:txBody>
      </p:sp>
      <p:sp>
        <p:nvSpPr>
          <p:cNvPr id="25" name="Arrow"/>
          <p:cNvSpPr/>
          <p:nvPr/>
        </p:nvSpPr>
        <p:spPr>
          <a:xfrm rot="5400000">
            <a:off x="7854696" y="2244852"/>
            <a:ext cx="155448" cy="128016"/>
          </a:xfrm>
          <a:prstGeom prst="triangle">
            <a:avLst/>
          </a:prstGeom>
          <a:solidFill>
            <a:srgbClr val="93A1B3"/>
          </a:solidFill>
          <a:ln/>
        </p:spPr>
        <p:txBody>
          <a:bodyPr/>
          <a:lstStyle/>
          <a:p>
            <a:endParaRPr lang="en-US"/>
          </a:p>
        </p:txBody>
      </p:sp>
      <p:sp>
        <p:nvSpPr>
          <p:cNvPr id="26" name="Panel"/>
          <p:cNvSpPr/>
          <p:nvPr/>
        </p:nvSpPr>
        <p:spPr>
          <a:xfrm>
            <a:off x="8028432" y="1600200"/>
            <a:ext cx="1700784" cy="1417320"/>
          </a:xfrm>
          <a:prstGeom prst="roundRect">
            <a:avLst>
              <a:gd name="adj" fmla="val 5161"/>
            </a:avLst>
          </a:prstGeom>
          <a:solidFill>
            <a:srgbClr val="121922"/>
          </a:solidFill>
          <a:ln w="9525">
            <a:solidFill>
              <a:srgbClr val="2A3646"/>
            </a:solidFill>
            <a:prstDash val="solid"/>
          </a:ln>
        </p:spPr>
        <p:txBody>
          <a:bodyPr/>
          <a:lstStyle/>
          <a:p>
            <a:endParaRPr lang="en-US"/>
          </a:p>
        </p:txBody>
      </p:sp>
      <p:sp>
        <p:nvSpPr>
          <p:cNvPr id="27" name="Text 25"/>
          <p:cNvSpPr txBox="1"/>
          <p:nvPr/>
        </p:nvSpPr>
        <p:spPr>
          <a:xfrm>
            <a:off x="8156448" y="1691640"/>
            <a:ext cx="1444752" cy="256032"/>
          </a:xfrm>
          <a:prstGeom prst="rect">
            <a:avLst/>
          </a:prstGeom>
          <a:noFill/>
          <a:ln/>
        </p:spPr>
        <p:txBody>
          <a:bodyPr wrap="square" lIns="0" tIns="0" rIns="0" bIns="0" rtlCol="0" anchor="t"/>
          <a:lstStyle/>
          <a:p>
            <a:pPr marL="0" indent="0">
              <a:buNone/>
            </a:pPr>
            <a:r>
              <a:rPr lang="en-US" sz="1150" b="1" dirty="0">
                <a:solidFill>
                  <a:srgbClr val="7AA2C8"/>
                </a:solidFill>
                <a:latin typeface="Consolas" pitchFamily="34" charset="0"/>
                <a:ea typeface="Consolas" pitchFamily="34" charset="-122"/>
                <a:cs typeface="Consolas" pitchFamily="34" charset="-120"/>
              </a:rPr>
              <a:t>5 LOOK UP</a:t>
            </a:r>
            <a:endParaRPr lang="en-US" sz="1150" dirty="0"/>
          </a:p>
        </p:txBody>
      </p:sp>
      <p:sp>
        <p:nvSpPr>
          <p:cNvPr id="28" name="Text 26"/>
          <p:cNvSpPr txBox="1"/>
          <p:nvPr/>
        </p:nvSpPr>
        <p:spPr>
          <a:xfrm>
            <a:off x="8156448"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Per CVE: NVD score, CISA known-exploited list, watchlist</a:t>
            </a:r>
            <a:endParaRPr lang="en-US" sz="1100" dirty="0"/>
          </a:p>
        </p:txBody>
      </p:sp>
      <p:sp>
        <p:nvSpPr>
          <p:cNvPr id="29" name="Text 27"/>
          <p:cNvSpPr txBox="1"/>
          <p:nvPr/>
        </p:nvSpPr>
        <p:spPr>
          <a:xfrm>
            <a:off x="8156448"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enricher.py</a:t>
            </a:r>
            <a:endParaRPr lang="en-US" sz="950" dirty="0"/>
          </a:p>
          <a:p>
            <a:pPr marL="0" indent="0">
              <a:buNone/>
            </a:pPr>
            <a:r>
              <a:rPr lang="en-US" sz="950" dirty="0">
                <a:solidFill>
                  <a:srgbClr val="93A1B3"/>
                </a:solidFill>
                <a:latin typeface="Consolas" pitchFamily="34" charset="0"/>
                <a:ea typeface="Consolas" pitchFamily="34" charset="-122"/>
                <a:cs typeface="Consolas" pitchFamily="34" charset="-120"/>
              </a:rPr>
              <a:t>nvd.py · kev.py</a:t>
            </a:r>
            <a:endParaRPr lang="en-US" sz="950" dirty="0"/>
          </a:p>
        </p:txBody>
      </p:sp>
      <p:sp>
        <p:nvSpPr>
          <p:cNvPr id="30" name="Arrow"/>
          <p:cNvSpPr/>
          <p:nvPr/>
        </p:nvSpPr>
        <p:spPr>
          <a:xfrm rot="5400000">
            <a:off x="9747504" y="2244852"/>
            <a:ext cx="155448" cy="128016"/>
          </a:xfrm>
          <a:prstGeom prst="triangle">
            <a:avLst/>
          </a:prstGeom>
          <a:solidFill>
            <a:srgbClr val="93A1B3"/>
          </a:solidFill>
          <a:ln/>
        </p:spPr>
        <p:txBody>
          <a:bodyPr/>
          <a:lstStyle/>
          <a:p>
            <a:endParaRPr lang="en-US"/>
          </a:p>
        </p:txBody>
      </p:sp>
      <p:sp>
        <p:nvSpPr>
          <p:cNvPr id="31" name="Panel"/>
          <p:cNvSpPr/>
          <p:nvPr/>
        </p:nvSpPr>
        <p:spPr>
          <a:xfrm>
            <a:off x="9921240" y="1600200"/>
            <a:ext cx="1700784" cy="1417320"/>
          </a:xfrm>
          <a:prstGeom prst="roundRect">
            <a:avLst>
              <a:gd name="adj" fmla="val 5161"/>
            </a:avLst>
          </a:prstGeom>
          <a:solidFill>
            <a:srgbClr val="121922"/>
          </a:solidFill>
          <a:ln w="9525">
            <a:solidFill>
              <a:srgbClr val="2A3646"/>
            </a:solidFill>
            <a:prstDash val="solid"/>
          </a:ln>
        </p:spPr>
        <p:txBody>
          <a:bodyPr/>
          <a:lstStyle/>
          <a:p>
            <a:endParaRPr lang="en-US"/>
          </a:p>
        </p:txBody>
      </p:sp>
      <p:sp>
        <p:nvSpPr>
          <p:cNvPr id="32" name="Text 30"/>
          <p:cNvSpPr txBox="1"/>
          <p:nvPr/>
        </p:nvSpPr>
        <p:spPr>
          <a:xfrm>
            <a:off x="10049256" y="1691640"/>
            <a:ext cx="1444752" cy="256032"/>
          </a:xfrm>
          <a:prstGeom prst="rect">
            <a:avLst/>
          </a:prstGeom>
          <a:noFill/>
          <a:ln/>
        </p:spPr>
        <p:txBody>
          <a:bodyPr wrap="square" lIns="0" tIns="0" rIns="0" bIns="0" rtlCol="0" anchor="t"/>
          <a:lstStyle/>
          <a:p>
            <a:pPr marL="0" indent="0">
              <a:buNone/>
            </a:pPr>
            <a:r>
              <a:rPr lang="en-US" sz="1150" b="1" dirty="0">
                <a:solidFill>
                  <a:srgbClr val="7AA2C8"/>
                </a:solidFill>
                <a:latin typeface="Consolas" pitchFamily="34" charset="0"/>
                <a:ea typeface="Consolas" pitchFamily="34" charset="-122"/>
                <a:cs typeface="Consolas" pitchFamily="34" charset="-120"/>
              </a:rPr>
              <a:t>6 DASHBOARD</a:t>
            </a:r>
            <a:endParaRPr lang="en-US" sz="1150" dirty="0"/>
          </a:p>
        </p:txBody>
      </p:sp>
      <p:sp>
        <p:nvSpPr>
          <p:cNvPr id="33" name="Text 31"/>
          <p:cNvSpPr txBox="1"/>
          <p:nvPr/>
        </p:nvSpPr>
        <p:spPr>
          <a:xfrm>
            <a:off x="10049256" y="1947672"/>
            <a:ext cx="1444752" cy="713232"/>
          </a:xfrm>
          <a:prstGeom prst="rect">
            <a:avLst/>
          </a:prstGeom>
          <a:noFill/>
          <a:ln/>
        </p:spPr>
        <p:txBody>
          <a:bodyPr wrap="square" lIns="0" tIns="0" rIns="0" bIns="0" rtlCol="0" anchor="t"/>
          <a:lstStyle/>
          <a:p>
            <a:pPr marL="0" indent="0">
              <a:buNone/>
            </a:pPr>
            <a:r>
              <a:rPr lang="en-US" sz="1100" dirty="0">
                <a:solidFill>
                  <a:srgbClr val="E6EDF3"/>
                </a:solidFill>
                <a:latin typeface="Segoe UI" pitchFamily="34" charset="0"/>
                <a:ea typeface="Segoe UI" pitchFamily="34" charset="-122"/>
                <a:cs typeface="Segoe UI" pitchFamily="34" charset="-120"/>
              </a:rPr>
              <a:t>Streamlit, read-only, reloads every minute</a:t>
            </a:r>
            <a:endParaRPr lang="en-US" sz="1100" dirty="0"/>
          </a:p>
        </p:txBody>
      </p:sp>
      <p:sp>
        <p:nvSpPr>
          <p:cNvPr id="34" name="Text 32"/>
          <p:cNvSpPr txBox="1"/>
          <p:nvPr/>
        </p:nvSpPr>
        <p:spPr>
          <a:xfrm>
            <a:off x="10049256" y="2587752"/>
            <a:ext cx="1444752" cy="365760"/>
          </a:xfrm>
          <a:prstGeom prst="rect">
            <a:avLst/>
          </a:prstGeom>
          <a:noFill/>
          <a:ln/>
        </p:spPr>
        <p:txBody>
          <a:bodyPr wrap="square" lIns="0" tIns="0" rIns="0" bIns="0" rtlCol="0" anchor="b"/>
          <a:lstStyle/>
          <a:p>
            <a:pPr marL="0" indent="0">
              <a:buNone/>
            </a:pPr>
            <a:r>
              <a:rPr lang="en-US" sz="950" dirty="0">
                <a:solidFill>
                  <a:srgbClr val="93A1B3"/>
                </a:solidFill>
                <a:latin typeface="Consolas" pitchFamily="34" charset="0"/>
                <a:ea typeface="Consolas" pitchFamily="34" charset="-122"/>
                <a:cs typeface="Consolas" pitchFamily="34" charset="-120"/>
              </a:rPr>
              <a:t>dashboard.py</a:t>
            </a:r>
            <a:endParaRPr lang="en-US" sz="950" dirty="0"/>
          </a:p>
        </p:txBody>
      </p:sp>
      <p:sp>
        <p:nvSpPr>
          <p:cNvPr id="35" name="Panel"/>
          <p:cNvSpPr/>
          <p:nvPr/>
        </p:nvSpPr>
        <p:spPr>
          <a:xfrm>
            <a:off x="457200" y="3200400"/>
            <a:ext cx="5989320" cy="2606040"/>
          </a:xfrm>
          <a:prstGeom prst="roundRect">
            <a:avLst>
              <a:gd name="adj" fmla="val 2807"/>
            </a:avLst>
          </a:prstGeom>
          <a:solidFill>
            <a:srgbClr val="0E141B"/>
          </a:solidFill>
          <a:ln w="9525">
            <a:solidFill>
              <a:srgbClr val="2A3646"/>
            </a:solidFill>
            <a:prstDash val="solid"/>
          </a:ln>
        </p:spPr>
        <p:txBody>
          <a:bodyPr/>
          <a:lstStyle/>
          <a:p>
            <a:endParaRPr lang="en-US"/>
          </a:p>
        </p:txBody>
      </p:sp>
      <p:sp>
        <p:nvSpPr>
          <p:cNvPr id="36" name="Text 34"/>
          <p:cNvSpPr txBox="1"/>
          <p:nvPr/>
        </p:nvSpPr>
        <p:spPr>
          <a:xfrm>
            <a:off x="658368" y="3310128"/>
            <a:ext cx="5623560"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THE MODEL · cardiffnlp/twitter-roberta-base-sentiment-latest</a:t>
            </a:r>
            <a:endParaRPr lang="en-US" sz="1100" dirty="0"/>
          </a:p>
        </p:txBody>
      </p:sp>
      <p:sp>
        <p:nvSpPr>
          <p:cNvPr id="38" name="Text 36"/>
          <p:cNvSpPr txBox="1"/>
          <p:nvPr/>
        </p:nvSpPr>
        <p:spPr>
          <a:xfrm>
            <a:off x="658368" y="3657600"/>
            <a:ext cx="5623560" cy="822960"/>
          </a:xfrm>
          <a:prstGeom prst="rect">
            <a:avLst/>
          </a:prstGeom>
          <a:noFill/>
          <a:ln/>
        </p:spPr>
        <p:txBody>
          <a:bodyPr wrap="square" lIns="0" tIns="0" rIns="0" bIns="0" rtlCol="0" anchor="t"/>
          <a:lstStyle/>
          <a:p>
            <a:pPr marL="0" indent="0">
              <a:buNone/>
            </a:pPr>
            <a:r>
              <a:rPr lang="en-US" sz="1400" b="1" dirty="0">
                <a:solidFill>
                  <a:srgbClr val="FFB000"/>
                </a:solidFill>
                <a:latin typeface="Segoe UI" pitchFamily="34" charset="0"/>
                <a:ea typeface="Segoe UI" pitchFamily="34" charset="-122"/>
                <a:cs typeface="Segoe UI" pitchFamily="34" charset="-120"/>
              </a:rPr>
              <a:t>Alarm score of a post = P(negative). </a:t>
            </a:r>
            <a:r>
              <a:rPr lang="en-US" sz="1400" dirty="0">
                <a:solidFill>
                  <a:srgbClr val="E6EDF3"/>
                </a:solidFill>
                <a:latin typeface="Segoe UI" pitchFamily="34" charset="0"/>
                <a:ea typeface="Segoe UI" pitchFamily="34" charset="-122"/>
                <a:cs typeface="Segoe UI" pitchFamily="34" charset="-120"/>
              </a:rPr>
              <a:t>A transformers pipeline in sentiment.py, on our own processor; weights downloaded once (revision 3216a57). No hosted API, no chat model.</a:t>
            </a:r>
            <a:endParaRPr lang="en-US" sz="1400" dirty="0"/>
          </a:p>
        </p:txBody>
      </p:sp>
      <p:sp>
        <p:nvSpPr>
          <p:cNvPr id="39" name="Text 37"/>
          <p:cNvSpPr txBox="1"/>
          <p:nvPr/>
        </p:nvSpPr>
        <p:spPr>
          <a:xfrm>
            <a:off x="658368" y="4663440"/>
            <a:ext cx="5623560" cy="1005840"/>
          </a:xfrm>
          <a:prstGeom prst="rect">
            <a:avLst/>
          </a:prstGeom>
          <a:noFill/>
          <a:ln/>
        </p:spPr>
        <p:txBody>
          <a:bodyPr wrap="square" lIns="0" tIns="0" rIns="0" bIns="0" rtlCol="0" anchor="t"/>
          <a:lstStyle/>
          <a:p>
            <a:pPr marL="0" indent="0">
              <a:buNone/>
            </a:pPr>
            <a:r>
              <a:rPr lang="en-US" sz="1400" b="1" dirty="0">
                <a:solidFill>
                  <a:srgbClr val="E6EDF3"/>
                </a:solidFill>
                <a:latin typeface="Segoe UI" pitchFamily="34" charset="0"/>
                <a:ea typeface="Segoe UI" pitchFamily="34" charset="-122"/>
                <a:cs typeface="Segoe UI" pitchFamily="34" charset="-120"/>
              </a:rPr>
              <a:t>Why this one: </a:t>
            </a:r>
            <a:r>
              <a:rPr lang="en-US" sz="1400" dirty="0">
                <a:solidFill>
                  <a:srgbClr val="E6EDF3"/>
                </a:solidFill>
                <a:latin typeface="Segoe UI" pitchFamily="34" charset="0"/>
                <a:ea typeface="Segoe UI" pitchFamily="34" charset="-122"/>
                <a:cs typeface="Segoe UI" pitchFamily="34" charset="-120"/>
              </a:rPr>
              <a:t>trained on about 124 million tweets (short posts like ours), has a neutral label for the many plain announcements, and runs on a laptop or Raspberry Pi without a graphics card.</a:t>
            </a:r>
            <a:endParaRPr lang="en-US" sz="1400" dirty="0"/>
          </a:p>
        </p:txBody>
      </p:sp>
      <p:sp>
        <p:nvSpPr>
          <p:cNvPr id="40" name="Panel"/>
          <p:cNvSpPr/>
          <p:nvPr/>
        </p:nvSpPr>
        <p:spPr>
          <a:xfrm>
            <a:off x="6675120" y="3200400"/>
            <a:ext cx="5059375" cy="2606040"/>
          </a:xfrm>
          <a:prstGeom prst="roundRect">
            <a:avLst>
              <a:gd name="adj" fmla="val 2807"/>
            </a:avLst>
          </a:prstGeom>
          <a:solidFill>
            <a:srgbClr val="121922"/>
          </a:solidFill>
          <a:ln w="9525">
            <a:solidFill>
              <a:srgbClr val="2A3646"/>
            </a:solidFill>
            <a:prstDash val="solid"/>
          </a:ln>
        </p:spPr>
        <p:txBody>
          <a:bodyPr/>
          <a:lstStyle/>
          <a:p>
            <a:endParaRPr lang="en-US"/>
          </a:p>
        </p:txBody>
      </p:sp>
      <p:sp>
        <p:nvSpPr>
          <p:cNvPr id="41" name="Text 39"/>
          <p:cNvSpPr txBox="1"/>
          <p:nvPr/>
        </p:nvSpPr>
        <p:spPr>
          <a:xfrm>
            <a:off x="6876288" y="3310128"/>
            <a:ext cx="4693615"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WHAT IT ADDS THAT A COUNT OF POSTS CANNOT</a:t>
            </a:r>
            <a:endParaRPr lang="en-US" sz="1100" dirty="0"/>
          </a:p>
        </p:txBody>
      </p:sp>
      <p:sp>
        <p:nvSpPr>
          <p:cNvPr id="42" name="Text 40"/>
          <p:cNvSpPr txBox="1"/>
          <p:nvPr/>
        </p:nvSpPr>
        <p:spPr>
          <a:xfrm>
            <a:off x="6876288" y="3602736"/>
            <a:ext cx="4657039" cy="457200"/>
          </a:xfrm>
          <a:prstGeom prst="rect">
            <a:avLst/>
          </a:prstGeom>
          <a:noFill/>
          <a:ln/>
        </p:spPr>
        <p:txBody>
          <a:bodyPr wrap="square" lIns="0" tIns="0" rIns="0" bIns="0" rtlCol="0" anchor="t"/>
          <a:lstStyle/>
          <a:p>
            <a:pPr marL="0" indent="0">
              <a:buNone/>
            </a:pPr>
            <a:r>
              <a:rPr lang="en-US" sz="1200" i="1" dirty="0">
                <a:solidFill>
                  <a:srgbClr val="E6EDF3"/>
                </a:solidFill>
                <a:latin typeface="Segoe UI" pitchFamily="34" charset="0"/>
                <a:ea typeface="Segoe UI" pitchFamily="34" charset="-122"/>
                <a:cs typeface="Segoe UI" pitchFamily="34" charset="-120"/>
              </a:rPr>
              <a:t>“…CVE-2026-12345 in Citrix NetScaler is being exploited in the wild. Patch now!”</a:t>
            </a:r>
            <a:endParaRPr lang="en-US" sz="1200" dirty="0"/>
          </a:p>
        </p:txBody>
      </p:sp>
      <p:sp>
        <p:nvSpPr>
          <p:cNvPr id="43" name="Gauge segment"/>
          <p:cNvSpPr/>
          <p:nvPr/>
        </p:nvSpPr>
        <p:spPr>
          <a:xfrm>
            <a:off x="7068312" y="4187952"/>
            <a:ext cx="1133856" cy="1133856"/>
          </a:xfrm>
          <a:prstGeom prst="blockArc">
            <a:avLst>
              <a:gd name="adj1" fmla="val 10836000"/>
              <a:gd name="adj2" fmla="val 11364000"/>
              <a:gd name="adj3" fmla="val 13000"/>
            </a:avLst>
          </a:prstGeom>
          <a:solidFill>
            <a:srgbClr val="4E6A88"/>
          </a:solidFill>
          <a:ln/>
        </p:spPr>
        <p:txBody>
          <a:bodyPr/>
          <a:lstStyle/>
          <a:p>
            <a:endParaRPr lang="en-US"/>
          </a:p>
        </p:txBody>
      </p:sp>
      <p:sp>
        <p:nvSpPr>
          <p:cNvPr id="44" name="Gauge segment"/>
          <p:cNvSpPr/>
          <p:nvPr/>
        </p:nvSpPr>
        <p:spPr>
          <a:xfrm>
            <a:off x="7068312" y="4187952"/>
            <a:ext cx="1133856" cy="1133856"/>
          </a:xfrm>
          <a:prstGeom prst="blockArc">
            <a:avLst>
              <a:gd name="adj1" fmla="val 11436000"/>
              <a:gd name="adj2" fmla="val 11964000"/>
              <a:gd name="adj3" fmla="val 13000"/>
            </a:avLst>
          </a:prstGeom>
          <a:solidFill>
            <a:srgbClr val="637278"/>
          </a:solidFill>
          <a:ln/>
        </p:spPr>
        <p:txBody>
          <a:bodyPr/>
          <a:lstStyle/>
          <a:p>
            <a:endParaRPr lang="en-US"/>
          </a:p>
        </p:txBody>
      </p:sp>
      <p:sp>
        <p:nvSpPr>
          <p:cNvPr id="45" name="Gauge segment"/>
          <p:cNvSpPr/>
          <p:nvPr/>
        </p:nvSpPr>
        <p:spPr>
          <a:xfrm>
            <a:off x="7068312" y="4187952"/>
            <a:ext cx="1133856" cy="1133856"/>
          </a:xfrm>
          <a:prstGeom prst="blockArc">
            <a:avLst>
              <a:gd name="adj1" fmla="val 12036000"/>
              <a:gd name="adj2" fmla="val 12564000"/>
              <a:gd name="adj3" fmla="val 13000"/>
            </a:avLst>
          </a:prstGeom>
          <a:solidFill>
            <a:srgbClr val="787A68"/>
          </a:solidFill>
          <a:ln/>
        </p:spPr>
        <p:txBody>
          <a:bodyPr/>
          <a:lstStyle/>
          <a:p>
            <a:endParaRPr lang="en-US"/>
          </a:p>
        </p:txBody>
      </p:sp>
      <p:sp>
        <p:nvSpPr>
          <p:cNvPr id="46" name="Gauge segment"/>
          <p:cNvSpPr/>
          <p:nvPr/>
        </p:nvSpPr>
        <p:spPr>
          <a:xfrm>
            <a:off x="7068312" y="4187952"/>
            <a:ext cx="1133856" cy="1133856"/>
          </a:xfrm>
          <a:prstGeom prst="blockArc">
            <a:avLst>
              <a:gd name="adj1" fmla="val 12636000"/>
              <a:gd name="adj2" fmla="val 13164000"/>
              <a:gd name="adj3" fmla="val 13000"/>
            </a:avLst>
          </a:prstGeom>
          <a:solidFill>
            <a:srgbClr val="8C8358"/>
          </a:solidFill>
          <a:ln/>
        </p:spPr>
        <p:txBody>
          <a:bodyPr/>
          <a:lstStyle/>
          <a:p>
            <a:endParaRPr lang="en-US"/>
          </a:p>
        </p:txBody>
      </p:sp>
      <p:sp>
        <p:nvSpPr>
          <p:cNvPr id="47" name="Gauge segment"/>
          <p:cNvSpPr/>
          <p:nvPr/>
        </p:nvSpPr>
        <p:spPr>
          <a:xfrm>
            <a:off x="7068312" y="4187952"/>
            <a:ext cx="1133856" cy="1133856"/>
          </a:xfrm>
          <a:prstGeom prst="blockArc">
            <a:avLst>
              <a:gd name="adj1" fmla="val 13236000"/>
              <a:gd name="adj2" fmla="val 13764000"/>
              <a:gd name="adj3" fmla="val 13000"/>
            </a:avLst>
          </a:prstGeom>
          <a:solidFill>
            <a:srgbClr val="A18B48"/>
          </a:solidFill>
          <a:ln/>
        </p:spPr>
        <p:txBody>
          <a:bodyPr/>
          <a:lstStyle/>
          <a:p>
            <a:endParaRPr lang="en-US"/>
          </a:p>
        </p:txBody>
      </p:sp>
      <p:sp>
        <p:nvSpPr>
          <p:cNvPr id="48" name="Gauge segment"/>
          <p:cNvSpPr/>
          <p:nvPr/>
        </p:nvSpPr>
        <p:spPr>
          <a:xfrm>
            <a:off x="7068312" y="4187952"/>
            <a:ext cx="1133856" cy="1133856"/>
          </a:xfrm>
          <a:prstGeom prst="blockArc">
            <a:avLst>
              <a:gd name="adj1" fmla="val 13836000"/>
              <a:gd name="adj2" fmla="val 14364000"/>
              <a:gd name="adj3" fmla="val 13000"/>
            </a:avLst>
          </a:prstGeom>
          <a:solidFill>
            <a:srgbClr val="B69338"/>
          </a:solidFill>
          <a:ln/>
        </p:spPr>
        <p:txBody>
          <a:bodyPr/>
          <a:lstStyle/>
          <a:p>
            <a:endParaRPr lang="en-US"/>
          </a:p>
        </p:txBody>
      </p:sp>
      <p:sp>
        <p:nvSpPr>
          <p:cNvPr id="49" name="Gauge segment"/>
          <p:cNvSpPr/>
          <p:nvPr/>
        </p:nvSpPr>
        <p:spPr>
          <a:xfrm>
            <a:off x="7068312" y="4187952"/>
            <a:ext cx="1133856" cy="1133856"/>
          </a:xfrm>
          <a:prstGeom prst="blockArc">
            <a:avLst>
              <a:gd name="adj1" fmla="val 14436000"/>
              <a:gd name="adj2" fmla="val 14964000"/>
              <a:gd name="adj3" fmla="val 13000"/>
            </a:avLst>
          </a:prstGeom>
          <a:solidFill>
            <a:srgbClr val="CB9B28"/>
          </a:solidFill>
          <a:ln/>
        </p:spPr>
        <p:txBody>
          <a:bodyPr/>
          <a:lstStyle/>
          <a:p>
            <a:endParaRPr lang="en-US"/>
          </a:p>
        </p:txBody>
      </p:sp>
      <p:sp>
        <p:nvSpPr>
          <p:cNvPr id="50" name="Gauge segment"/>
          <p:cNvSpPr/>
          <p:nvPr/>
        </p:nvSpPr>
        <p:spPr>
          <a:xfrm>
            <a:off x="7068312" y="4187952"/>
            <a:ext cx="1133856" cy="1133856"/>
          </a:xfrm>
          <a:prstGeom prst="blockArc">
            <a:avLst>
              <a:gd name="adj1" fmla="val 15036000"/>
              <a:gd name="adj2" fmla="val 15564000"/>
              <a:gd name="adj3" fmla="val 13000"/>
            </a:avLst>
          </a:prstGeom>
          <a:solidFill>
            <a:srgbClr val="E0A418"/>
          </a:solidFill>
          <a:ln/>
        </p:spPr>
        <p:txBody>
          <a:bodyPr/>
          <a:lstStyle/>
          <a:p>
            <a:endParaRPr lang="en-US"/>
          </a:p>
        </p:txBody>
      </p:sp>
      <p:sp>
        <p:nvSpPr>
          <p:cNvPr id="51" name="Gauge segment"/>
          <p:cNvSpPr/>
          <p:nvPr/>
        </p:nvSpPr>
        <p:spPr>
          <a:xfrm>
            <a:off x="7068312" y="4187952"/>
            <a:ext cx="1133856" cy="1133856"/>
          </a:xfrm>
          <a:prstGeom prst="blockArc">
            <a:avLst>
              <a:gd name="adj1" fmla="val 15636000"/>
              <a:gd name="adj2" fmla="val 16164000"/>
              <a:gd name="adj3" fmla="val 13000"/>
            </a:avLst>
          </a:prstGeom>
          <a:solidFill>
            <a:srgbClr val="F5AC08"/>
          </a:solidFill>
          <a:ln/>
        </p:spPr>
        <p:txBody>
          <a:bodyPr/>
          <a:lstStyle/>
          <a:p>
            <a:endParaRPr lang="en-US"/>
          </a:p>
        </p:txBody>
      </p:sp>
      <p:sp>
        <p:nvSpPr>
          <p:cNvPr id="52" name="Gauge segment"/>
          <p:cNvSpPr/>
          <p:nvPr/>
        </p:nvSpPr>
        <p:spPr>
          <a:xfrm>
            <a:off x="7068312" y="4187952"/>
            <a:ext cx="1133856" cy="1133856"/>
          </a:xfrm>
          <a:prstGeom prst="blockArc">
            <a:avLst>
              <a:gd name="adj1" fmla="val 16236000"/>
              <a:gd name="adj2" fmla="val 16764000"/>
              <a:gd name="adj3" fmla="val 13000"/>
            </a:avLst>
          </a:prstGeom>
          <a:solidFill>
            <a:srgbClr val="FFAA03"/>
          </a:solidFill>
          <a:ln/>
        </p:spPr>
        <p:txBody>
          <a:bodyPr/>
          <a:lstStyle/>
          <a:p>
            <a:endParaRPr lang="en-US"/>
          </a:p>
        </p:txBody>
      </p:sp>
      <p:sp>
        <p:nvSpPr>
          <p:cNvPr id="53" name="Gauge segment"/>
          <p:cNvSpPr/>
          <p:nvPr/>
        </p:nvSpPr>
        <p:spPr>
          <a:xfrm>
            <a:off x="7068312" y="4187952"/>
            <a:ext cx="1133856" cy="1133856"/>
          </a:xfrm>
          <a:prstGeom prst="blockArc">
            <a:avLst>
              <a:gd name="adj1" fmla="val 16836000"/>
              <a:gd name="adj2" fmla="val 17364000"/>
              <a:gd name="adj3" fmla="val 13000"/>
            </a:avLst>
          </a:prstGeom>
          <a:solidFill>
            <a:srgbClr val="FF9D0A"/>
          </a:solidFill>
          <a:ln/>
        </p:spPr>
        <p:txBody>
          <a:bodyPr/>
          <a:lstStyle/>
          <a:p>
            <a:endParaRPr lang="en-US"/>
          </a:p>
        </p:txBody>
      </p:sp>
      <p:sp>
        <p:nvSpPr>
          <p:cNvPr id="54" name="Gauge segment"/>
          <p:cNvSpPr/>
          <p:nvPr/>
        </p:nvSpPr>
        <p:spPr>
          <a:xfrm>
            <a:off x="7068312" y="4187952"/>
            <a:ext cx="1133856" cy="1133856"/>
          </a:xfrm>
          <a:prstGeom prst="blockArc">
            <a:avLst>
              <a:gd name="adj1" fmla="val 17436000"/>
              <a:gd name="adj2" fmla="val 17964000"/>
              <a:gd name="adj3" fmla="val 13000"/>
            </a:avLst>
          </a:prstGeom>
          <a:solidFill>
            <a:srgbClr val="FF9111"/>
          </a:solidFill>
          <a:ln/>
        </p:spPr>
        <p:txBody>
          <a:bodyPr/>
          <a:lstStyle/>
          <a:p>
            <a:endParaRPr lang="en-US"/>
          </a:p>
        </p:txBody>
      </p:sp>
      <p:sp>
        <p:nvSpPr>
          <p:cNvPr id="55" name="Gauge segment"/>
          <p:cNvSpPr/>
          <p:nvPr/>
        </p:nvSpPr>
        <p:spPr>
          <a:xfrm>
            <a:off x="7068312" y="4187952"/>
            <a:ext cx="1133856" cy="1133856"/>
          </a:xfrm>
          <a:prstGeom prst="blockArc">
            <a:avLst>
              <a:gd name="adj1" fmla="val 18036000"/>
              <a:gd name="adj2" fmla="val 18564000"/>
              <a:gd name="adj3" fmla="val 13000"/>
            </a:avLst>
          </a:prstGeom>
          <a:solidFill>
            <a:srgbClr val="FF8418"/>
          </a:solidFill>
          <a:ln/>
        </p:spPr>
        <p:txBody>
          <a:bodyPr/>
          <a:lstStyle/>
          <a:p>
            <a:endParaRPr lang="en-US"/>
          </a:p>
        </p:txBody>
      </p:sp>
      <p:sp>
        <p:nvSpPr>
          <p:cNvPr id="56" name="Gauge segment"/>
          <p:cNvSpPr/>
          <p:nvPr/>
        </p:nvSpPr>
        <p:spPr>
          <a:xfrm>
            <a:off x="7068312" y="4187952"/>
            <a:ext cx="1133856" cy="1133856"/>
          </a:xfrm>
          <a:prstGeom prst="blockArc">
            <a:avLst>
              <a:gd name="adj1" fmla="val 18636000"/>
              <a:gd name="adj2" fmla="val 19164000"/>
              <a:gd name="adj3" fmla="val 13000"/>
            </a:avLst>
          </a:prstGeom>
          <a:solidFill>
            <a:srgbClr val="FF771F"/>
          </a:solidFill>
          <a:ln/>
        </p:spPr>
        <p:txBody>
          <a:bodyPr/>
          <a:lstStyle/>
          <a:p>
            <a:endParaRPr lang="en-US"/>
          </a:p>
        </p:txBody>
      </p:sp>
      <p:sp>
        <p:nvSpPr>
          <p:cNvPr id="57" name="Gauge segment"/>
          <p:cNvSpPr/>
          <p:nvPr/>
        </p:nvSpPr>
        <p:spPr>
          <a:xfrm>
            <a:off x="7068312" y="4187952"/>
            <a:ext cx="1133856" cy="1133856"/>
          </a:xfrm>
          <a:prstGeom prst="blockArc">
            <a:avLst>
              <a:gd name="adj1" fmla="val 19236000"/>
              <a:gd name="adj2" fmla="val 19764000"/>
              <a:gd name="adj3" fmla="val 13000"/>
            </a:avLst>
          </a:prstGeom>
          <a:solidFill>
            <a:srgbClr val="FF6B26"/>
          </a:solidFill>
          <a:ln/>
        </p:spPr>
        <p:txBody>
          <a:bodyPr/>
          <a:lstStyle/>
          <a:p>
            <a:endParaRPr lang="en-US"/>
          </a:p>
        </p:txBody>
      </p:sp>
      <p:sp>
        <p:nvSpPr>
          <p:cNvPr id="58" name="Gauge segment"/>
          <p:cNvSpPr/>
          <p:nvPr/>
        </p:nvSpPr>
        <p:spPr>
          <a:xfrm>
            <a:off x="7068312" y="4187952"/>
            <a:ext cx="1133856" cy="1133856"/>
          </a:xfrm>
          <a:prstGeom prst="blockArc">
            <a:avLst>
              <a:gd name="adj1" fmla="val 19836000"/>
              <a:gd name="adj2" fmla="val 20364000"/>
              <a:gd name="adj3" fmla="val 13000"/>
            </a:avLst>
          </a:prstGeom>
          <a:solidFill>
            <a:srgbClr val="FF5E2C"/>
          </a:solidFill>
          <a:ln/>
        </p:spPr>
        <p:txBody>
          <a:bodyPr/>
          <a:lstStyle/>
          <a:p>
            <a:endParaRPr lang="en-US"/>
          </a:p>
        </p:txBody>
      </p:sp>
      <p:sp>
        <p:nvSpPr>
          <p:cNvPr id="59" name="Gauge segment"/>
          <p:cNvSpPr/>
          <p:nvPr/>
        </p:nvSpPr>
        <p:spPr>
          <a:xfrm>
            <a:off x="7068312" y="4187952"/>
            <a:ext cx="1133856" cy="1133856"/>
          </a:xfrm>
          <a:prstGeom prst="blockArc">
            <a:avLst>
              <a:gd name="adj1" fmla="val 20436000"/>
              <a:gd name="adj2" fmla="val 20964000"/>
              <a:gd name="adj3" fmla="val 13000"/>
            </a:avLst>
          </a:prstGeom>
          <a:solidFill>
            <a:srgbClr val="FF5233"/>
          </a:solidFill>
          <a:ln/>
        </p:spPr>
        <p:txBody>
          <a:bodyPr/>
          <a:lstStyle/>
          <a:p>
            <a:endParaRPr lang="en-US"/>
          </a:p>
        </p:txBody>
      </p:sp>
      <p:sp>
        <p:nvSpPr>
          <p:cNvPr id="60" name="Gauge segment"/>
          <p:cNvSpPr/>
          <p:nvPr/>
        </p:nvSpPr>
        <p:spPr>
          <a:xfrm>
            <a:off x="7068312" y="4187952"/>
            <a:ext cx="1133856" cy="1133856"/>
          </a:xfrm>
          <a:prstGeom prst="blockArc">
            <a:avLst>
              <a:gd name="adj1" fmla="val 21036000"/>
              <a:gd name="adj2" fmla="val 21564000"/>
              <a:gd name="adj3" fmla="val 13000"/>
            </a:avLst>
          </a:prstGeom>
          <a:solidFill>
            <a:srgbClr val="FF453A"/>
          </a:solidFill>
          <a:ln/>
        </p:spPr>
        <p:txBody>
          <a:bodyPr/>
          <a:lstStyle/>
          <a:p>
            <a:endParaRPr lang="en-US"/>
          </a:p>
        </p:txBody>
      </p:sp>
      <p:sp>
        <p:nvSpPr>
          <p:cNvPr id="61" name="Gauge needle"/>
          <p:cNvSpPr/>
          <p:nvPr/>
        </p:nvSpPr>
        <p:spPr>
          <a:xfrm flipV="1">
            <a:off x="7635240" y="4279064"/>
            <a:ext cx="106357" cy="475816"/>
          </a:xfrm>
          <a:prstGeom prst="line">
            <a:avLst/>
          </a:prstGeom>
          <a:noFill/>
          <a:ln w="31750">
            <a:solidFill>
              <a:srgbClr val="E6EDF3"/>
            </a:solidFill>
            <a:prstDash val="solid"/>
          </a:ln>
        </p:spPr>
        <p:txBody>
          <a:bodyPr/>
          <a:lstStyle/>
          <a:p>
            <a:endParaRPr lang="en-US"/>
          </a:p>
        </p:txBody>
      </p:sp>
      <p:sp>
        <p:nvSpPr>
          <p:cNvPr id="62" name="Gauge hub"/>
          <p:cNvSpPr/>
          <p:nvPr/>
        </p:nvSpPr>
        <p:spPr>
          <a:xfrm>
            <a:off x="7584216" y="4703856"/>
            <a:ext cx="102047" cy="102047"/>
          </a:xfrm>
          <a:prstGeom prst="ellipse">
            <a:avLst/>
          </a:prstGeom>
          <a:solidFill>
            <a:srgbClr val="E6EDF3"/>
          </a:solidFill>
          <a:ln/>
        </p:spPr>
        <p:txBody>
          <a:bodyPr/>
          <a:lstStyle/>
          <a:p>
            <a:endParaRPr lang="en-US"/>
          </a:p>
        </p:txBody>
      </p:sp>
      <p:sp>
        <p:nvSpPr>
          <p:cNvPr id="63" name="Text 61"/>
          <p:cNvSpPr txBox="1"/>
          <p:nvPr/>
        </p:nvSpPr>
        <p:spPr>
          <a:xfrm>
            <a:off x="7068312" y="4842480"/>
            <a:ext cx="1133856" cy="274320"/>
          </a:xfrm>
          <a:prstGeom prst="rect">
            <a:avLst/>
          </a:prstGeom>
          <a:noFill/>
          <a:ln/>
        </p:spPr>
        <p:txBody>
          <a:bodyPr wrap="square" lIns="0" tIns="0" rIns="0" bIns="0" rtlCol="0" anchor="t"/>
          <a:lstStyle/>
          <a:p>
            <a:pPr marL="0" indent="0" algn="ctr">
              <a:buNone/>
            </a:pPr>
            <a:r>
              <a:rPr lang="en-US" sz="1600" b="1" dirty="0">
                <a:solidFill>
                  <a:srgbClr val="FF453A"/>
                </a:solidFill>
                <a:latin typeface="Consolas" pitchFamily="34" charset="0"/>
                <a:ea typeface="Consolas" pitchFamily="34" charset="-122"/>
                <a:cs typeface="Consolas" pitchFamily="34" charset="-120"/>
              </a:rPr>
              <a:t>0.57</a:t>
            </a:r>
            <a:endParaRPr lang="en-US" sz="1600" dirty="0"/>
          </a:p>
        </p:txBody>
      </p:sp>
      <p:sp>
        <p:nvSpPr>
          <p:cNvPr id="64" name="Text 62"/>
          <p:cNvSpPr txBox="1"/>
          <p:nvPr/>
        </p:nvSpPr>
        <p:spPr>
          <a:xfrm>
            <a:off x="6885432" y="5116800"/>
            <a:ext cx="1499616" cy="457200"/>
          </a:xfrm>
          <a:prstGeom prst="rect">
            <a:avLst/>
          </a:prstGeom>
          <a:noFill/>
          <a:ln/>
        </p:spPr>
        <p:txBody>
          <a:bodyPr wrap="square" lIns="0" tIns="0" rIns="0" bIns="0" rtlCol="0" anchor="t"/>
          <a:lstStyle/>
          <a:p>
            <a:pPr marL="0" indent="0" algn="ctr">
              <a:buNone/>
            </a:pPr>
            <a:r>
              <a:rPr lang="en-US" sz="1050" dirty="0">
                <a:solidFill>
                  <a:srgbClr val="93A1B3"/>
                </a:solidFill>
                <a:latin typeface="Segoe UI" pitchFamily="34" charset="0"/>
                <a:ea typeface="Segoe UI" pitchFamily="34" charset="-122"/>
                <a:cs typeface="Segoe UI" pitchFamily="34" charset="-120"/>
              </a:rPr>
              <a:t>as downloaded</a:t>
            </a:r>
            <a:endParaRPr lang="en-US" sz="1050" dirty="0"/>
          </a:p>
        </p:txBody>
      </p:sp>
      <p:sp>
        <p:nvSpPr>
          <p:cNvPr id="65" name="Gauge segment"/>
          <p:cNvSpPr/>
          <p:nvPr/>
        </p:nvSpPr>
        <p:spPr>
          <a:xfrm>
            <a:off x="8622792" y="4187952"/>
            <a:ext cx="1133856" cy="1133856"/>
          </a:xfrm>
          <a:prstGeom prst="blockArc">
            <a:avLst>
              <a:gd name="adj1" fmla="val 10836000"/>
              <a:gd name="adj2" fmla="val 11364000"/>
              <a:gd name="adj3" fmla="val 13000"/>
            </a:avLst>
          </a:prstGeom>
          <a:solidFill>
            <a:srgbClr val="4E6A88"/>
          </a:solidFill>
          <a:ln/>
        </p:spPr>
        <p:txBody>
          <a:bodyPr/>
          <a:lstStyle/>
          <a:p>
            <a:endParaRPr lang="en-US"/>
          </a:p>
        </p:txBody>
      </p:sp>
      <p:sp>
        <p:nvSpPr>
          <p:cNvPr id="66" name="Gauge segment"/>
          <p:cNvSpPr/>
          <p:nvPr/>
        </p:nvSpPr>
        <p:spPr>
          <a:xfrm>
            <a:off x="8622792" y="4187952"/>
            <a:ext cx="1133856" cy="1133856"/>
          </a:xfrm>
          <a:prstGeom prst="blockArc">
            <a:avLst>
              <a:gd name="adj1" fmla="val 11436000"/>
              <a:gd name="adj2" fmla="val 11964000"/>
              <a:gd name="adj3" fmla="val 13000"/>
            </a:avLst>
          </a:prstGeom>
          <a:solidFill>
            <a:srgbClr val="637278"/>
          </a:solidFill>
          <a:ln/>
        </p:spPr>
        <p:txBody>
          <a:bodyPr/>
          <a:lstStyle/>
          <a:p>
            <a:endParaRPr lang="en-US"/>
          </a:p>
        </p:txBody>
      </p:sp>
      <p:sp>
        <p:nvSpPr>
          <p:cNvPr id="67" name="Gauge segment"/>
          <p:cNvSpPr/>
          <p:nvPr/>
        </p:nvSpPr>
        <p:spPr>
          <a:xfrm>
            <a:off x="8622792" y="4187952"/>
            <a:ext cx="1133856" cy="1133856"/>
          </a:xfrm>
          <a:prstGeom prst="blockArc">
            <a:avLst>
              <a:gd name="adj1" fmla="val 12036000"/>
              <a:gd name="adj2" fmla="val 12564000"/>
              <a:gd name="adj3" fmla="val 13000"/>
            </a:avLst>
          </a:prstGeom>
          <a:solidFill>
            <a:srgbClr val="787A68"/>
          </a:solidFill>
          <a:ln/>
        </p:spPr>
        <p:txBody>
          <a:bodyPr/>
          <a:lstStyle/>
          <a:p>
            <a:endParaRPr lang="en-US"/>
          </a:p>
        </p:txBody>
      </p:sp>
      <p:sp>
        <p:nvSpPr>
          <p:cNvPr id="68" name="Gauge segment"/>
          <p:cNvSpPr/>
          <p:nvPr/>
        </p:nvSpPr>
        <p:spPr>
          <a:xfrm>
            <a:off x="8622792" y="4187952"/>
            <a:ext cx="1133856" cy="1133856"/>
          </a:xfrm>
          <a:prstGeom prst="blockArc">
            <a:avLst>
              <a:gd name="adj1" fmla="val 12636000"/>
              <a:gd name="adj2" fmla="val 13164000"/>
              <a:gd name="adj3" fmla="val 13000"/>
            </a:avLst>
          </a:prstGeom>
          <a:solidFill>
            <a:srgbClr val="8C8358"/>
          </a:solidFill>
          <a:ln/>
        </p:spPr>
        <p:txBody>
          <a:bodyPr/>
          <a:lstStyle/>
          <a:p>
            <a:endParaRPr lang="en-US"/>
          </a:p>
        </p:txBody>
      </p:sp>
      <p:sp>
        <p:nvSpPr>
          <p:cNvPr id="69" name="Gauge segment"/>
          <p:cNvSpPr/>
          <p:nvPr/>
        </p:nvSpPr>
        <p:spPr>
          <a:xfrm>
            <a:off x="8622792" y="4187952"/>
            <a:ext cx="1133856" cy="1133856"/>
          </a:xfrm>
          <a:prstGeom prst="blockArc">
            <a:avLst>
              <a:gd name="adj1" fmla="val 13236000"/>
              <a:gd name="adj2" fmla="val 13764000"/>
              <a:gd name="adj3" fmla="val 13000"/>
            </a:avLst>
          </a:prstGeom>
          <a:solidFill>
            <a:srgbClr val="A18B48"/>
          </a:solidFill>
          <a:ln/>
        </p:spPr>
        <p:txBody>
          <a:bodyPr/>
          <a:lstStyle/>
          <a:p>
            <a:endParaRPr lang="en-US"/>
          </a:p>
        </p:txBody>
      </p:sp>
      <p:sp>
        <p:nvSpPr>
          <p:cNvPr id="70" name="Gauge segment"/>
          <p:cNvSpPr/>
          <p:nvPr/>
        </p:nvSpPr>
        <p:spPr>
          <a:xfrm>
            <a:off x="8622792" y="4187952"/>
            <a:ext cx="1133856" cy="1133856"/>
          </a:xfrm>
          <a:prstGeom prst="blockArc">
            <a:avLst>
              <a:gd name="adj1" fmla="val 13836000"/>
              <a:gd name="adj2" fmla="val 14364000"/>
              <a:gd name="adj3" fmla="val 13000"/>
            </a:avLst>
          </a:prstGeom>
          <a:solidFill>
            <a:srgbClr val="B69338"/>
          </a:solidFill>
          <a:ln/>
        </p:spPr>
        <p:txBody>
          <a:bodyPr/>
          <a:lstStyle/>
          <a:p>
            <a:endParaRPr lang="en-US"/>
          </a:p>
        </p:txBody>
      </p:sp>
      <p:sp>
        <p:nvSpPr>
          <p:cNvPr id="71" name="Gauge segment"/>
          <p:cNvSpPr/>
          <p:nvPr/>
        </p:nvSpPr>
        <p:spPr>
          <a:xfrm>
            <a:off x="8622792" y="4187952"/>
            <a:ext cx="1133856" cy="1133856"/>
          </a:xfrm>
          <a:prstGeom prst="blockArc">
            <a:avLst>
              <a:gd name="adj1" fmla="val 14436000"/>
              <a:gd name="adj2" fmla="val 14964000"/>
              <a:gd name="adj3" fmla="val 13000"/>
            </a:avLst>
          </a:prstGeom>
          <a:solidFill>
            <a:srgbClr val="CB9B28"/>
          </a:solidFill>
          <a:ln/>
        </p:spPr>
        <p:txBody>
          <a:bodyPr/>
          <a:lstStyle/>
          <a:p>
            <a:endParaRPr lang="en-US"/>
          </a:p>
        </p:txBody>
      </p:sp>
      <p:sp>
        <p:nvSpPr>
          <p:cNvPr id="72" name="Gauge segment"/>
          <p:cNvSpPr/>
          <p:nvPr/>
        </p:nvSpPr>
        <p:spPr>
          <a:xfrm>
            <a:off x="8622792" y="4187952"/>
            <a:ext cx="1133856" cy="1133856"/>
          </a:xfrm>
          <a:prstGeom prst="blockArc">
            <a:avLst>
              <a:gd name="adj1" fmla="val 15036000"/>
              <a:gd name="adj2" fmla="val 15564000"/>
              <a:gd name="adj3" fmla="val 13000"/>
            </a:avLst>
          </a:prstGeom>
          <a:solidFill>
            <a:srgbClr val="E0A418"/>
          </a:solidFill>
          <a:ln/>
        </p:spPr>
        <p:txBody>
          <a:bodyPr/>
          <a:lstStyle/>
          <a:p>
            <a:endParaRPr lang="en-US"/>
          </a:p>
        </p:txBody>
      </p:sp>
      <p:sp>
        <p:nvSpPr>
          <p:cNvPr id="73" name="Gauge segment"/>
          <p:cNvSpPr/>
          <p:nvPr/>
        </p:nvSpPr>
        <p:spPr>
          <a:xfrm>
            <a:off x="8622792" y="4187952"/>
            <a:ext cx="1133856" cy="1133856"/>
          </a:xfrm>
          <a:prstGeom prst="blockArc">
            <a:avLst>
              <a:gd name="adj1" fmla="val 15636000"/>
              <a:gd name="adj2" fmla="val 16164000"/>
              <a:gd name="adj3" fmla="val 13000"/>
            </a:avLst>
          </a:prstGeom>
          <a:solidFill>
            <a:srgbClr val="F5AC08"/>
          </a:solidFill>
          <a:ln/>
        </p:spPr>
        <p:txBody>
          <a:bodyPr/>
          <a:lstStyle/>
          <a:p>
            <a:endParaRPr lang="en-US"/>
          </a:p>
        </p:txBody>
      </p:sp>
      <p:sp>
        <p:nvSpPr>
          <p:cNvPr id="74" name="Gauge segment"/>
          <p:cNvSpPr/>
          <p:nvPr/>
        </p:nvSpPr>
        <p:spPr>
          <a:xfrm>
            <a:off x="8622792" y="4187952"/>
            <a:ext cx="1133856" cy="1133856"/>
          </a:xfrm>
          <a:prstGeom prst="blockArc">
            <a:avLst>
              <a:gd name="adj1" fmla="val 16236000"/>
              <a:gd name="adj2" fmla="val 16764000"/>
              <a:gd name="adj3" fmla="val 13000"/>
            </a:avLst>
          </a:prstGeom>
          <a:solidFill>
            <a:srgbClr val="FFAA03"/>
          </a:solidFill>
          <a:ln/>
        </p:spPr>
        <p:txBody>
          <a:bodyPr/>
          <a:lstStyle/>
          <a:p>
            <a:endParaRPr lang="en-US"/>
          </a:p>
        </p:txBody>
      </p:sp>
      <p:sp>
        <p:nvSpPr>
          <p:cNvPr id="75" name="Gauge segment"/>
          <p:cNvSpPr/>
          <p:nvPr/>
        </p:nvSpPr>
        <p:spPr>
          <a:xfrm>
            <a:off x="8622792" y="4187952"/>
            <a:ext cx="1133856" cy="1133856"/>
          </a:xfrm>
          <a:prstGeom prst="blockArc">
            <a:avLst>
              <a:gd name="adj1" fmla="val 16836000"/>
              <a:gd name="adj2" fmla="val 17364000"/>
              <a:gd name="adj3" fmla="val 13000"/>
            </a:avLst>
          </a:prstGeom>
          <a:solidFill>
            <a:srgbClr val="FF9D0A"/>
          </a:solidFill>
          <a:ln/>
        </p:spPr>
        <p:txBody>
          <a:bodyPr/>
          <a:lstStyle/>
          <a:p>
            <a:endParaRPr lang="en-US"/>
          </a:p>
        </p:txBody>
      </p:sp>
      <p:sp>
        <p:nvSpPr>
          <p:cNvPr id="76" name="Gauge segment"/>
          <p:cNvSpPr/>
          <p:nvPr/>
        </p:nvSpPr>
        <p:spPr>
          <a:xfrm>
            <a:off x="8622792" y="4187952"/>
            <a:ext cx="1133856" cy="1133856"/>
          </a:xfrm>
          <a:prstGeom prst="blockArc">
            <a:avLst>
              <a:gd name="adj1" fmla="val 17436000"/>
              <a:gd name="adj2" fmla="val 17964000"/>
              <a:gd name="adj3" fmla="val 13000"/>
            </a:avLst>
          </a:prstGeom>
          <a:solidFill>
            <a:srgbClr val="FF9111"/>
          </a:solidFill>
          <a:ln/>
        </p:spPr>
        <p:txBody>
          <a:bodyPr/>
          <a:lstStyle/>
          <a:p>
            <a:endParaRPr lang="en-US"/>
          </a:p>
        </p:txBody>
      </p:sp>
      <p:sp>
        <p:nvSpPr>
          <p:cNvPr id="77" name="Gauge segment"/>
          <p:cNvSpPr/>
          <p:nvPr/>
        </p:nvSpPr>
        <p:spPr>
          <a:xfrm>
            <a:off x="8622792" y="4187952"/>
            <a:ext cx="1133856" cy="1133856"/>
          </a:xfrm>
          <a:prstGeom prst="blockArc">
            <a:avLst>
              <a:gd name="adj1" fmla="val 18036000"/>
              <a:gd name="adj2" fmla="val 18564000"/>
              <a:gd name="adj3" fmla="val 13000"/>
            </a:avLst>
          </a:prstGeom>
          <a:solidFill>
            <a:srgbClr val="FF8418"/>
          </a:solidFill>
          <a:ln/>
        </p:spPr>
        <p:txBody>
          <a:bodyPr/>
          <a:lstStyle/>
          <a:p>
            <a:endParaRPr lang="en-US"/>
          </a:p>
        </p:txBody>
      </p:sp>
      <p:sp>
        <p:nvSpPr>
          <p:cNvPr id="78" name="Gauge segment"/>
          <p:cNvSpPr/>
          <p:nvPr/>
        </p:nvSpPr>
        <p:spPr>
          <a:xfrm>
            <a:off x="8622792" y="4187952"/>
            <a:ext cx="1133856" cy="1133856"/>
          </a:xfrm>
          <a:prstGeom prst="blockArc">
            <a:avLst>
              <a:gd name="adj1" fmla="val 18636000"/>
              <a:gd name="adj2" fmla="val 19164000"/>
              <a:gd name="adj3" fmla="val 13000"/>
            </a:avLst>
          </a:prstGeom>
          <a:solidFill>
            <a:srgbClr val="FF771F"/>
          </a:solidFill>
          <a:ln/>
        </p:spPr>
        <p:txBody>
          <a:bodyPr/>
          <a:lstStyle/>
          <a:p>
            <a:endParaRPr lang="en-US"/>
          </a:p>
        </p:txBody>
      </p:sp>
      <p:sp>
        <p:nvSpPr>
          <p:cNvPr id="79" name="Gauge segment"/>
          <p:cNvSpPr/>
          <p:nvPr/>
        </p:nvSpPr>
        <p:spPr>
          <a:xfrm>
            <a:off x="8622792" y="4187952"/>
            <a:ext cx="1133856" cy="1133856"/>
          </a:xfrm>
          <a:prstGeom prst="blockArc">
            <a:avLst>
              <a:gd name="adj1" fmla="val 19236000"/>
              <a:gd name="adj2" fmla="val 19764000"/>
              <a:gd name="adj3" fmla="val 13000"/>
            </a:avLst>
          </a:prstGeom>
          <a:solidFill>
            <a:srgbClr val="FF6B26"/>
          </a:solidFill>
          <a:ln/>
        </p:spPr>
        <p:txBody>
          <a:bodyPr/>
          <a:lstStyle/>
          <a:p>
            <a:endParaRPr lang="en-US"/>
          </a:p>
        </p:txBody>
      </p:sp>
      <p:sp>
        <p:nvSpPr>
          <p:cNvPr id="80" name="Gauge segment"/>
          <p:cNvSpPr/>
          <p:nvPr/>
        </p:nvSpPr>
        <p:spPr>
          <a:xfrm>
            <a:off x="8622792" y="4187952"/>
            <a:ext cx="1133856" cy="1133856"/>
          </a:xfrm>
          <a:prstGeom prst="blockArc">
            <a:avLst>
              <a:gd name="adj1" fmla="val 19836000"/>
              <a:gd name="adj2" fmla="val 20364000"/>
              <a:gd name="adj3" fmla="val 13000"/>
            </a:avLst>
          </a:prstGeom>
          <a:solidFill>
            <a:srgbClr val="FF5E2C"/>
          </a:solidFill>
          <a:ln/>
        </p:spPr>
        <p:txBody>
          <a:bodyPr/>
          <a:lstStyle/>
          <a:p>
            <a:endParaRPr lang="en-US"/>
          </a:p>
        </p:txBody>
      </p:sp>
      <p:sp>
        <p:nvSpPr>
          <p:cNvPr id="81" name="Gauge segment"/>
          <p:cNvSpPr/>
          <p:nvPr/>
        </p:nvSpPr>
        <p:spPr>
          <a:xfrm>
            <a:off x="8622792" y="4187952"/>
            <a:ext cx="1133856" cy="1133856"/>
          </a:xfrm>
          <a:prstGeom prst="blockArc">
            <a:avLst>
              <a:gd name="adj1" fmla="val 20436000"/>
              <a:gd name="adj2" fmla="val 20964000"/>
              <a:gd name="adj3" fmla="val 13000"/>
            </a:avLst>
          </a:prstGeom>
          <a:solidFill>
            <a:srgbClr val="FF5233"/>
          </a:solidFill>
          <a:ln/>
        </p:spPr>
        <p:txBody>
          <a:bodyPr/>
          <a:lstStyle/>
          <a:p>
            <a:endParaRPr lang="en-US"/>
          </a:p>
        </p:txBody>
      </p:sp>
      <p:sp>
        <p:nvSpPr>
          <p:cNvPr id="82" name="Gauge segment"/>
          <p:cNvSpPr/>
          <p:nvPr/>
        </p:nvSpPr>
        <p:spPr>
          <a:xfrm>
            <a:off x="8622792" y="4187952"/>
            <a:ext cx="1133856" cy="1133856"/>
          </a:xfrm>
          <a:prstGeom prst="blockArc">
            <a:avLst>
              <a:gd name="adj1" fmla="val 21036000"/>
              <a:gd name="adj2" fmla="val 21564000"/>
              <a:gd name="adj3" fmla="val 13000"/>
            </a:avLst>
          </a:prstGeom>
          <a:solidFill>
            <a:srgbClr val="FF453A"/>
          </a:solidFill>
          <a:ln/>
        </p:spPr>
        <p:txBody>
          <a:bodyPr/>
          <a:lstStyle/>
          <a:p>
            <a:endParaRPr lang="en-US"/>
          </a:p>
        </p:txBody>
      </p:sp>
      <p:sp>
        <p:nvSpPr>
          <p:cNvPr id="83" name="Gauge needle"/>
          <p:cNvSpPr/>
          <p:nvPr/>
        </p:nvSpPr>
        <p:spPr>
          <a:xfrm flipV="1">
            <a:off x="9189720" y="4754880"/>
            <a:ext cx="487558" cy="0"/>
          </a:xfrm>
          <a:prstGeom prst="line">
            <a:avLst/>
          </a:prstGeom>
          <a:noFill/>
          <a:ln w="31750">
            <a:solidFill>
              <a:srgbClr val="E6EDF3"/>
            </a:solidFill>
            <a:prstDash val="solid"/>
          </a:ln>
        </p:spPr>
        <p:txBody>
          <a:bodyPr/>
          <a:lstStyle/>
          <a:p>
            <a:endParaRPr lang="en-US"/>
          </a:p>
        </p:txBody>
      </p:sp>
      <p:sp>
        <p:nvSpPr>
          <p:cNvPr id="84" name="Gauge hub"/>
          <p:cNvSpPr/>
          <p:nvPr/>
        </p:nvSpPr>
        <p:spPr>
          <a:xfrm>
            <a:off x="9138696" y="4703856"/>
            <a:ext cx="102047" cy="102047"/>
          </a:xfrm>
          <a:prstGeom prst="ellipse">
            <a:avLst/>
          </a:prstGeom>
          <a:solidFill>
            <a:srgbClr val="E6EDF3"/>
          </a:solidFill>
          <a:ln/>
        </p:spPr>
        <p:txBody>
          <a:bodyPr/>
          <a:lstStyle/>
          <a:p>
            <a:endParaRPr lang="en-US"/>
          </a:p>
        </p:txBody>
      </p:sp>
      <p:sp>
        <p:nvSpPr>
          <p:cNvPr id="85" name="Text 83"/>
          <p:cNvSpPr txBox="1"/>
          <p:nvPr/>
        </p:nvSpPr>
        <p:spPr>
          <a:xfrm>
            <a:off x="8622792" y="4842480"/>
            <a:ext cx="1133856" cy="274320"/>
          </a:xfrm>
          <a:prstGeom prst="rect">
            <a:avLst/>
          </a:prstGeom>
          <a:noFill/>
          <a:ln/>
        </p:spPr>
        <p:txBody>
          <a:bodyPr wrap="square" lIns="0" tIns="0" rIns="0" bIns="0" rtlCol="0" anchor="t"/>
          <a:lstStyle/>
          <a:p>
            <a:pPr marL="0" indent="0" algn="ctr">
              <a:buNone/>
            </a:pPr>
            <a:r>
              <a:rPr lang="en-US" sz="1600" b="1" dirty="0">
                <a:solidFill>
                  <a:srgbClr val="FF453A"/>
                </a:solidFill>
                <a:latin typeface="Consolas" pitchFamily="34" charset="0"/>
                <a:ea typeface="Consolas" pitchFamily="34" charset="-122"/>
                <a:cs typeface="Consolas" pitchFamily="34" charset="-120"/>
              </a:rPr>
              <a:t>1.00</a:t>
            </a:r>
            <a:endParaRPr lang="en-US" sz="1600" dirty="0"/>
          </a:p>
        </p:txBody>
      </p:sp>
      <p:sp>
        <p:nvSpPr>
          <p:cNvPr id="86" name="Text 84"/>
          <p:cNvSpPr txBox="1"/>
          <p:nvPr/>
        </p:nvSpPr>
        <p:spPr>
          <a:xfrm>
            <a:off x="8439912" y="5116800"/>
            <a:ext cx="1499616" cy="457200"/>
          </a:xfrm>
          <a:prstGeom prst="rect">
            <a:avLst/>
          </a:prstGeom>
          <a:noFill/>
          <a:ln/>
        </p:spPr>
        <p:txBody>
          <a:bodyPr wrap="square" lIns="0" tIns="0" rIns="0" bIns="0" rtlCol="0" anchor="t"/>
          <a:lstStyle/>
          <a:p>
            <a:pPr marL="0" indent="0" algn="ctr">
              <a:buNone/>
            </a:pPr>
            <a:r>
              <a:rPr lang="en-US" sz="1050" dirty="0">
                <a:solidFill>
                  <a:srgbClr val="93A1B3"/>
                </a:solidFill>
                <a:latin typeface="Segoe UI" pitchFamily="34" charset="0"/>
                <a:ea typeface="Segoe UI" pitchFamily="34" charset="-122"/>
                <a:cs typeface="Segoe UI" pitchFamily="34" charset="-120"/>
              </a:rPr>
              <a:t>fine-tuned (we run this)</a:t>
            </a:r>
            <a:endParaRPr lang="en-US" sz="1050" dirty="0"/>
          </a:p>
        </p:txBody>
      </p:sp>
      <p:sp>
        <p:nvSpPr>
          <p:cNvPr id="87" name="Text 85"/>
          <p:cNvSpPr txBox="1"/>
          <p:nvPr/>
        </p:nvSpPr>
        <p:spPr>
          <a:xfrm>
            <a:off x="10104120" y="4160520"/>
            <a:ext cx="1447495" cy="1188720"/>
          </a:xfrm>
          <a:prstGeom prst="rect">
            <a:avLst/>
          </a:prstGeom>
          <a:noFill/>
          <a:ln/>
        </p:spPr>
        <p:txBody>
          <a:bodyPr wrap="square" lIns="0" tIns="0" rIns="0" bIns="0" rtlCol="0" anchor="t"/>
          <a:lstStyle/>
          <a:p>
            <a:pPr marL="0" indent="0">
              <a:buNone/>
            </a:pPr>
            <a:r>
              <a:rPr lang="en-US" sz="1200" dirty="0">
                <a:solidFill>
                  <a:srgbClr val="93A1B3"/>
                </a:solidFill>
                <a:latin typeface="Segoe UI" pitchFamily="34" charset="0"/>
                <a:ea typeface="Segoe UI" pitchFamily="34" charset="-122"/>
                <a:cs typeface="Segoe UI" pitchFamily="34" charset="-120"/>
              </a:rPr>
              <a:t>Plain “CVSS 9.8 CRITICAL” announcement:</a:t>
            </a:r>
            <a:endParaRPr lang="en-US" sz="1200" dirty="0"/>
          </a:p>
          <a:p>
            <a:pPr marL="0" indent="0">
              <a:buNone/>
            </a:pPr>
            <a:r>
              <a:rPr lang="en-US" sz="1200" b="1" dirty="0">
                <a:solidFill>
                  <a:srgbClr val="E6EDF3"/>
                </a:solidFill>
                <a:latin typeface="Consolas" pitchFamily="34" charset="0"/>
                <a:ea typeface="Consolas" pitchFamily="34" charset="-122"/>
                <a:cs typeface="Consolas" pitchFamily="34" charset="-120"/>
              </a:rPr>
              <a:t>0.31 → 0.00</a:t>
            </a:r>
            <a:endParaRPr lang="en-US" sz="1200" dirty="0"/>
          </a:p>
          <a:p>
            <a:pPr marL="0" indent="0">
              <a:buNone/>
            </a:pPr>
            <a:r>
              <a:rPr lang="en-US" sz="1200" dirty="0">
                <a:solidFill>
                  <a:srgbClr val="93A1B3"/>
                </a:solidFill>
                <a:latin typeface="Segoe UI" pitchFamily="34" charset="0"/>
                <a:ea typeface="Segoe UI" pitchFamily="34" charset="-122"/>
                <a:cs typeface="Segoe UI" pitchFamily="34" charset="-120"/>
              </a:rPr>
              <a:t>A count sees one post either way.</a:t>
            </a:r>
            <a:endParaRPr lang="en-US" sz="1200" dirty="0"/>
          </a:p>
        </p:txBody>
      </p:sp>
      <p:sp>
        <p:nvSpPr>
          <p:cNvPr id="88" name="Text 86"/>
          <p:cNvSpPr txBox="1"/>
          <p:nvPr/>
        </p:nvSpPr>
        <p:spPr>
          <a:xfrm>
            <a:off x="6876288" y="5513832"/>
            <a:ext cx="4657039" cy="228600"/>
          </a:xfrm>
          <a:prstGeom prst="rect">
            <a:avLst/>
          </a:prstGeom>
          <a:noFill/>
          <a:ln/>
        </p:spPr>
        <p:txBody>
          <a:bodyPr wrap="square" lIns="0" tIns="0" rIns="0" bIns="0" rtlCol="0" anchor="t"/>
          <a:lstStyle/>
          <a:p>
            <a:pPr marL="0" indent="0">
              <a:buNone/>
            </a:pPr>
            <a:r>
              <a:rPr lang="en-US" sz="1000" dirty="0">
                <a:solidFill>
                  <a:srgbClr val="93A1B3"/>
                </a:solidFill>
                <a:latin typeface="Segoe UI" pitchFamily="34" charset="0"/>
                <a:ea typeface="Segoe UI" pitchFamily="34" charset="-122"/>
                <a:cs typeface="Segoe UI" pitchFamily="34" charset="-120"/>
              </a:rPr>
              <a:t>Made-up post, real model output (docs/workflow.md)</a:t>
            </a:r>
            <a:endParaRPr lang="en-US" sz="1000" dirty="0"/>
          </a:p>
        </p:txBody>
      </p:sp>
      <p:sp>
        <p:nvSpPr>
          <p:cNvPr id="89" name="Text 87"/>
          <p:cNvSpPr txBox="1"/>
          <p:nvPr/>
        </p:nvSpPr>
        <p:spPr>
          <a:xfrm>
            <a:off x="457200" y="5943600"/>
            <a:ext cx="2240280" cy="365760"/>
          </a:xfrm>
          <a:prstGeom prst="rect">
            <a:avLst/>
          </a:prstGeom>
          <a:noFill/>
          <a:ln/>
        </p:spPr>
        <p:txBody>
          <a:bodyPr wrap="square" lIns="0" tIns="0" rIns="0" bIns="0" rtlCol="0" anchor="ctr"/>
          <a:lstStyle/>
          <a:p>
            <a:pPr marL="0" indent="0">
              <a:buNone/>
            </a:pPr>
            <a:r>
              <a:rPr lang="en-US" sz="1600" b="1" dirty="0">
                <a:solidFill>
                  <a:srgbClr val="FFB000"/>
                </a:solidFill>
                <a:latin typeface="Consolas" pitchFamily="34" charset="0"/>
                <a:ea typeface="Consolas" pitchFamily="34" charset="-122"/>
                <a:cs typeface="Consolas" pitchFamily="34" charset="-120"/>
              </a:rPr>
              <a:t>1,764  </a:t>
            </a:r>
            <a:r>
              <a:rPr lang="en-US" sz="1200" dirty="0">
                <a:solidFill>
                  <a:srgbClr val="93A1B3"/>
                </a:solidFill>
                <a:latin typeface="Segoe UI" pitchFamily="34" charset="0"/>
                <a:ea typeface="Segoe UI" pitchFamily="34" charset="-122"/>
                <a:cs typeface="Segoe UI" pitchFamily="34" charset="-120"/>
              </a:rPr>
              <a:t>posts analysed</a:t>
            </a:r>
            <a:endParaRPr lang="en-US" sz="1400" dirty="0"/>
          </a:p>
        </p:txBody>
      </p:sp>
      <p:sp>
        <p:nvSpPr>
          <p:cNvPr id="90" name="Text 88"/>
          <p:cNvSpPr txBox="1"/>
          <p:nvPr/>
        </p:nvSpPr>
        <p:spPr>
          <a:xfrm>
            <a:off x="2788920" y="5943600"/>
            <a:ext cx="3383280" cy="365760"/>
          </a:xfrm>
          <a:prstGeom prst="rect">
            <a:avLst/>
          </a:prstGeom>
          <a:noFill/>
          <a:ln/>
        </p:spPr>
        <p:txBody>
          <a:bodyPr wrap="square" lIns="0" tIns="0" rIns="0" bIns="0" rtlCol="0" anchor="ctr"/>
          <a:lstStyle/>
          <a:p>
            <a:pPr marL="0" indent="0">
              <a:buNone/>
            </a:pPr>
            <a:r>
              <a:rPr lang="en-US" sz="1600" b="1" dirty="0">
                <a:solidFill>
                  <a:srgbClr val="FFB000"/>
                </a:solidFill>
                <a:latin typeface="Consolas" pitchFamily="34" charset="0"/>
                <a:ea typeface="Consolas" pitchFamily="34" charset="-122"/>
                <a:cs typeface="Consolas" pitchFamily="34" charset="-120"/>
              </a:rPr>
              <a:t>66.6  </a:t>
            </a:r>
            <a:r>
              <a:rPr lang="en-US" sz="1200" dirty="0">
                <a:solidFill>
                  <a:srgbClr val="93A1B3"/>
                </a:solidFill>
                <a:latin typeface="Segoe UI" pitchFamily="34" charset="0"/>
                <a:ea typeface="Segoe UI" pitchFamily="34" charset="-122"/>
                <a:cs typeface="Segoe UI" pitchFamily="34" charset="-120"/>
              </a:rPr>
              <a:t>hours on its own (48 needed)</a:t>
            </a:r>
            <a:endParaRPr lang="en-US" sz="1400" dirty="0"/>
          </a:p>
        </p:txBody>
      </p:sp>
      <p:sp>
        <p:nvSpPr>
          <p:cNvPr id="91" name="Text 89"/>
          <p:cNvSpPr txBox="1"/>
          <p:nvPr/>
        </p:nvSpPr>
        <p:spPr>
          <a:xfrm>
            <a:off x="6263640" y="5943600"/>
            <a:ext cx="2606040" cy="365760"/>
          </a:xfrm>
          <a:prstGeom prst="rect">
            <a:avLst/>
          </a:prstGeom>
          <a:noFill/>
          <a:ln/>
        </p:spPr>
        <p:txBody>
          <a:bodyPr wrap="square" lIns="0" tIns="0" rIns="0" bIns="0" rtlCol="0" anchor="ctr"/>
          <a:lstStyle/>
          <a:p>
            <a:pPr marL="0" indent="0">
              <a:buNone/>
            </a:pPr>
            <a:r>
              <a:rPr lang="en-US" sz="1600" b="1" dirty="0">
                <a:solidFill>
                  <a:srgbClr val="FFB000"/>
                </a:solidFill>
                <a:latin typeface="Consolas" pitchFamily="34" charset="0"/>
                <a:ea typeface="Consolas" pitchFamily="34" charset="-122"/>
                <a:cs typeface="Consolas" pitchFamily="34" charset="-120"/>
              </a:rPr>
              <a:t>0  </a:t>
            </a:r>
            <a:r>
              <a:rPr lang="en-US" sz="1200" dirty="0">
                <a:solidFill>
                  <a:srgbClr val="93A1B3"/>
                </a:solidFill>
                <a:latin typeface="Segoe UI" pitchFamily="34" charset="0"/>
                <a:ea typeface="Segoe UI" pitchFamily="34" charset="-122"/>
                <a:cs typeface="Segoe UI" pitchFamily="34" charset="-120"/>
              </a:rPr>
              <a:t>posts without a score</a:t>
            </a:r>
            <a:endParaRPr lang="en-US" sz="1400" dirty="0"/>
          </a:p>
        </p:txBody>
      </p:sp>
      <p:sp>
        <p:nvSpPr>
          <p:cNvPr id="92" name="Text 90"/>
          <p:cNvSpPr txBox="1"/>
          <p:nvPr/>
        </p:nvSpPr>
        <p:spPr>
          <a:xfrm>
            <a:off x="8961120" y="5943600"/>
            <a:ext cx="2681935" cy="365760"/>
          </a:xfrm>
          <a:prstGeom prst="rect">
            <a:avLst/>
          </a:prstGeom>
          <a:noFill/>
          <a:ln/>
        </p:spPr>
        <p:txBody>
          <a:bodyPr wrap="square" lIns="0" tIns="0" rIns="0" bIns="0" rtlCol="0" anchor="ctr"/>
          <a:lstStyle/>
          <a:p>
            <a:pPr marL="0" indent="0">
              <a:buNone/>
            </a:pPr>
            <a:r>
              <a:rPr lang="en-US" sz="1600" b="1" dirty="0">
                <a:solidFill>
                  <a:srgbClr val="FFB000"/>
                </a:solidFill>
                <a:latin typeface="Consolas" pitchFamily="34" charset="0"/>
                <a:ea typeface="Consolas" pitchFamily="34" charset="-122"/>
                <a:cs typeface="Consolas" pitchFamily="34" charset="-120"/>
              </a:rPr>
              <a:t>848  </a:t>
            </a:r>
            <a:r>
              <a:rPr lang="en-US" sz="1200" dirty="0">
                <a:solidFill>
                  <a:srgbClr val="93A1B3"/>
                </a:solidFill>
                <a:latin typeface="Segoe UI" pitchFamily="34" charset="0"/>
                <a:ea typeface="Segoe UI" pitchFamily="34" charset="-122"/>
                <a:cs typeface="Segoe UI" pitchFamily="34" charset="-120"/>
              </a:rPr>
              <a:t>CVEs looked up in the NVD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5 · WORKING PROTOTYPE · K3 · SCOPE</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Live: the dashboard the officer opens on Tuesday morning</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scripts/app/dashboard.py · README.md (The dashboard) · runs on localhost:8501, on the machine that collects</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06</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45920"/>
            <a:ext cx="5577840" cy="4526280"/>
          </a:xfrm>
          <a:prstGeom prst="roundRect">
            <a:avLst>
              <a:gd name="adj" fmla="val 1616"/>
            </a:avLst>
          </a:prstGeom>
          <a:solidFill>
            <a:srgbClr val="0E141B"/>
          </a:solidFill>
          <a:ln w="9525">
            <a:solidFill>
              <a:srgbClr val="2A3646"/>
            </a:solidFill>
            <a:prstDash val="solid"/>
          </a:ln>
        </p:spPr>
        <p:txBody>
          <a:bodyPr/>
          <a:lstStyle/>
          <a:p>
            <a:endParaRPr lang="en-US"/>
          </a:p>
        </p:txBody>
      </p:sp>
      <p:sp>
        <p:nvSpPr>
          <p:cNvPr id="7" name="Text 5"/>
          <p:cNvSpPr txBox="1"/>
          <p:nvPr/>
        </p:nvSpPr>
        <p:spPr>
          <a:xfrm>
            <a:off x="640080" y="1737360"/>
            <a:ext cx="5212080" cy="228600"/>
          </a:xfrm>
          <a:prstGeom prst="rect">
            <a:avLst/>
          </a:prstGeom>
          <a:noFill/>
          <a:ln/>
        </p:spPr>
        <p:txBody>
          <a:bodyPr wrap="square" lIns="0" tIns="0" rIns="0" bIns="0" rtlCol="0" anchor="t"/>
          <a:lstStyle/>
          <a:p>
            <a:pPr marL="0" indent="0">
              <a:buNone/>
            </a:pPr>
            <a:r>
              <a:rPr lang="en-US" sz="1000" dirty="0">
                <a:solidFill>
                  <a:srgbClr val="93A1B3"/>
                </a:solidFill>
                <a:latin typeface="Consolas" pitchFamily="34" charset="0"/>
                <a:ea typeface="Consolas" pitchFamily="34" charset="-122"/>
                <a:cs typeface="Consolas" pitchFamily="34" charset="-120"/>
              </a:rPr>
              <a:t>SCHEMATIC  ·  the real numbers are in the live demo</a:t>
            </a:r>
            <a:endParaRPr lang="en-US" sz="1000" dirty="0"/>
          </a:p>
        </p:txBody>
      </p:sp>
      <p:sp>
        <p:nvSpPr>
          <p:cNvPr id="8" name="Status line"/>
          <p:cNvSpPr/>
          <p:nvPr/>
        </p:nvSpPr>
        <p:spPr>
          <a:xfrm>
            <a:off x="640080" y="2057400"/>
            <a:ext cx="4800600" cy="274320"/>
          </a:xfrm>
          <a:prstGeom prst="rect">
            <a:avLst/>
          </a:prstGeom>
          <a:solidFill>
            <a:srgbClr val="1A2330"/>
          </a:solidFill>
          <a:ln/>
        </p:spPr>
        <p:txBody>
          <a:bodyPr/>
          <a:lstStyle/>
          <a:p>
            <a:endParaRPr lang="en-US"/>
          </a:p>
        </p:txBody>
      </p:sp>
      <p:sp>
        <p:nvSpPr>
          <p:cNvPr id="9" name="Marker 1"/>
          <p:cNvSpPr/>
          <p:nvPr/>
        </p:nvSpPr>
        <p:spPr>
          <a:xfrm>
            <a:off x="5532120" y="2029968"/>
            <a:ext cx="329184" cy="329184"/>
          </a:xfrm>
          <a:prstGeom prst="ellipse">
            <a:avLst/>
          </a:prstGeom>
          <a:solidFill>
            <a:srgbClr val="FFB000"/>
          </a:solidFill>
          <a:ln/>
        </p:spPr>
        <p:txBody>
          <a:bodyPr/>
          <a:lstStyle/>
          <a:p>
            <a:endParaRPr lang="en-US"/>
          </a:p>
        </p:txBody>
      </p:sp>
      <p:sp>
        <p:nvSpPr>
          <p:cNvPr id="10" name="Text 8"/>
          <p:cNvSpPr txBox="1"/>
          <p:nvPr/>
        </p:nvSpPr>
        <p:spPr>
          <a:xfrm>
            <a:off x="5532120" y="2029968"/>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1</a:t>
            </a:r>
            <a:endParaRPr lang="en-US" sz="1300" dirty="0"/>
          </a:p>
        </p:txBody>
      </p:sp>
      <p:sp>
        <p:nvSpPr>
          <p:cNvPr id="11" name="Warning"/>
          <p:cNvSpPr/>
          <p:nvPr/>
        </p:nvSpPr>
        <p:spPr>
          <a:xfrm>
            <a:off x="640080" y="2423160"/>
            <a:ext cx="4800600" cy="237744"/>
          </a:xfrm>
          <a:prstGeom prst="rect">
            <a:avLst/>
          </a:prstGeom>
          <a:solidFill>
            <a:srgbClr val="2A1F05"/>
          </a:solidFill>
          <a:ln/>
        </p:spPr>
        <p:txBody>
          <a:bodyPr/>
          <a:lstStyle/>
          <a:p>
            <a:endParaRPr lang="en-US"/>
          </a:p>
        </p:txBody>
      </p:sp>
      <p:sp>
        <p:nvSpPr>
          <p:cNvPr id="12" name="Text 10"/>
          <p:cNvSpPr txBox="1"/>
          <p:nvPr/>
        </p:nvSpPr>
        <p:spPr>
          <a:xfrm>
            <a:off x="731520" y="2423160"/>
            <a:ext cx="4663440" cy="237744"/>
          </a:xfrm>
          <a:prstGeom prst="rect">
            <a:avLst/>
          </a:prstGeom>
          <a:noFill/>
          <a:ln/>
        </p:spPr>
        <p:txBody>
          <a:bodyPr wrap="square" lIns="0" tIns="0" rIns="0" bIns="0" rtlCol="0" anchor="ctr"/>
          <a:lstStyle/>
          <a:p>
            <a:pPr marL="0" indent="0">
              <a:buNone/>
            </a:pPr>
            <a:r>
              <a:rPr lang="en-US" sz="1000" dirty="0">
                <a:solidFill>
                  <a:srgbClr val="FFB000"/>
                </a:solidFill>
                <a:latin typeface="Segoe UI" pitchFamily="34" charset="0"/>
                <a:ea typeface="Segoe UI" pitchFamily="34" charset="-122"/>
                <a:cs typeface="Segoe UI" pitchFamily="34" charset="-120"/>
              </a:rPr>
              <a:t>No alarm does not mean no risk.</a:t>
            </a:r>
            <a:endParaRPr lang="en-US" sz="1000" dirty="0"/>
          </a:p>
        </p:txBody>
      </p:sp>
      <p:sp>
        <p:nvSpPr>
          <p:cNvPr id="13" name="Chart area"/>
          <p:cNvSpPr/>
          <p:nvPr/>
        </p:nvSpPr>
        <p:spPr>
          <a:xfrm>
            <a:off x="640080" y="2788920"/>
            <a:ext cx="4800600" cy="1325880"/>
          </a:xfrm>
          <a:prstGeom prst="rect">
            <a:avLst/>
          </a:prstGeom>
          <a:solidFill>
            <a:srgbClr val="121922"/>
          </a:solidFill>
          <a:ln/>
        </p:spPr>
        <p:txBody>
          <a:bodyPr/>
          <a:lstStyle/>
          <a:p>
            <a:endParaRPr lang="en-US"/>
          </a:p>
        </p:txBody>
      </p:sp>
      <p:sp>
        <p:nvSpPr>
          <p:cNvPr id="14" name="Illustrative bar"/>
          <p:cNvSpPr/>
          <p:nvPr/>
        </p:nvSpPr>
        <p:spPr>
          <a:xfrm>
            <a:off x="725805" y="3986784"/>
            <a:ext cx="171450" cy="128016"/>
          </a:xfrm>
          <a:prstGeom prst="rect">
            <a:avLst/>
          </a:prstGeom>
          <a:solidFill>
            <a:srgbClr val="34465C"/>
          </a:solidFill>
          <a:ln/>
        </p:spPr>
        <p:txBody>
          <a:bodyPr/>
          <a:lstStyle/>
          <a:p>
            <a:endParaRPr lang="en-US"/>
          </a:p>
        </p:txBody>
      </p:sp>
      <p:sp>
        <p:nvSpPr>
          <p:cNvPr id="15" name="Illustrative bar"/>
          <p:cNvSpPr/>
          <p:nvPr/>
        </p:nvSpPr>
        <p:spPr>
          <a:xfrm>
            <a:off x="1068705" y="3890772"/>
            <a:ext cx="171450" cy="224028"/>
          </a:xfrm>
          <a:prstGeom prst="rect">
            <a:avLst/>
          </a:prstGeom>
          <a:solidFill>
            <a:srgbClr val="34465C"/>
          </a:solidFill>
          <a:ln/>
        </p:spPr>
        <p:txBody>
          <a:bodyPr/>
          <a:lstStyle/>
          <a:p>
            <a:endParaRPr lang="en-US"/>
          </a:p>
        </p:txBody>
      </p:sp>
      <p:sp>
        <p:nvSpPr>
          <p:cNvPr id="16" name="Illustrative bar"/>
          <p:cNvSpPr/>
          <p:nvPr/>
        </p:nvSpPr>
        <p:spPr>
          <a:xfrm>
            <a:off x="1411605" y="3954780"/>
            <a:ext cx="171450" cy="160020"/>
          </a:xfrm>
          <a:prstGeom prst="rect">
            <a:avLst/>
          </a:prstGeom>
          <a:solidFill>
            <a:srgbClr val="34465C"/>
          </a:solidFill>
          <a:ln/>
        </p:spPr>
        <p:txBody>
          <a:bodyPr/>
          <a:lstStyle/>
          <a:p>
            <a:endParaRPr lang="en-US"/>
          </a:p>
        </p:txBody>
      </p:sp>
      <p:sp>
        <p:nvSpPr>
          <p:cNvPr id="17" name="Illustrative bar"/>
          <p:cNvSpPr/>
          <p:nvPr/>
        </p:nvSpPr>
        <p:spPr>
          <a:xfrm>
            <a:off x="1754505" y="3922776"/>
            <a:ext cx="171450" cy="192024"/>
          </a:xfrm>
          <a:prstGeom prst="rect">
            <a:avLst/>
          </a:prstGeom>
          <a:solidFill>
            <a:srgbClr val="34465C"/>
          </a:solidFill>
          <a:ln/>
        </p:spPr>
        <p:txBody>
          <a:bodyPr/>
          <a:lstStyle/>
          <a:p>
            <a:endParaRPr lang="en-US"/>
          </a:p>
        </p:txBody>
      </p:sp>
      <p:sp>
        <p:nvSpPr>
          <p:cNvPr id="18" name="Illustrative bar"/>
          <p:cNvSpPr/>
          <p:nvPr/>
        </p:nvSpPr>
        <p:spPr>
          <a:xfrm>
            <a:off x="2097405" y="3826764"/>
            <a:ext cx="171450" cy="288036"/>
          </a:xfrm>
          <a:prstGeom prst="rect">
            <a:avLst/>
          </a:prstGeom>
          <a:solidFill>
            <a:srgbClr val="34465C"/>
          </a:solidFill>
          <a:ln/>
        </p:spPr>
        <p:txBody>
          <a:bodyPr/>
          <a:lstStyle/>
          <a:p>
            <a:endParaRPr lang="en-US"/>
          </a:p>
        </p:txBody>
      </p:sp>
      <p:sp>
        <p:nvSpPr>
          <p:cNvPr id="19" name="Illustrative bar"/>
          <p:cNvSpPr/>
          <p:nvPr/>
        </p:nvSpPr>
        <p:spPr>
          <a:xfrm>
            <a:off x="2440305" y="3922776"/>
            <a:ext cx="171450" cy="192024"/>
          </a:xfrm>
          <a:prstGeom prst="rect">
            <a:avLst/>
          </a:prstGeom>
          <a:solidFill>
            <a:srgbClr val="34465C"/>
          </a:solidFill>
          <a:ln/>
        </p:spPr>
        <p:txBody>
          <a:bodyPr/>
          <a:lstStyle/>
          <a:p>
            <a:endParaRPr lang="en-US"/>
          </a:p>
        </p:txBody>
      </p:sp>
      <p:sp>
        <p:nvSpPr>
          <p:cNvPr id="20" name="Illustrative bar"/>
          <p:cNvSpPr/>
          <p:nvPr/>
        </p:nvSpPr>
        <p:spPr>
          <a:xfrm>
            <a:off x="2783205" y="3858768"/>
            <a:ext cx="171450" cy="256032"/>
          </a:xfrm>
          <a:prstGeom prst="rect">
            <a:avLst/>
          </a:prstGeom>
          <a:solidFill>
            <a:srgbClr val="34465C"/>
          </a:solidFill>
          <a:ln/>
        </p:spPr>
        <p:txBody>
          <a:bodyPr/>
          <a:lstStyle/>
          <a:p>
            <a:endParaRPr lang="en-US"/>
          </a:p>
        </p:txBody>
      </p:sp>
      <p:sp>
        <p:nvSpPr>
          <p:cNvPr id="21" name="Illustrative bar"/>
          <p:cNvSpPr/>
          <p:nvPr/>
        </p:nvSpPr>
        <p:spPr>
          <a:xfrm>
            <a:off x="3126105" y="3954780"/>
            <a:ext cx="171450" cy="160020"/>
          </a:xfrm>
          <a:prstGeom prst="rect">
            <a:avLst/>
          </a:prstGeom>
          <a:solidFill>
            <a:srgbClr val="34465C"/>
          </a:solidFill>
          <a:ln/>
        </p:spPr>
        <p:txBody>
          <a:bodyPr/>
          <a:lstStyle/>
          <a:p>
            <a:endParaRPr lang="en-US"/>
          </a:p>
        </p:txBody>
      </p:sp>
      <p:sp>
        <p:nvSpPr>
          <p:cNvPr id="22" name="Illustrative bar"/>
          <p:cNvSpPr/>
          <p:nvPr/>
        </p:nvSpPr>
        <p:spPr>
          <a:xfrm>
            <a:off x="3469005" y="3890772"/>
            <a:ext cx="171450" cy="224028"/>
          </a:xfrm>
          <a:prstGeom prst="rect">
            <a:avLst/>
          </a:prstGeom>
          <a:solidFill>
            <a:srgbClr val="34465C"/>
          </a:solidFill>
          <a:ln/>
        </p:spPr>
        <p:txBody>
          <a:bodyPr/>
          <a:lstStyle/>
          <a:p>
            <a:endParaRPr lang="en-US"/>
          </a:p>
        </p:txBody>
      </p:sp>
      <p:sp>
        <p:nvSpPr>
          <p:cNvPr id="23" name="Illustrative bar"/>
          <p:cNvSpPr/>
          <p:nvPr/>
        </p:nvSpPr>
        <p:spPr>
          <a:xfrm>
            <a:off x="3811905" y="3794760"/>
            <a:ext cx="171450" cy="320040"/>
          </a:xfrm>
          <a:prstGeom prst="rect">
            <a:avLst/>
          </a:prstGeom>
          <a:solidFill>
            <a:srgbClr val="34465C"/>
          </a:solidFill>
          <a:ln/>
        </p:spPr>
        <p:txBody>
          <a:bodyPr/>
          <a:lstStyle/>
          <a:p>
            <a:endParaRPr lang="en-US"/>
          </a:p>
        </p:txBody>
      </p:sp>
      <p:sp>
        <p:nvSpPr>
          <p:cNvPr id="24" name="Illustrative bar"/>
          <p:cNvSpPr/>
          <p:nvPr/>
        </p:nvSpPr>
        <p:spPr>
          <a:xfrm>
            <a:off x="4154805" y="3922776"/>
            <a:ext cx="171450" cy="192024"/>
          </a:xfrm>
          <a:prstGeom prst="rect">
            <a:avLst/>
          </a:prstGeom>
          <a:solidFill>
            <a:srgbClr val="34465C"/>
          </a:solidFill>
          <a:ln/>
        </p:spPr>
        <p:txBody>
          <a:bodyPr/>
          <a:lstStyle/>
          <a:p>
            <a:endParaRPr lang="en-US"/>
          </a:p>
        </p:txBody>
      </p:sp>
      <p:sp>
        <p:nvSpPr>
          <p:cNvPr id="25" name="Illustrative bar"/>
          <p:cNvSpPr/>
          <p:nvPr/>
        </p:nvSpPr>
        <p:spPr>
          <a:xfrm>
            <a:off x="4497705" y="3954780"/>
            <a:ext cx="171450" cy="160020"/>
          </a:xfrm>
          <a:prstGeom prst="rect">
            <a:avLst/>
          </a:prstGeom>
          <a:solidFill>
            <a:srgbClr val="34465C"/>
          </a:solidFill>
          <a:ln/>
        </p:spPr>
        <p:txBody>
          <a:bodyPr/>
          <a:lstStyle/>
          <a:p>
            <a:endParaRPr lang="en-US"/>
          </a:p>
        </p:txBody>
      </p:sp>
      <p:sp>
        <p:nvSpPr>
          <p:cNvPr id="26" name="Illustrative bar"/>
          <p:cNvSpPr/>
          <p:nvPr/>
        </p:nvSpPr>
        <p:spPr>
          <a:xfrm>
            <a:off x="4840605" y="3890772"/>
            <a:ext cx="171450" cy="224028"/>
          </a:xfrm>
          <a:prstGeom prst="rect">
            <a:avLst/>
          </a:prstGeom>
          <a:solidFill>
            <a:srgbClr val="34465C"/>
          </a:solidFill>
          <a:ln/>
        </p:spPr>
        <p:txBody>
          <a:bodyPr/>
          <a:lstStyle/>
          <a:p>
            <a:endParaRPr lang="en-US"/>
          </a:p>
        </p:txBody>
      </p:sp>
      <p:sp>
        <p:nvSpPr>
          <p:cNvPr id="27" name="Illustrative bar"/>
          <p:cNvSpPr/>
          <p:nvPr/>
        </p:nvSpPr>
        <p:spPr>
          <a:xfrm>
            <a:off x="5183505" y="3922776"/>
            <a:ext cx="171450" cy="192024"/>
          </a:xfrm>
          <a:prstGeom prst="rect">
            <a:avLst/>
          </a:prstGeom>
          <a:solidFill>
            <a:srgbClr val="34465C"/>
          </a:solidFill>
          <a:ln/>
        </p:spPr>
        <p:txBody>
          <a:bodyPr/>
          <a:lstStyle/>
          <a:p>
            <a:endParaRPr lang="en-US"/>
          </a:p>
        </p:txBody>
      </p:sp>
      <p:sp>
        <p:nvSpPr>
          <p:cNvPr id="28" name="Illustrative line"/>
          <p:cNvSpPr/>
          <p:nvPr/>
        </p:nvSpPr>
        <p:spPr>
          <a:xfrm flipV="1">
            <a:off x="811530" y="3307842"/>
            <a:ext cx="342900" cy="116586"/>
          </a:xfrm>
          <a:prstGeom prst="line">
            <a:avLst/>
          </a:prstGeom>
          <a:noFill/>
          <a:ln w="25400">
            <a:solidFill>
              <a:srgbClr val="FFB000"/>
            </a:solidFill>
            <a:prstDash val="solid"/>
          </a:ln>
        </p:spPr>
        <p:txBody>
          <a:bodyPr/>
          <a:lstStyle/>
          <a:p>
            <a:endParaRPr lang="en-US"/>
          </a:p>
        </p:txBody>
      </p:sp>
      <p:sp>
        <p:nvSpPr>
          <p:cNvPr id="29" name="Illustrative line"/>
          <p:cNvSpPr/>
          <p:nvPr/>
        </p:nvSpPr>
        <p:spPr>
          <a:xfrm>
            <a:off x="1154430" y="3307842"/>
            <a:ext cx="342900" cy="77724"/>
          </a:xfrm>
          <a:prstGeom prst="line">
            <a:avLst/>
          </a:prstGeom>
          <a:noFill/>
          <a:ln w="25400">
            <a:solidFill>
              <a:srgbClr val="FFB000"/>
            </a:solidFill>
            <a:prstDash val="solid"/>
          </a:ln>
        </p:spPr>
        <p:txBody>
          <a:bodyPr/>
          <a:lstStyle/>
          <a:p>
            <a:endParaRPr lang="en-US"/>
          </a:p>
        </p:txBody>
      </p:sp>
      <p:sp>
        <p:nvSpPr>
          <p:cNvPr id="30" name="Illustrative line"/>
          <p:cNvSpPr/>
          <p:nvPr/>
        </p:nvSpPr>
        <p:spPr>
          <a:xfrm flipV="1">
            <a:off x="1497330" y="3191256"/>
            <a:ext cx="342900" cy="194310"/>
          </a:xfrm>
          <a:prstGeom prst="line">
            <a:avLst/>
          </a:prstGeom>
          <a:noFill/>
          <a:ln w="25400">
            <a:solidFill>
              <a:srgbClr val="FFB000"/>
            </a:solidFill>
            <a:prstDash val="solid"/>
          </a:ln>
        </p:spPr>
        <p:txBody>
          <a:bodyPr/>
          <a:lstStyle/>
          <a:p>
            <a:endParaRPr lang="en-US"/>
          </a:p>
        </p:txBody>
      </p:sp>
      <p:sp>
        <p:nvSpPr>
          <p:cNvPr id="31" name="Illustrative line"/>
          <p:cNvSpPr/>
          <p:nvPr/>
        </p:nvSpPr>
        <p:spPr>
          <a:xfrm>
            <a:off x="1840230" y="3191256"/>
            <a:ext cx="342900" cy="155448"/>
          </a:xfrm>
          <a:prstGeom prst="line">
            <a:avLst/>
          </a:prstGeom>
          <a:noFill/>
          <a:ln w="25400">
            <a:solidFill>
              <a:srgbClr val="FFB000"/>
            </a:solidFill>
            <a:prstDash val="solid"/>
          </a:ln>
        </p:spPr>
        <p:txBody>
          <a:bodyPr/>
          <a:lstStyle/>
          <a:p>
            <a:endParaRPr lang="en-US"/>
          </a:p>
        </p:txBody>
      </p:sp>
      <p:sp>
        <p:nvSpPr>
          <p:cNvPr id="32" name="Illustrative line"/>
          <p:cNvSpPr/>
          <p:nvPr/>
        </p:nvSpPr>
        <p:spPr>
          <a:xfrm flipV="1">
            <a:off x="2183130" y="3268980"/>
            <a:ext cx="342900" cy="77724"/>
          </a:xfrm>
          <a:prstGeom prst="line">
            <a:avLst/>
          </a:prstGeom>
          <a:noFill/>
          <a:ln w="25400">
            <a:solidFill>
              <a:srgbClr val="FFB000"/>
            </a:solidFill>
            <a:prstDash val="solid"/>
          </a:ln>
        </p:spPr>
        <p:txBody>
          <a:bodyPr/>
          <a:lstStyle/>
          <a:p>
            <a:endParaRPr lang="en-US"/>
          </a:p>
        </p:txBody>
      </p:sp>
      <p:sp>
        <p:nvSpPr>
          <p:cNvPr id="33" name="Illustrative line"/>
          <p:cNvSpPr/>
          <p:nvPr/>
        </p:nvSpPr>
        <p:spPr>
          <a:xfrm flipV="1">
            <a:off x="2526030" y="2996946"/>
            <a:ext cx="342900" cy="272034"/>
          </a:xfrm>
          <a:prstGeom prst="line">
            <a:avLst/>
          </a:prstGeom>
          <a:noFill/>
          <a:ln w="25400">
            <a:solidFill>
              <a:srgbClr val="FFB000"/>
            </a:solidFill>
            <a:prstDash val="solid"/>
          </a:ln>
        </p:spPr>
        <p:txBody>
          <a:bodyPr/>
          <a:lstStyle/>
          <a:p>
            <a:endParaRPr lang="en-US"/>
          </a:p>
        </p:txBody>
      </p:sp>
      <p:sp>
        <p:nvSpPr>
          <p:cNvPr id="34" name="Illustrative line"/>
          <p:cNvSpPr/>
          <p:nvPr/>
        </p:nvSpPr>
        <p:spPr>
          <a:xfrm>
            <a:off x="2868930" y="2996946"/>
            <a:ext cx="342900" cy="233172"/>
          </a:xfrm>
          <a:prstGeom prst="line">
            <a:avLst/>
          </a:prstGeom>
          <a:noFill/>
          <a:ln w="25400">
            <a:solidFill>
              <a:srgbClr val="FFB000"/>
            </a:solidFill>
            <a:prstDash val="solid"/>
          </a:ln>
        </p:spPr>
        <p:txBody>
          <a:bodyPr/>
          <a:lstStyle/>
          <a:p>
            <a:endParaRPr lang="en-US"/>
          </a:p>
        </p:txBody>
      </p:sp>
      <p:sp>
        <p:nvSpPr>
          <p:cNvPr id="35" name="Illustrative line"/>
          <p:cNvSpPr/>
          <p:nvPr/>
        </p:nvSpPr>
        <p:spPr>
          <a:xfrm>
            <a:off x="3211830" y="3230118"/>
            <a:ext cx="342900" cy="116586"/>
          </a:xfrm>
          <a:prstGeom prst="line">
            <a:avLst/>
          </a:prstGeom>
          <a:noFill/>
          <a:ln w="25400">
            <a:solidFill>
              <a:srgbClr val="FFB000"/>
            </a:solidFill>
            <a:prstDash val="solid"/>
          </a:ln>
        </p:spPr>
        <p:txBody>
          <a:bodyPr/>
          <a:lstStyle/>
          <a:p>
            <a:endParaRPr lang="en-US"/>
          </a:p>
        </p:txBody>
      </p:sp>
      <p:sp>
        <p:nvSpPr>
          <p:cNvPr id="36" name="Illustrative line"/>
          <p:cNvSpPr/>
          <p:nvPr/>
        </p:nvSpPr>
        <p:spPr>
          <a:xfrm flipV="1">
            <a:off x="3554730" y="3307842"/>
            <a:ext cx="342900" cy="38862"/>
          </a:xfrm>
          <a:prstGeom prst="line">
            <a:avLst/>
          </a:prstGeom>
          <a:noFill/>
          <a:ln w="25400">
            <a:solidFill>
              <a:srgbClr val="FFB000"/>
            </a:solidFill>
            <a:prstDash val="solid"/>
          </a:ln>
        </p:spPr>
        <p:txBody>
          <a:bodyPr/>
          <a:lstStyle/>
          <a:p>
            <a:endParaRPr lang="en-US"/>
          </a:p>
        </p:txBody>
      </p:sp>
      <p:sp>
        <p:nvSpPr>
          <p:cNvPr id="37" name="Illustrative line"/>
          <p:cNvSpPr/>
          <p:nvPr/>
        </p:nvSpPr>
        <p:spPr>
          <a:xfrm>
            <a:off x="3897630" y="3307842"/>
            <a:ext cx="342900" cy="116586"/>
          </a:xfrm>
          <a:prstGeom prst="line">
            <a:avLst/>
          </a:prstGeom>
          <a:noFill/>
          <a:ln w="25400">
            <a:solidFill>
              <a:srgbClr val="FFB000"/>
            </a:solidFill>
            <a:prstDash val="solid"/>
          </a:ln>
        </p:spPr>
        <p:txBody>
          <a:bodyPr/>
          <a:lstStyle/>
          <a:p>
            <a:endParaRPr lang="en-US"/>
          </a:p>
        </p:txBody>
      </p:sp>
      <p:sp>
        <p:nvSpPr>
          <p:cNvPr id="38" name="Illustrative line"/>
          <p:cNvSpPr/>
          <p:nvPr/>
        </p:nvSpPr>
        <p:spPr>
          <a:xfrm flipV="1">
            <a:off x="4240530" y="3268980"/>
            <a:ext cx="342900" cy="155448"/>
          </a:xfrm>
          <a:prstGeom prst="line">
            <a:avLst/>
          </a:prstGeom>
          <a:noFill/>
          <a:ln w="25400">
            <a:solidFill>
              <a:srgbClr val="FFB000"/>
            </a:solidFill>
            <a:prstDash val="solid"/>
          </a:ln>
        </p:spPr>
        <p:txBody>
          <a:bodyPr/>
          <a:lstStyle/>
          <a:p>
            <a:endParaRPr lang="en-US"/>
          </a:p>
        </p:txBody>
      </p:sp>
      <p:sp>
        <p:nvSpPr>
          <p:cNvPr id="39" name="Illustrative line"/>
          <p:cNvSpPr/>
          <p:nvPr/>
        </p:nvSpPr>
        <p:spPr>
          <a:xfrm>
            <a:off x="4583430" y="3268980"/>
            <a:ext cx="342900" cy="62179"/>
          </a:xfrm>
          <a:prstGeom prst="line">
            <a:avLst/>
          </a:prstGeom>
          <a:noFill/>
          <a:ln w="25400">
            <a:solidFill>
              <a:srgbClr val="FFB000"/>
            </a:solidFill>
            <a:prstDash val="solid"/>
          </a:ln>
        </p:spPr>
        <p:txBody>
          <a:bodyPr/>
          <a:lstStyle/>
          <a:p>
            <a:endParaRPr lang="en-US"/>
          </a:p>
        </p:txBody>
      </p:sp>
      <p:sp>
        <p:nvSpPr>
          <p:cNvPr id="40" name="Illustrative line"/>
          <p:cNvSpPr/>
          <p:nvPr/>
        </p:nvSpPr>
        <p:spPr>
          <a:xfrm>
            <a:off x="4926330" y="3331159"/>
            <a:ext cx="342900" cy="31090"/>
          </a:xfrm>
          <a:prstGeom prst="line">
            <a:avLst/>
          </a:prstGeom>
          <a:noFill/>
          <a:ln w="25400">
            <a:solidFill>
              <a:srgbClr val="FFB000"/>
            </a:solidFill>
            <a:prstDash val="solid"/>
          </a:ln>
        </p:spPr>
        <p:txBody>
          <a:bodyPr/>
          <a:lstStyle/>
          <a:p>
            <a:endParaRPr lang="en-US"/>
          </a:p>
        </p:txBody>
      </p:sp>
      <p:sp>
        <p:nvSpPr>
          <p:cNvPr id="41" name="Peak point"/>
          <p:cNvSpPr/>
          <p:nvPr/>
        </p:nvSpPr>
        <p:spPr>
          <a:xfrm>
            <a:off x="2795778" y="2923794"/>
            <a:ext cx="146304" cy="146304"/>
          </a:xfrm>
          <a:prstGeom prst="ellipse">
            <a:avLst/>
          </a:prstGeom>
          <a:solidFill>
            <a:srgbClr val="FF453A"/>
          </a:solidFill>
          <a:ln/>
        </p:spPr>
        <p:txBody>
          <a:bodyPr/>
          <a:lstStyle/>
          <a:p>
            <a:endParaRPr lang="en-US"/>
          </a:p>
        </p:txBody>
      </p:sp>
      <p:sp>
        <p:nvSpPr>
          <p:cNvPr id="42" name="Marker 2"/>
          <p:cNvSpPr/>
          <p:nvPr/>
        </p:nvSpPr>
        <p:spPr>
          <a:xfrm>
            <a:off x="5532120" y="2834640"/>
            <a:ext cx="329184" cy="329184"/>
          </a:xfrm>
          <a:prstGeom prst="ellipse">
            <a:avLst/>
          </a:prstGeom>
          <a:solidFill>
            <a:srgbClr val="FFB000"/>
          </a:solidFill>
          <a:ln/>
        </p:spPr>
        <p:txBody>
          <a:bodyPr/>
          <a:lstStyle/>
          <a:p>
            <a:endParaRPr lang="en-US"/>
          </a:p>
        </p:txBody>
      </p:sp>
      <p:sp>
        <p:nvSpPr>
          <p:cNvPr id="43" name="Text 41"/>
          <p:cNvSpPr txBox="1"/>
          <p:nvPr/>
        </p:nvSpPr>
        <p:spPr>
          <a:xfrm>
            <a:off x="5532120" y="2834640"/>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2</a:t>
            </a:r>
            <a:endParaRPr lang="en-US" sz="1300" dirty="0"/>
          </a:p>
        </p:txBody>
      </p:sp>
      <p:sp>
        <p:nvSpPr>
          <p:cNvPr id="44" name="Table row"/>
          <p:cNvSpPr/>
          <p:nvPr/>
        </p:nvSpPr>
        <p:spPr>
          <a:xfrm>
            <a:off x="640080" y="4251960"/>
            <a:ext cx="3017520" cy="173736"/>
          </a:xfrm>
          <a:prstGeom prst="rect">
            <a:avLst/>
          </a:prstGeom>
          <a:solidFill>
            <a:srgbClr val="34465C"/>
          </a:solidFill>
          <a:ln/>
        </p:spPr>
        <p:txBody>
          <a:bodyPr/>
          <a:lstStyle/>
          <a:p>
            <a:endParaRPr lang="en-US"/>
          </a:p>
        </p:txBody>
      </p:sp>
      <p:sp>
        <p:nvSpPr>
          <p:cNvPr id="45" name="Table row"/>
          <p:cNvSpPr/>
          <p:nvPr/>
        </p:nvSpPr>
        <p:spPr>
          <a:xfrm>
            <a:off x="640080" y="4471416"/>
            <a:ext cx="3017520" cy="173736"/>
          </a:xfrm>
          <a:prstGeom prst="rect">
            <a:avLst/>
          </a:prstGeom>
          <a:solidFill>
            <a:srgbClr val="1A2330"/>
          </a:solidFill>
          <a:ln/>
        </p:spPr>
        <p:txBody>
          <a:bodyPr/>
          <a:lstStyle/>
          <a:p>
            <a:endParaRPr lang="en-US"/>
          </a:p>
        </p:txBody>
      </p:sp>
      <p:sp>
        <p:nvSpPr>
          <p:cNvPr id="46" name="Table row"/>
          <p:cNvSpPr/>
          <p:nvPr/>
        </p:nvSpPr>
        <p:spPr>
          <a:xfrm>
            <a:off x="640080" y="4690872"/>
            <a:ext cx="3017520" cy="173736"/>
          </a:xfrm>
          <a:prstGeom prst="rect">
            <a:avLst/>
          </a:prstGeom>
          <a:solidFill>
            <a:srgbClr val="1A2330"/>
          </a:solidFill>
          <a:ln/>
        </p:spPr>
        <p:txBody>
          <a:bodyPr/>
          <a:lstStyle/>
          <a:p>
            <a:endParaRPr lang="en-US"/>
          </a:p>
        </p:txBody>
      </p:sp>
      <p:sp>
        <p:nvSpPr>
          <p:cNvPr id="47" name="Table row"/>
          <p:cNvSpPr/>
          <p:nvPr/>
        </p:nvSpPr>
        <p:spPr>
          <a:xfrm>
            <a:off x="640080" y="4910328"/>
            <a:ext cx="3017520" cy="173736"/>
          </a:xfrm>
          <a:prstGeom prst="rect">
            <a:avLst/>
          </a:prstGeom>
          <a:solidFill>
            <a:srgbClr val="1A2330"/>
          </a:solidFill>
          <a:ln/>
        </p:spPr>
        <p:txBody>
          <a:bodyPr/>
          <a:lstStyle/>
          <a:p>
            <a:endParaRPr lang="en-US"/>
          </a:p>
        </p:txBody>
      </p:sp>
      <p:sp>
        <p:nvSpPr>
          <p:cNvPr id="48" name="Table row"/>
          <p:cNvSpPr/>
          <p:nvPr/>
        </p:nvSpPr>
        <p:spPr>
          <a:xfrm>
            <a:off x="640080" y="5129784"/>
            <a:ext cx="3017520" cy="173736"/>
          </a:xfrm>
          <a:prstGeom prst="rect">
            <a:avLst/>
          </a:prstGeom>
          <a:solidFill>
            <a:srgbClr val="1A2330"/>
          </a:solidFill>
          <a:ln/>
        </p:spPr>
        <p:txBody>
          <a:bodyPr/>
          <a:lstStyle/>
          <a:p>
            <a:endParaRPr lang="en-US"/>
          </a:p>
        </p:txBody>
      </p:sp>
      <p:sp>
        <p:nvSpPr>
          <p:cNvPr id="49" name="Marker 3"/>
          <p:cNvSpPr/>
          <p:nvPr/>
        </p:nvSpPr>
        <p:spPr>
          <a:xfrm>
            <a:off x="3493008" y="4069080"/>
            <a:ext cx="329184" cy="329184"/>
          </a:xfrm>
          <a:prstGeom prst="ellipse">
            <a:avLst/>
          </a:prstGeom>
          <a:solidFill>
            <a:srgbClr val="FFB000"/>
          </a:solidFill>
          <a:ln/>
        </p:spPr>
        <p:txBody>
          <a:bodyPr/>
          <a:lstStyle/>
          <a:p>
            <a:endParaRPr lang="en-US"/>
          </a:p>
        </p:txBody>
      </p:sp>
      <p:sp>
        <p:nvSpPr>
          <p:cNvPr id="50" name="Text 48"/>
          <p:cNvSpPr txBox="1"/>
          <p:nvPr/>
        </p:nvSpPr>
        <p:spPr>
          <a:xfrm>
            <a:off x="3493008" y="4069080"/>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3</a:t>
            </a:r>
            <a:endParaRPr lang="en-US" sz="1300" dirty="0"/>
          </a:p>
        </p:txBody>
      </p:sp>
      <p:sp>
        <p:nvSpPr>
          <p:cNvPr id="51" name="Scatter area"/>
          <p:cNvSpPr/>
          <p:nvPr/>
        </p:nvSpPr>
        <p:spPr>
          <a:xfrm>
            <a:off x="3886200" y="4251960"/>
            <a:ext cx="1554480" cy="1051560"/>
          </a:xfrm>
          <a:prstGeom prst="rect">
            <a:avLst/>
          </a:prstGeom>
          <a:solidFill>
            <a:srgbClr val="121922"/>
          </a:solidFill>
          <a:ln/>
        </p:spPr>
        <p:txBody>
          <a:bodyPr/>
          <a:lstStyle/>
          <a:p>
            <a:endParaRPr lang="en-US"/>
          </a:p>
        </p:txBody>
      </p:sp>
      <p:sp>
        <p:nvSpPr>
          <p:cNvPr id="52" name="Illustrative point"/>
          <p:cNvSpPr/>
          <p:nvPr/>
        </p:nvSpPr>
        <p:spPr>
          <a:xfrm>
            <a:off x="4151376" y="4956048"/>
            <a:ext cx="91440" cy="91440"/>
          </a:xfrm>
          <a:prstGeom prst="ellipse">
            <a:avLst/>
          </a:prstGeom>
          <a:solidFill>
            <a:srgbClr val="7AA2C8"/>
          </a:solidFill>
          <a:ln/>
        </p:spPr>
        <p:txBody>
          <a:bodyPr/>
          <a:lstStyle/>
          <a:p>
            <a:endParaRPr lang="en-US"/>
          </a:p>
        </p:txBody>
      </p:sp>
      <p:sp>
        <p:nvSpPr>
          <p:cNvPr id="53" name="Illustrative point"/>
          <p:cNvSpPr/>
          <p:nvPr/>
        </p:nvSpPr>
        <p:spPr>
          <a:xfrm>
            <a:off x="4539996" y="4754880"/>
            <a:ext cx="91440" cy="91440"/>
          </a:xfrm>
          <a:prstGeom prst="ellipse">
            <a:avLst/>
          </a:prstGeom>
          <a:solidFill>
            <a:srgbClr val="7AA2C8"/>
          </a:solidFill>
          <a:ln/>
        </p:spPr>
        <p:txBody>
          <a:bodyPr/>
          <a:lstStyle/>
          <a:p>
            <a:endParaRPr lang="en-US"/>
          </a:p>
        </p:txBody>
      </p:sp>
      <p:sp>
        <p:nvSpPr>
          <p:cNvPr id="54" name="Illustrative point"/>
          <p:cNvSpPr/>
          <p:nvPr/>
        </p:nvSpPr>
        <p:spPr>
          <a:xfrm>
            <a:off x="4928616" y="4553712"/>
            <a:ext cx="91440" cy="91440"/>
          </a:xfrm>
          <a:prstGeom prst="ellipse">
            <a:avLst/>
          </a:prstGeom>
          <a:solidFill>
            <a:srgbClr val="7AA2C8"/>
          </a:solidFill>
          <a:ln/>
        </p:spPr>
        <p:txBody>
          <a:bodyPr/>
          <a:lstStyle/>
          <a:p>
            <a:endParaRPr lang="en-US"/>
          </a:p>
        </p:txBody>
      </p:sp>
      <p:sp>
        <p:nvSpPr>
          <p:cNvPr id="55" name="Illustrative point"/>
          <p:cNvSpPr/>
          <p:nvPr/>
        </p:nvSpPr>
        <p:spPr>
          <a:xfrm>
            <a:off x="4306824" y="4654296"/>
            <a:ext cx="91440" cy="91440"/>
          </a:xfrm>
          <a:prstGeom prst="ellipse">
            <a:avLst/>
          </a:prstGeom>
          <a:solidFill>
            <a:srgbClr val="7AA2C8"/>
          </a:solidFill>
          <a:ln/>
        </p:spPr>
        <p:txBody>
          <a:bodyPr/>
          <a:lstStyle/>
          <a:p>
            <a:endParaRPr lang="en-US"/>
          </a:p>
        </p:txBody>
      </p:sp>
      <p:sp>
        <p:nvSpPr>
          <p:cNvPr id="56" name="Illustrative point"/>
          <p:cNvSpPr/>
          <p:nvPr/>
        </p:nvSpPr>
        <p:spPr>
          <a:xfrm>
            <a:off x="4695444" y="4905756"/>
            <a:ext cx="91440" cy="91440"/>
          </a:xfrm>
          <a:prstGeom prst="ellipse">
            <a:avLst/>
          </a:prstGeom>
          <a:solidFill>
            <a:srgbClr val="7AA2C8"/>
          </a:solidFill>
          <a:ln/>
        </p:spPr>
        <p:txBody>
          <a:bodyPr/>
          <a:lstStyle/>
          <a:p>
            <a:endParaRPr lang="en-US"/>
          </a:p>
        </p:txBody>
      </p:sp>
      <p:sp>
        <p:nvSpPr>
          <p:cNvPr id="57" name="Illustrative point"/>
          <p:cNvSpPr/>
          <p:nvPr/>
        </p:nvSpPr>
        <p:spPr>
          <a:xfrm>
            <a:off x="5161788" y="4402836"/>
            <a:ext cx="91440" cy="91440"/>
          </a:xfrm>
          <a:prstGeom prst="ellipse">
            <a:avLst/>
          </a:prstGeom>
          <a:solidFill>
            <a:srgbClr val="FF453A"/>
          </a:solidFill>
          <a:ln/>
        </p:spPr>
        <p:txBody>
          <a:bodyPr/>
          <a:lstStyle/>
          <a:p>
            <a:endParaRPr lang="en-US"/>
          </a:p>
        </p:txBody>
      </p:sp>
      <p:sp>
        <p:nvSpPr>
          <p:cNvPr id="58" name="Illustrative point"/>
          <p:cNvSpPr/>
          <p:nvPr/>
        </p:nvSpPr>
        <p:spPr>
          <a:xfrm>
            <a:off x="4073652" y="4453128"/>
            <a:ext cx="91440" cy="91440"/>
          </a:xfrm>
          <a:prstGeom prst="ellipse">
            <a:avLst/>
          </a:prstGeom>
          <a:solidFill>
            <a:srgbClr val="7AA2C8"/>
          </a:solidFill>
          <a:ln/>
        </p:spPr>
        <p:txBody>
          <a:bodyPr/>
          <a:lstStyle/>
          <a:p>
            <a:endParaRPr lang="en-US"/>
          </a:p>
        </p:txBody>
      </p:sp>
      <p:sp>
        <p:nvSpPr>
          <p:cNvPr id="59" name="Marker 4"/>
          <p:cNvSpPr/>
          <p:nvPr/>
        </p:nvSpPr>
        <p:spPr>
          <a:xfrm>
            <a:off x="5532120" y="4069080"/>
            <a:ext cx="329184" cy="329184"/>
          </a:xfrm>
          <a:prstGeom prst="ellipse">
            <a:avLst/>
          </a:prstGeom>
          <a:solidFill>
            <a:srgbClr val="FFB000"/>
          </a:solidFill>
          <a:ln/>
        </p:spPr>
        <p:txBody>
          <a:bodyPr/>
          <a:lstStyle/>
          <a:p>
            <a:endParaRPr lang="en-US"/>
          </a:p>
        </p:txBody>
      </p:sp>
      <p:sp>
        <p:nvSpPr>
          <p:cNvPr id="60" name="Text 58"/>
          <p:cNvSpPr txBox="1"/>
          <p:nvPr/>
        </p:nvSpPr>
        <p:spPr>
          <a:xfrm>
            <a:off x="5532120" y="4069080"/>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4</a:t>
            </a:r>
            <a:endParaRPr lang="en-US" sz="1300" dirty="0"/>
          </a:p>
        </p:txBody>
      </p:sp>
      <p:sp>
        <p:nvSpPr>
          <p:cNvPr id="61" name="Text 59"/>
          <p:cNvSpPr txBox="1"/>
          <p:nvPr/>
        </p:nvSpPr>
        <p:spPr>
          <a:xfrm>
            <a:off x="640080" y="5715000"/>
            <a:ext cx="5212080" cy="365760"/>
          </a:xfrm>
          <a:prstGeom prst="rect">
            <a:avLst/>
          </a:prstGeom>
          <a:noFill/>
          <a:ln/>
        </p:spPr>
        <p:txBody>
          <a:bodyPr wrap="square" lIns="0" tIns="0" rIns="0" bIns="0" rtlCol="0" anchor="t"/>
          <a:lstStyle/>
          <a:p>
            <a:pPr marL="0" indent="0">
              <a:buNone/>
            </a:pPr>
            <a:r>
              <a:rPr lang="en-US" sz="1050" dirty="0">
                <a:solidFill>
                  <a:srgbClr val="93A1B3"/>
                </a:solidFill>
                <a:latin typeface="Segoe UI" pitchFamily="34" charset="0"/>
                <a:ea typeface="Segoe UI" pitchFamily="34" charset="-122"/>
                <a:cs typeface="Segoe UI" pitchFamily="34" charset="-120"/>
              </a:rPr>
              <a:t>Posts from automated accounts are left out by default; a switch counts them in.</a:t>
            </a:r>
            <a:endParaRPr lang="en-US" sz="1050" dirty="0"/>
          </a:p>
        </p:txBody>
      </p:sp>
      <p:sp>
        <p:nvSpPr>
          <p:cNvPr id="62" name="Text 60"/>
          <p:cNvSpPr txBox="1"/>
          <p:nvPr/>
        </p:nvSpPr>
        <p:spPr>
          <a:xfrm>
            <a:off x="6355080" y="1645920"/>
            <a:ext cx="5379415"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WHAT WE SHOW, LIVE</a:t>
            </a:r>
            <a:endParaRPr lang="en-US" sz="1100" dirty="0"/>
          </a:p>
        </p:txBody>
      </p:sp>
      <p:sp>
        <p:nvSpPr>
          <p:cNvPr id="63" name="Marker 1"/>
          <p:cNvSpPr/>
          <p:nvPr/>
        </p:nvSpPr>
        <p:spPr>
          <a:xfrm>
            <a:off x="6355080" y="1956816"/>
            <a:ext cx="329184" cy="329184"/>
          </a:xfrm>
          <a:prstGeom prst="ellipse">
            <a:avLst/>
          </a:prstGeom>
          <a:solidFill>
            <a:srgbClr val="FFB000"/>
          </a:solidFill>
          <a:ln/>
        </p:spPr>
        <p:txBody>
          <a:bodyPr/>
          <a:lstStyle/>
          <a:p>
            <a:endParaRPr lang="en-US"/>
          </a:p>
        </p:txBody>
      </p:sp>
      <p:sp>
        <p:nvSpPr>
          <p:cNvPr id="64" name="Text 62"/>
          <p:cNvSpPr txBox="1"/>
          <p:nvPr/>
        </p:nvSpPr>
        <p:spPr>
          <a:xfrm>
            <a:off x="6355080" y="1956816"/>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1</a:t>
            </a:r>
            <a:endParaRPr lang="en-US" sz="1300" dirty="0"/>
          </a:p>
        </p:txBody>
      </p:sp>
      <p:sp>
        <p:nvSpPr>
          <p:cNvPr id="65" name="Text 63"/>
          <p:cNvSpPr txBox="1"/>
          <p:nvPr/>
        </p:nvSpPr>
        <p:spPr>
          <a:xfrm>
            <a:off x="6858000" y="1938528"/>
            <a:ext cx="4876495" cy="292608"/>
          </a:xfrm>
          <a:prstGeom prst="rect">
            <a:avLst/>
          </a:prstGeom>
          <a:noFill/>
          <a:ln/>
        </p:spPr>
        <p:txBody>
          <a:bodyPr wrap="square" lIns="0" tIns="0" rIns="0" bIns="0" rtlCol="0" anchor="t"/>
          <a:lstStyle/>
          <a:p>
            <a:pPr marL="0" indent="0">
              <a:buNone/>
            </a:pPr>
            <a:r>
              <a:rPr lang="en-US" sz="1500" dirty="0">
                <a:solidFill>
                  <a:srgbClr val="E6EDF3"/>
                </a:solidFill>
                <a:latin typeface="Segoe UI Semibold" pitchFamily="34" charset="0"/>
                <a:ea typeface="Segoe UI Semibold" pitchFamily="34" charset="-122"/>
                <a:cs typeface="Segoe UI Semibold" pitchFamily="34" charset="-120"/>
              </a:rPr>
              <a:t>Status line</a:t>
            </a:r>
            <a:endParaRPr lang="en-US" sz="1500" dirty="0"/>
          </a:p>
        </p:txBody>
      </p:sp>
      <p:sp>
        <p:nvSpPr>
          <p:cNvPr id="66" name="Text 64"/>
          <p:cNvSpPr txBox="1"/>
          <p:nvPr/>
        </p:nvSpPr>
        <p:spPr>
          <a:xfrm>
            <a:off x="6858000" y="2249424"/>
            <a:ext cx="4876495" cy="585216"/>
          </a:xfrm>
          <a:prstGeom prst="rect">
            <a:avLst/>
          </a:prstGeom>
          <a:noFill/>
          <a:ln/>
        </p:spPr>
        <p:txBody>
          <a:bodyPr wrap="square" lIns="0" tIns="0" rIns="0" bIns="0" rtlCol="0" anchor="t"/>
          <a:lstStyle/>
          <a:p>
            <a:pPr marL="0" indent="0">
              <a:buNone/>
            </a:pPr>
            <a:r>
              <a:rPr lang="en-US" sz="1250" dirty="0">
                <a:solidFill>
                  <a:srgbClr val="E6EDF3"/>
                </a:solidFill>
                <a:latin typeface="Segoe UI" pitchFamily="34" charset="0"/>
                <a:ea typeface="Segoe UI" pitchFamily="34" charset="-122"/>
                <a:cs typeface="Segoe UI" pitchFamily="34" charset="-120"/>
              </a:rPr>
              <a:t>Posts analysed, age of the newest post, warning if collecting stops.</a:t>
            </a:r>
            <a:endParaRPr lang="en-US" sz="1250" dirty="0"/>
          </a:p>
        </p:txBody>
      </p:sp>
      <p:sp>
        <p:nvSpPr>
          <p:cNvPr id="67" name="Marker 2"/>
          <p:cNvSpPr/>
          <p:nvPr/>
        </p:nvSpPr>
        <p:spPr>
          <a:xfrm>
            <a:off x="6355080" y="2889504"/>
            <a:ext cx="329184" cy="329184"/>
          </a:xfrm>
          <a:prstGeom prst="ellipse">
            <a:avLst/>
          </a:prstGeom>
          <a:solidFill>
            <a:srgbClr val="FFB000"/>
          </a:solidFill>
          <a:ln/>
        </p:spPr>
        <p:txBody>
          <a:bodyPr/>
          <a:lstStyle/>
          <a:p>
            <a:endParaRPr lang="en-US"/>
          </a:p>
        </p:txBody>
      </p:sp>
      <p:sp>
        <p:nvSpPr>
          <p:cNvPr id="68" name="Text 66"/>
          <p:cNvSpPr txBox="1"/>
          <p:nvPr/>
        </p:nvSpPr>
        <p:spPr>
          <a:xfrm>
            <a:off x="6355080" y="2889504"/>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2</a:t>
            </a:r>
            <a:endParaRPr lang="en-US" sz="1300" dirty="0"/>
          </a:p>
        </p:txBody>
      </p:sp>
      <p:sp>
        <p:nvSpPr>
          <p:cNvPr id="69" name="Text 67"/>
          <p:cNvSpPr txBox="1"/>
          <p:nvPr/>
        </p:nvSpPr>
        <p:spPr>
          <a:xfrm>
            <a:off x="6858000" y="2871216"/>
            <a:ext cx="4876495" cy="292608"/>
          </a:xfrm>
          <a:prstGeom prst="rect">
            <a:avLst/>
          </a:prstGeom>
          <a:noFill/>
          <a:ln/>
        </p:spPr>
        <p:txBody>
          <a:bodyPr wrap="square" lIns="0" tIns="0" rIns="0" bIns="0" rtlCol="0" anchor="t"/>
          <a:lstStyle/>
          <a:p>
            <a:pPr marL="0" indent="0">
              <a:buNone/>
            </a:pPr>
            <a:r>
              <a:rPr lang="en-US" sz="1500" dirty="0">
                <a:solidFill>
                  <a:srgbClr val="E6EDF3"/>
                </a:solidFill>
                <a:latin typeface="Segoe UI Semibold" pitchFamily="34" charset="0"/>
                <a:ea typeface="Segoe UI Semibold" pitchFamily="34" charset="-122"/>
                <a:cs typeface="Segoe UI Semibold" pitchFamily="34" charset="-120"/>
              </a:rPr>
              <a:t>Alarm per hour</a:t>
            </a:r>
            <a:endParaRPr lang="en-US" sz="1500" dirty="0"/>
          </a:p>
        </p:txBody>
      </p:sp>
      <p:sp>
        <p:nvSpPr>
          <p:cNvPr id="70" name="Text 68"/>
          <p:cNvSpPr txBox="1"/>
          <p:nvPr/>
        </p:nvSpPr>
        <p:spPr>
          <a:xfrm>
            <a:off x="6858000" y="3182112"/>
            <a:ext cx="4876495" cy="585216"/>
          </a:xfrm>
          <a:prstGeom prst="rect">
            <a:avLst/>
          </a:prstGeom>
          <a:noFill/>
          <a:ln/>
        </p:spPr>
        <p:txBody>
          <a:bodyPr wrap="square" lIns="0" tIns="0" rIns="0" bIns="0" rtlCol="0" anchor="t"/>
          <a:lstStyle/>
          <a:p>
            <a:pPr marL="0" indent="0">
              <a:buNone/>
            </a:pPr>
            <a:r>
              <a:rPr lang="en-US" sz="1250" dirty="0">
                <a:solidFill>
                  <a:srgbClr val="E6EDF3"/>
                </a:solidFill>
                <a:latin typeface="Segoe UI" pitchFamily="34" charset="0"/>
                <a:ea typeface="Segoe UI" pitchFamily="34" charset="-122"/>
                <a:cs typeface="Segoe UI" pitchFamily="34" charset="-120"/>
              </a:rPr>
              <a:t>Line = alarm, bars = posts. Click a peak → its posts.</a:t>
            </a:r>
            <a:endParaRPr lang="en-US" sz="1250" dirty="0"/>
          </a:p>
        </p:txBody>
      </p:sp>
      <p:sp>
        <p:nvSpPr>
          <p:cNvPr id="71" name="Marker 3"/>
          <p:cNvSpPr/>
          <p:nvPr/>
        </p:nvSpPr>
        <p:spPr>
          <a:xfrm>
            <a:off x="6355080" y="3822192"/>
            <a:ext cx="329184" cy="329184"/>
          </a:xfrm>
          <a:prstGeom prst="ellipse">
            <a:avLst/>
          </a:prstGeom>
          <a:solidFill>
            <a:srgbClr val="FFB000"/>
          </a:solidFill>
          <a:ln/>
        </p:spPr>
        <p:txBody>
          <a:bodyPr/>
          <a:lstStyle/>
          <a:p>
            <a:endParaRPr lang="en-US"/>
          </a:p>
        </p:txBody>
      </p:sp>
      <p:sp>
        <p:nvSpPr>
          <p:cNvPr id="72" name="Text 70"/>
          <p:cNvSpPr txBox="1"/>
          <p:nvPr/>
        </p:nvSpPr>
        <p:spPr>
          <a:xfrm>
            <a:off x="6355080" y="3822192"/>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3</a:t>
            </a:r>
            <a:endParaRPr lang="en-US" sz="1300" dirty="0"/>
          </a:p>
        </p:txBody>
      </p:sp>
      <p:sp>
        <p:nvSpPr>
          <p:cNvPr id="73" name="Text 71"/>
          <p:cNvSpPr txBox="1"/>
          <p:nvPr/>
        </p:nvSpPr>
        <p:spPr>
          <a:xfrm>
            <a:off x="6858000" y="3803904"/>
            <a:ext cx="4876495" cy="292608"/>
          </a:xfrm>
          <a:prstGeom prst="rect">
            <a:avLst/>
          </a:prstGeom>
          <a:noFill/>
          <a:ln/>
        </p:spPr>
        <p:txBody>
          <a:bodyPr wrap="square" lIns="0" tIns="0" rIns="0" bIns="0" rtlCol="0" anchor="t"/>
          <a:lstStyle/>
          <a:p>
            <a:pPr marL="0" indent="0">
              <a:buNone/>
            </a:pPr>
            <a:r>
              <a:rPr lang="en-US" sz="1500" dirty="0">
                <a:solidFill>
                  <a:srgbClr val="E6EDF3"/>
                </a:solidFill>
                <a:latin typeface="Segoe UI Semibold" pitchFamily="34" charset="0"/>
                <a:ea typeface="Segoe UI Semibold" pitchFamily="34" charset="-122"/>
                <a:cs typeface="Segoe UI Semibold" pitchFamily="34" charset="-120"/>
              </a:rPr>
              <a:t>Vulnerabilities, last 24 h</a:t>
            </a:r>
            <a:endParaRPr lang="en-US" sz="1500" dirty="0"/>
          </a:p>
        </p:txBody>
      </p:sp>
      <p:sp>
        <p:nvSpPr>
          <p:cNvPr id="74" name="Text 72"/>
          <p:cNvSpPr txBox="1"/>
          <p:nvPr/>
        </p:nvSpPr>
        <p:spPr>
          <a:xfrm>
            <a:off x="6858000" y="4114800"/>
            <a:ext cx="4876495" cy="585216"/>
          </a:xfrm>
          <a:prstGeom prst="rect">
            <a:avLst/>
          </a:prstGeom>
          <a:noFill/>
          <a:ln/>
        </p:spPr>
        <p:txBody>
          <a:bodyPr wrap="square" lIns="0" tIns="0" rIns="0" bIns="0" rtlCol="0" anchor="t"/>
          <a:lstStyle/>
          <a:p>
            <a:pPr marL="0" indent="0">
              <a:buNone/>
            </a:pPr>
            <a:r>
              <a:rPr lang="en-US" sz="1250" dirty="0">
                <a:solidFill>
                  <a:srgbClr val="E6EDF3"/>
                </a:solidFill>
                <a:latin typeface="Segoe UI" pitchFamily="34" charset="0"/>
                <a:ea typeface="Segoe UI" pitchFamily="34" charset="-122"/>
                <a:cs typeface="Segoe UI" pitchFamily="34" charset="-120"/>
              </a:rPr>
              <a:t>Watchlist first, with CVSS and CISA status. Tick a row → its posts.</a:t>
            </a:r>
            <a:endParaRPr lang="en-US" sz="1250" dirty="0"/>
          </a:p>
        </p:txBody>
      </p:sp>
      <p:sp>
        <p:nvSpPr>
          <p:cNvPr id="75" name="Marker 4"/>
          <p:cNvSpPr/>
          <p:nvPr/>
        </p:nvSpPr>
        <p:spPr>
          <a:xfrm>
            <a:off x="6355080" y="4754880"/>
            <a:ext cx="329184" cy="329184"/>
          </a:xfrm>
          <a:prstGeom prst="ellipse">
            <a:avLst/>
          </a:prstGeom>
          <a:solidFill>
            <a:srgbClr val="FFB000"/>
          </a:solidFill>
          <a:ln/>
        </p:spPr>
        <p:txBody>
          <a:bodyPr/>
          <a:lstStyle/>
          <a:p>
            <a:endParaRPr lang="en-US"/>
          </a:p>
        </p:txBody>
      </p:sp>
      <p:sp>
        <p:nvSpPr>
          <p:cNvPr id="76" name="Text 74"/>
          <p:cNvSpPr txBox="1"/>
          <p:nvPr/>
        </p:nvSpPr>
        <p:spPr>
          <a:xfrm>
            <a:off x="6355080" y="4754880"/>
            <a:ext cx="329184" cy="329184"/>
          </a:xfrm>
          <a:prstGeom prst="rect">
            <a:avLst/>
          </a:prstGeom>
          <a:noFill/>
          <a:ln/>
        </p:spPr>
        <p:txBody>
          <a:bodyPr wrap="square" lIns="0" tIns="0" rIns="0" bIns="0" rtlCol="0" anchor="ctr"/>
          <a:lstStyle/>
          <a:p>
            <a:pPr marL="0" indent="0" algn="ctr">
              <a:buNone/>
            </a:pPr>
            <a:r>
              <a:rPr lang="en-US" sz="1300" b="1" dirty="0">
                <a:solidFill>
                  <a:srgbClr val="0B0F14"/>
                </a:solidFill>
                <a:latin typeface="Consolas" pitchFamily="34" charset="0"/>
                <a:ea typeface="Consolas" pitchFamily="34" charset="-122"/>
                <a:cs typeface="Consolas" pitchFamily="34" charset="-120"/>
              </a:rPr>
              <a:t>4</a:t>
            </a:r>
            <a:endParaRPr lang="en-US" sz="1300" dirty="0"/>
          </a:p>
        </p:txBody>
      </p:sp>
      <p:sp>
        <p:nvSpPr>
          <p:cNvPr id="77" name="Text 75"/>
          <p:cNvSpPr txBox="1"/>
          <p:nvPr/>
        </p:nvSpPr>
        <p:spPr>
          <a:xfrm>
            <a:off x="6858000" y="4736592"/>
            <a:ext cx="4876495" cy="292608"/>
          </a:xfrm>
          <a:prstGeom prst="rect">
            <a:avLst/>
          </a:prstGeom>
          <a:noFill/>
          <a:ln/>
        </p:spPr>
        <p:txBody>
          <a:bodyPr wrap="square" lIns="0" tIns="0" rIns="0" bIns="0" rtlCol="0" anchor="t"/>
          <a:lstStyle/>
          <a:p>
            <a:pPr marL="0" indent="0">
              <a:buNone/>
            </a:pPr>
            <a:r>
              <a:rPr lang="en-US" sz="1500" dirty="0">
                <a:solidFill>
                  <a:srgbClr val="E6EDF3"/>
                </a:solidFill>
                <a:latin typeface="Segoe UI Semibold" pitchFamily="34" charset="0"/>
                <a:ea typeface="Segoe UI Semibold" pitchFamily="34" charset="-122"/>
                <a:cs typeface="Segoe UI Semibold" pitchFamily="34" charset="-120"/>
              </a:rPr>
              <a:t>Official score against alarm</a:t>
            </a:r>
            <a:endParaRPr lang="en-US" sz="1500" dirty="0"/>
          </a:p>
        </p:txBody>
      </p:sp>
      <p:sp>
        <p:nvSpPr>
          <p:cNvPr id="78" name="Text 76"/>
          <p:cNvSpPr txBox="1"/>
          <p:nvPr/>
        </p:nvSpPr>
        <p:spPr>
          <a:xfrm>
            <a:off x="6858000" y="5047488"/>
            <a:ext cx="4876495" cy="585216"/>
          </a:xfrm>
          <a:prstGeom prst="rect">
            <a:avLst/>
          </a:prstGeom>
          <a:noFill/>
          <a:ln/>
        </p:spPr>
        <p:txBody>
          <a:bodyPr wrap="square" lIns="0" tIns="0" rIns="0" bIns="0" rtlCol="0" anchor="t"/>
          <a:lstStyle/>
          <a:p>
            <a:pPr marL="0" indent="0">
              <a:buNone/>
            </a:pPr>
            <a:r>
              <a:rPr lang="en-US" sz="1250" dirty="0">
                <a:solidFill>
                  <a:srgbClr val="E6EDF3"/>
                </a:solidFill>
                <a:latin typeface="Segoe UI" pitchFamily="34" charset="0"/>
                <a:ea typeface="Segoe UI" pitchFamily="34" charset="-122"/>
                <a:cs typeface="Segoe UI" pitchFamily="34" charset="-120"/>
              </a:rPr>
              <a:t>Corners: high alarm with a low or missing score, and the reverse.</a:t>
            </a:r>
            <a:endParaRPr lang="en-US" sz="1250" dirty="0"/>
          </a:p>
        </p:txBody>
      </p:sp>
      <p:sp>
        <p:nvSpPr>
          <p:cNvPr id="79" name="Panel"/>
          <p:cNvSpPr/>
          <p:nvPr/>
        </p:nvSpPr>
        <p:spPr>
          <a:xfrm>
            <a:off x="6355080" y="5669280"/>
            <a:ext cx="5379415" cy="502920"/>
          </a:xfrm>
          <a:prstGeom prst="roundRect">
            <a:avLst>
              <a:gd name="adj" fmla="val 14545"/>
            </a:avLst>
          </a:prstGeom>
          <a:solidFill>
            <a:srgbClr val="2A1F05"/>
          </a:solidFill>
          <a:ln w="9525">
            <a:solidFill>
              <a:srgbClr val="5C4510"/>
            </a:solidFill>
            <a:prstDash val="solid"/>
          </a:ln>
        </p:spPr>
        <p:txBody>
          <a:bodyPr/>
          <a:lstStyle/>
          <a:p>
            <a:endParaRPr lang="en-US"/>
          </a:p>
        </p:txBody>
      </p:sp>
      <p:sp>
        <p:nvSpPr>
          <p:cNvPr id="80" name="Text 78"/>
          <p:cNvSpPr txBox="1"/>
          <p:nvPr/>
        </p:nvSpPr>
        <p:spPr>
          <a:xfrm>
            <a:off x="6537960" y="5669280"/>
            <a:ext cx="5013655" cy="502920"/>
          </a:xfrm>
          <a:prstGeom prst="rect">
            <a:avLst/>
          </a:prstGeom>
          <a:noFill/>
          <a:ln/>
        </p:spPr>
        <p:txBody>
          <a:bodyPr wrap="square" lIns="0" tIns="0" rIns="0" bIns="0" rtlCol="0" anchor="ctr"/>
          <a:lstStyle/>
          <a:p>
            <a:pPr marL="0" indent="0">
              <a:buNone/>
            </a:pPr>
            <a:r>
              <a:rPr lang="en-US" sz="1400" dirty="0">
                <a:solidFill>
                  <a:srgbClr val="FFB000"/>
                </a:solidFill>
                <a:latin typeface="Segoe UI Semibold" pitchFamily="34" charset="0"/>
                <a:ea typeface="Segoe UI Semibold" pitchFamily="34" charset="-122"/>
                <a:cs typeface="Segoe UI Semibold" pitchFamily="34" charset="-120"/>
              </a:rPr>
              <a:t>Fixed on the dashboard: “No alarm does not mean no risk.”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HONEST TEST · RUBRIC 4 · PROBLEM-SOLUTION FIT</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Fine-tuned it finds 18 of 20, but it passes only half our own bar</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evaluation/results.json and evaluation/test_table.csv (our test, 100 hand-labelled posts, tested 2026-10-13)</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07</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Text 4"/>
          <p:cNvSpPr txBox="1"/>
          <p:nvPr/>
        </p:nvSpPr>
        <p:spPr>
          <a:xfrm>
            <a:off x="457200" y="1600200"/>
            <a:ext cx="11274552" cy="256032"/>
          </a:xfrm>
          <a:prstGeom prst="rect">
            <a:avLst/>
          </a:prstGeom>
          <a:noFill/>
          <a:ln/>
        </p:spPr>
        <p:txBody>
          <a:bodyPr wrap="square" lIns="0" tIns="0" rIns="0" bIns="0" rtlCol="0" anchor="ctr"/>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TEST TABLE · 100 HAND-LABELLED POSTS: 20 ALARMED, 78 NEUTRAL, 2 REASSURING</a:t>
            </a:r>
            <a:endParaRPr lang="en-US" sz="1100" dirty="0"/>
          </a:p>
        </p:txBody>
      </p:sp>
      <p:graphicFrame>
        <p:nvGraphicFramePr>
          <p:cNvPr id="8" name="Test table"/>
          <p:cNvGraphicFramePr>
            <a:graphicFrameLocks noGrp="1"/>
          </p:cNvGraphicFramePr>
          <p:nvPr>
            <p:extLst>
              <p:ext uri="{D42A27DB-BD31-4B8C-83A1-F6EECF244321}">
                <p14:modId xmlns:p14="http://schemas.microsoft.com/office/powerpoint/2010/main" val="1579011935"/>
              </p:ext>
            </p:extLst>
          </p:nvPr>
        </p:nvGraphicFramePr>
        <p:xfrm>
          <a:off x="457200" y="1901952"/>
          <a:ext cx="11274552" cy="2569464"/>
        </p:xfrm>
        <a:graphic>
          <a:graphicData uri="http://schemas.openxmlformats.org/drawingml/2006/table">
            <a:tbl>
              <a:tblPr/>
              <a:tblGrid>
                <a:gridCol w="525475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tblGrid>
              <a:tr h="457200">
                <a:tc>
                  <a:txBody>
                    <a:bodyPr/>
                    <a:lstStyle/>
                    <a:p>
                      <a:pPr marL="0" indent="0" algn="l">
                        <a:buNone/>
                      </a:pPr>
                      <a:r>
                        <a:rPr lang="en-US" sz="1050" b="1" dirty="0">
                          <a:solidFill>
                            <a:srgbClr val="93A1B3"/>
                          </a:solidFill>
                          <a:latin typeface="Segoe UI" pitchFamily="34" charset="0"/>
                          <a:ea typeface="Segoe UI" pitchFamily="34" charset="-122"/>
                          <a:cs typeface="Segoe UI" pitchFamily="34" charset="-120"/>
                        </a:rPr>
                        <a:t>Model</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Accuracy</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Precision alarmed</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Recall alarmed</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F1 alarmed</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Bar 1: recall ≥ 0.60</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tc>
                  <a:txBody>
                    <a:bodyPr/>
                    <a:lstStyle/>
                    <a:p>
                      <a:pPr marL="0" indent="0" algn="ctr">
                        <a:buNone/>
                      </a:pPr>
                      <a:r>
                        <a:rPr lang="en-US" sz="1050" b="1" dirty="0">
                          <a:solidFill>
                            <a:srgbClr val="93A1B3"/>
                          </a:solidFill>
                          <a:latin typeface="Segoe UI" pitchFamily="34" charset="0"/>
                          <a:ea typeface="Segoe UI" pitchFamily="34" charset="-122"/>
                          <a:cs typeface="Segoe UI" pitchFamily="34" charset="-120"/>
                        </a:rPr>
                        <a:t>Bar 2: F1 ≥ 0.98</a:t>
                      </a:r>
                      <a:endParaRPr lang="en-US" sz="10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A2330"/>
                    </a:solidFill>
                  </a:tcPr>
                </a:tc>
                <a:extLst>
                  <a:ext uri="{0D108BD9-81ED-4DB2-BD59-A6C34878D82A}">
                    <a16:rowId xmlns:a16="http://schemas.microsoft.com/office/drawing/2014/main" val="10000"/>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twitter-roberta-base-sentiment-latest, as downloaded</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0.64</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0.24</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0.35</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0.29</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1"/>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twitter-xlm-roberta-base-sentiment, as downloaded</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0.60</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0.27</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0.55</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0.36</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2"/>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twitter-roberta-base-sentiment-latest, fine-tuned, round 1 (365)</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0.91</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0.79</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0.75</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0.77</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4CC38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3"/>
                  </a:ext>
                </a:extLst>
              </a:tr>
              <a:tr h="301752">
                <a:tc>
                  <a:txBody>
                    <a:bodyPr/>
                    <a:lstStyle/>
                    <a:p>
                      <a:pPr marL="0" indent="0" algn="l">
                        <a:buNone/>
                      </a:pPr>
                      <a:r>
                        <a:rPr lang="en-US" sz="1150" b="1" dirty="0">
                          <a:solidFill>
                            <a:srgbClr val="FFB000"/>
                          </a:solidFill>
                          <a:latin typeface="Segoe UI" pitchFamily="34" charset="0"/>
                          <a:ea typeface="Segoe UI" pitchFamily="34" charset="-122"/>
                          <a:cs typeface="Segoe UI" pitchFamily="34" charset="-120"/>
                        </a:rPr>
                        <a:t>twitter-roberta-base-sentiment-latest, fine-tuned, round 2 (900)</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200" b="1" dirty="0">
                          <a:solidFill>
                            <a:srgbClr val="FFB000"/>
                          </a:solidFill>
                          <a:latin typeface="Consolas" pitchFamily="34" charset="0"/>
                          <a:ea typeface="Consolas" pitchFamily="34" charset="-122"/>
                          <a:cs typeface="Consolas" pitchFamily="34" charset="-120"/>
                        </a:rPr>
                        <a:t>0.94</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200" b="1" dirty="0">
                          <a:solidFill>
                            <a:srgbClr val="FFB000"/>
                          </a:solidFill>
                          <a:latin typeface="Consolas" pitchFamily="34" charset="0"/>
                          <a:ea typeface="Consolas" pitchFamily="34" charset="-122"/>
                          <a:cs typeface="Consolas" pitchFamily="34" charset="-120"/>
                        </a:rPr>
                        <a:t>0.82</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200" b="1" dirty="0">
                          <a:solidFill>
                            <a:srgbClr val="FFB000"/>
                          </a:solidFill>
                          <a:latin typeface="Consolas" pitchFamily="34" charset="0"/>
                          <a:ea typeface="Consolas" pitchFamily="34" charset="-122"/>
                          <a:cs typeface="Consolas" pitchFamily="34" charset="-120"/>
                        </a:rPr>
                        <a:t>0.90</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200" b="1" dirty="0">
                          <a:solidFill>
                            <a:srgbClr val="FFB000"/>
                          </a:solidFill>
                          <a:latin typeface="Consolas" pitchFamily="34" charset="0"/>
                          <a:ea typeface="Consolas" pitchFamily="34" charset="-122"/>
                          <a:cs typeface="Consolas" pitchFamily="34" charset="-120"/>
                        </a:rPr>
                        <a:t>0.86</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400" b="1" dirty="0">
                          <a:solidFill>
                            <a:srgbClr val="4CC38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2A1F05"/>
                    </a:solidFill>
                  </a:tcPr>
                </a:tc>
                <a:extLst>
                  <a:ext uri="{0D108BD9-81ED-4DB2-BD59-A6C34878D82A}">
                    <a16:rowId xmlns:a16="http://schemas.microsoft.com/office/drawing/2014/main" val="10004"/>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twitter-xlm-roberta-base-sentiment, fine-tuned, round 1 (365)</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0.79</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0.52</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0.70</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0.60</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4CC38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5"/>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twitter-xlm-roberta-base-sentiment, fine-tuned, round 2 (900)</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0.91</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0.77</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0.85</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0.81</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4CC38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400" b="1" dirty="0">
                          <a:solidFill>
                            <a:srgbClr val="FF453A"/>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6"/>
                  </a:ext>
                </a:extLst>
              </a:tr>
              <a:tr h="301752">
                <a:tc>
                  <a:txBody>
                    <a:bodyPr/>
                    <a:lstStyle/>
                    <a:p>
                      <a:pPr marL="0" indent="0" algn="l">
                        <a:buNone/>
                      </a:pPr>
                      <a:r>
                        <a:rPr lang="en-US" sz="1150" dirty="0">
                          <a:solidFill>
                            <a:srgbClr val="E6EDF3"/>
                          </a:solidFill>
                          <a:latin typeface="Segoe UI" pitchFamily="34" charset="0"/>
                          <a:ea typeface="Segoe UI" pitchFamily="34" charset="-122"/>
                          <a:cs typeface="Segoe UI" pitchFamily="34" charset="-120"/>
                        </a:rPr>
                        <a:t>Word list, no machine learning</a:t>
                      </a:r>
                      <a:endParaRPr lang="en-US" sz="1150" dirty="0">
                        <a:latin typeface="Segoe UI" charset="0"/>
                        <a:ea typeface="Segoe UI" charset="0"/>
                        <a:cs typeface="Segoe UI"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0.94</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0.94</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0.75</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200" dirty="0">
                          <a:solidFill>
                            <a:srgbClr val="E6EDF3"/>
                          </a:solidFill>
                          <a:latin typeface="Consolas" pitchFamily="34" charset="0"/>
                          <a:ea typeface="Consolas" pitchFamily="34" charset="-122"/>
                          <a:cs typeface="Consolas" pitchFamily="34" charset="-120"/>
                        </a:rPr>
                        <a:t>0.83</a:t>
                      </a:r>
                      <a:endParaRPr lang="en-US" sz="120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050" dirty="0">
                          <a:solidFill>
                            <a:srgbClr val="93A1B3"/>
                          </a:solidFill>
                          <a:latin typeface="Consolas" pitchFamily="34" charset="0"/>
                          <a:ea typeface="Consolas" pitchFamily="34" charset="-122"/>
                          <a:cs typeface="Consolas" pitchFamily="34" charset="-120"/>
                        </a:rPr>
                        <a:t>baseline</a:t>
                      </a:r>
                      <a:endParaRPr lang="en-US" sz="105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tc>
                  <a:txBody>
                    <a:bodyPr/>
                    <a:lstStyle/>
                    <a:p>
                      <a:pPr marL="0" indent="0" algn="ctr">
                        <a:buNone/>
                      </a:pPr>
                      <a:r>
                        <a:rPr lang="en-US" sz="1050" dirty="0">
                          <a:solidFill>
                            <a:srgbClr val="93A1B3"/>
                          </a:solidFill>
                          <a:latin typeface="Consolas" pitchFamily="34" charset="0"/>
                          <a:ea typeface="Consolas" pitchFamily="34" charset="-122"/>
                          <a:cs typeface="Consolas" pitchFamily="34" charset="-120"/>
                        </a:rPr>
                        <a:t>baseline</a:t>
                      </a:r>
                      <a:endParaRPr lang="en-US" sz="1050" dirty="0">
                        <a:latin typeface="Consolas" charset="0"/>
                        <a:ea typeface="Consolas" charset="0"/>
                        <a:cs typeface="Consolas" charset="0"/>
                      </a:endParaRPr>
                    </a:p>
                  </a:txBody>
                  <a:tcPr marL="73152" marR="54864" marT="27432" marB="27432" anchor="ctr">
                    <a:lnL w="9525" cap="flat" cmpd="sng" algn="ctr">
                      <a:solidFill>
                        <a:srgbClr val="0B0F14"/>
                      </a:solidFill>
                      <a:prstDash val="solid"/>
                      <a:round/>
                      <a:headEnd type="none" w="med" len="med"/>
                      <a:tailEnd type="none" w="med" len="med"/>
                    </a:lnL>
                    <a:lnR w="9525" cap="flat" cmpd="sng" algn="ctr">
                      <a:solidFill>
                        <a:srgbClr val="0B0F14"/>
                      </a:solidFill>
                      <a:prstDash val="solid"/>
                      <a:round/>
                      <a:headEnd type="none" w="med" len="med"/>
                      <a:tailEnd type="none" w="med" len="med"/>
                    </a:lnR>
                    <a:lnT w="9525" cap="flat" cmpd="sng" algn="ctr">
                      <a:solidFill>
                        <a:srgbClr val="0B0F14"/>
                      </a:solidFill>
                      <a:prstDash val="solid"/>
                      <a:round/>
                      <a:headEnd type="none" w="med" len="med"/>
                      <a:tailEnd type="none" w="med" len="med"/>
                    </a:lnT>
                    <a:lnB w="9525"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7"/>
                  </a:ext>
                </a:extLst>
              </a:tr>
            </a:tbl>
          </a:graphicData>
        </a:graphic>
      </p:graphicFrame>
      <p:sp>
        <p:nvSpPr>
          <p:cNvPr id="7" name="Text 5"/>
          <p:cNvSpPr txBox="1"/>
          <p:nvPr/>
        </p:nvSpPr>
        <p:spPr>
          <a:xfrm>
            <a:off x="457200" y="4663440"/>
            <a:ext cx="11274552" cy="457200"/>
          </a:xfrm>
          <a:prstGeom prst="rect">
            <a:avLst/>
          </a:prstGeom>
          <a:noFill/>
          <a:ln/>
        </p:spPr>
        <p:txBody>
          <a:bodyPr wrap="square" lIns="0" tIns="0" rIns="0" bIns="0" rtlCol="0" anchor="t"/>
          <a:lstStyle/>
          <a:p>
            <a:pPr marL="0" indent="0">
              <a:buNone/>
            </a:pPr>
            <a:r>
              <a:rPr lang="en-US" sz="1100" dirty="0">
                <a:solidFill>
                  <a:srgbClr val="93A1B3"/>
                </a:solidFill>
                <a:latin typeface="Segoe UI" pitchFamily="34" charset="0"/>
                <a:ea typeface="Segoe UI" pitchFamily="34" charset="-122"/>
                <a:cs typeface="Segoe UI" pitchFamily="34" charset="-120"/>
              </a:rPr>
              <a:t>Both bars set before we saw any result. Bar 2: F1 at least 0.15 above the word list (0.83). twitter-roberta-base-sentiment-latest and twitter-xlm-roberta-base-sentiment, as downloaded, disagree on 22 of the 100 posts.</a:t>
            </a:r>
            <a:endParaRPr lang="en-US" sz="1100" dirty="0"/>
          </a:p>
        </p:txBody>
      </p:sp>
      <p:sp>
        <p:nvSpPr>
          <p:cNvPr id="9" name="Panel"/>
          <p:cNvSpPr/>
          <p:nvPr/>
        </p:nvSpPr>
        <p:spPr>
          <a:xfrm>
            <a:off x="457200" y="5230368"/>
            <a:ext cx="11274552" cy="941832"/>
          </a:xfrm>
          <a:prstGeom prst="roundRect">
            <a:avLst>
              <a:gd name="adj" fmla="val 7767"/>
            </a:avLst>
          </a:prstGeom>
          <a:solidFill>
            <a:srgbClr val="2A1F05"/>
          </a:solidFill>
          <a:ln w="9525">
            <a:solidFill>
              <a:srgbClr val="5C4510"/>
            </a:solidFill>
            <a:prstDash val="solid"/>
          </a:ln>
        </p:spPr>
        <p:txBody>
          <a:bodyPr/>
          <a:lstStyle/>
          <a:p>
            <a:endParaRPr lang="en-US"/>
          </a:p>
        </p:txBody>
      </p:sp>
      <p:sp>
        <p:nvSpPr>
          <p:cNvPr id="10" name="Text 7"/>
          <p:cNvSpPr txBox="1"/>
          <p:nvPr/>
        </p:nvSpPr>
        <p:spPr>
          <a:xfrm>
            <a:off x="640080" y="5266944"/>
            <a:ext cx="10908792" cy="868680"/>
          </a:xfrm>
          <a:prstGeom prst="rect">
            <a:avLst/>
          </a:prstGeom>
          <a:noFill/>
          <a:ln/>
        </p:spPr>
        <p:txBody>
          <a:bodyPr wrap="square" lIns="0" tIns="0" rIns="0" bIns="0" rtlCol="0" anchor="ctr"/>
          <a:lstStyle/>
          <a:p>
            <a:pPr marL="0" indent="0">
              <a:buNone/>
            </a:pPr>
            <a:r>
              <a:rPr lang="en-US" sz="1250" b="1" dirty="0">
                <a:solidFill>
                  <a:srgbClr val="FFB000"/>
                </a:solidFill>
                <a:latin typeface="Segoe UI" pitchFamily="34" charset="0"/>
                <a:ea typeface="Segoe UI" pitchFamily="34" charset="-122"/>
                <a:cs typeface="Segoe UI" pitchFamily="34" charset="-120"/>
              </a:rPr>
              <a:t>We would hand over twitter-roberta-base-sentiment-latest, fine-tuned, round 2 (the one the collector runs), </a:t>
            </a:r>
            <a:r>
              <a:rPr lang="en-US" sz="1250" dirty="0">
                <a:solidFill>
                  <a:srgbClr val="E6EDF3"/>
                </a:solidFill>
                <a:latin typeface="Segoe UI" pitchFamily="34" charset="0"/>
                <a:ea typeface="Segoe UI" pitchFamily="34" charset="-122"/>
                <a:cs typeface="Segoe UI" pitchFamily="34" charset="-120"/>
              </a:rPr>
              <a:t>and say it has not passed bar 2 (+0.03, not +0.15). A missed alarm costs more than a false one: it finds 18 of 20 where the word list finds 15, at the price of 4 false alarms against 1.</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HONEST TEST · THE FAILURE THAT TAUGHT US MOST</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Japanese posts look alarmed to a model that cannot read them</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README.md (Japanese posts, 1,764 collected posts) · our test, 100 hand-labelled posts</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08</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9" name="Panel"/>
          <p:cNvSpPr/>
          <p:nvPr/>
        </p:nvSpPr>
        <p:spPr>
          <a:xfrm>
            <a:off x="6263640" y="5394960"/>
            <a:ext cx="5468112" cy="777240"/>
          </a:xfrm>
          <a:prstGeom prst="roundRect">
            <a:avLst>
              <a:gd name="adj" fmla="val 7767"/>
            </a:avLst>
          </a:prstGeom>
          <a:solidFill>
            <a:srgbClr val="2A1F05"/>
          </a:solidFill>
          <a:ln w="9525">
            <a:solidFill>
              <a:srgbClr val="5C4510"/>
            </a:solidFill>
            <a:prstDash val="solid"/>
          </a:ln>
        </p:spPr>
        <p:txBody>
          <a:bodyPr/>
          <a:lstStyle/>
          <a:p>
            <a:endParaRPr lang="en-US"/>
          </a:p>
        </p:txBody>
      </p:sp>
      <p:sp>
        <p:nvSpPr>
          <p:cNvPr id="10" name="Text 7"/>
          <p:cNvSpPr txBox="1"/>
          <p:nvPr/>
        </p:nvSpPr>
        <p:spPr>
          <a:xfrm>
            <a:off x="6446520" y="5394960"/>
            <a:ext cx="5102352" cy="777240"/>
          </a:xfrm>
          <a:prstGeom prst="rect">
            <a:avLst/>
          </a:prstGeom>
          <a:noFill/>
          <a:ln/>
        </p:spPr>
        <p:txBody>
          <a:bodyPr wrap="square" lIns="0" tIns="0" rIns="0" bIns="0" rtlCol="0" anchor="ctr"/>
          <a:lstStyle/>
          <a:p>
            <a:pPr marL="0" indent="0">
              <a:buNone/>
            </a:pPr>
            <a:r>
              <a:rPr lang="en-US" sz="1500" b="1" dirty="0">
                <a:solidFill>
                  <a:srgbClr val="FFB000"/>
                </a:solidFill>
                <a:latin typeface="Segoe UI" pitchFamily="34" charset="0"/>
                <a:ea typeface="Segoe UI" pitchFamily="34" charset="-122"/>
                <a:cs typeface="Segoe UI" pitchFamily="34" charset="-120"/>
              </a:rPr>
              <a:t>Lesson: </a:t>
            </a:r>
            <a:r>
              <a:rPr lang="en-US" sz="1500" dirty="0">
                <a:solidFill>
                  <a:srgbClr val="E6EDF3"/>
                </a:solidFill>
                <a:latin typeface="Segoe UI" pitchFamily="34" charset="0"/>
                <a:ea typeface="Segoe UI" pitchFamily="34" charset="-122"/>
                <a:cs typeface="Segoe UI" pitchFamily="34" charset="-120"/>
              </a:rPr>
              <a:t>a test set only tells you about what is in it.</a:t>
            </a:r>
            <a:endParaRPr lang="en-US" sz="1500" dirty="0"/>
          </a:p>
        </p:txBody>
      </p:sp>
      <p:sp>
        <p:nvSpPr>
          <p:cNvPr id="11" name="Panel"/>
          <p:cNvSpPr/>
          <p:nvPr/>
        </p:nvSpPr>
        <p:spPr>
          <a:xfrm>
            <a:off x="457200" y="1645920"/>
            <a:ext cx="5394960" cy="4526280"/>
          </a:xfrm>
          <a:prstGeom prst="roundRect">
            <a:avLst>
              <a:gd name="adj" fmla="val 1785"/>
            </a:avLst>
          </a:prstGeom>
          <a:solidFill>
            <a:srgbClr val="121922"/>
          </a:solidFill>
          <a:ln w="15875">
            <a:solidFill>
              <a:srgbClr val="FF453A"/>
            </a:solidFill>
            <a:prstDash val="solid"/>
          </a:ln>
        </p:spPr>
        <p:txBody>
          <a:bodyPr/>
          <a:lstStyle/>
          <a:p>
            <a:endParaRPr lang="en-US"/>
          </a:p>
        </p:txBody>
      </p:sp>
      <p:sp>
        <p:nvSpPr>
          <p:cNvPr id="12" name="Text 9"/>
          <p:cNvSpPr txBox="1"/>
          <p:nvPr/>
        </p:nvSpPr>
        <p:spPr>
          <a:xfrm>
            <a:off x="731520" y="1828800"/>
            <a:ext cx="4846320" cy="256032"/>
          </a:xfrm>
          <a:prstGeom prst="rect">
            <a:avLst/>
          </a:prstGeom>
          <a:noFill/>
          <a:ln/>
        </p:spPr>
        <p:txBody>
          <a:bodyPr wrap="square" lIns="0" tIns="0" rIns="0" bIns="0" rtlCol="0" anchor="ctr"/>
          <a:lstStyle/>
          <a:p>
            <a:pPr marL="0" indent="0">
              <a:buNone/>
            </a:pPr>
            <a:r>
              <a:rPr lang="en-US" sz="1100" b="1" kern="0" spc="100" dirty="0">
                <a:solidFill>
                  <a:srgbClr val="FF453A"/>
                </a:solidFill>
                <a:latin typeface="Consolas" pitchFamily="34" charset="0"/>
                <a:ea typeface="Consolas" pitchFamily="34" charset="-122"/>
                <a:cs typeface="Consolas" pitchFamily="34" charset="-120"/>
              </a:rPr>
              <a:t>AVERAGE ALARM SCORE, BY LANGUAGE</a:t>
            </a:r>
            <a:endParaRPr lang="en-US" sz="1100" dirty="0"/>
          </a:p>
        </p:txBody>
      </p:sp>
      <p:sp>
        <p:nvSpPr>
          <p:cNvPr id="203" name="Text 9"/>
          <p:cNvSpPr txBox="1"/>
          <p:nvPr/>
        </p:nvSpPr>
        <p:spPr>
          <a:xfrm>
            <a:off x="6263640" y="3986784"/>
            <a:ext cx="5468112"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WHAT WE DID, AND WHAT IS NEXT</a:t>
            </a:r>
            <a:endParaRPr lang="en-US" sz="1100" dirty="0"/>
          </a:p>
        </p:txBody>
      </p:sp>
      <p:sp>
        <p:nvSpPr>
          <p:cNvPr id="202" name="Text 9"/>
          <p:cNvSpPr txBox="1"/>
          <p:nvPr/>
        </p:nvSpPr>
        <p:spPr>
          <a:xfrm>
            <a:off x="6263640" y="2907792"/>
            <a:ext cx="5468112"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WHY IT TAUGHT US MOST</a:t>
            </a:r>
            <a:endParaRPr lang="en-US" sz="1100" dirty="0"/>
          </a:p>
        </p:txBody>
      </p:sp>
      <p:sp>
        <p:nvSpPr>
          <p:cNvPr id="201" name="Text 9"/>
          <p:cNvSpPr txBox="1"/>
          <p:nvPr/>
        </p:nvSpPr>
        <p:spPr>
          <a:xfrm>
            <a:off x="6263640" y="1645920"/>
            <a:ext cx="5468112" cy="256032"/>
          </a:xfrm>
          <a:prstGeom prst="rect">
            <a:avLst/>
          </a:prstGeom>
          <a:noFill/>
          <a:ln/>
        </p:spPr>
        <p:txBody>
          <a:bodyPr wrap="square" lIns="0" tIns="0" rIns="0" bIns="0" rtlCol="0" anchor="ctr"/>
          <a:lstStyle/>
          <a:p>
            <a:pPr marL="0" indent="0">
              <a:buNone/>
            </a:pPr>
            <a:r>
              <a:rPr lang="en-US" sz="1100" b="1" kern="0" spc="100" dirty="0">
                <a:solidFill>
                  <a:srgbClr val="FFB000"/>
                </a:solidFill>
                <a:latin typeface="Consolas" pitchFamily="34" charset="0"/>
                <a:ea typeface="Consolas" pitchFamily="34" charset="-122"/>
                <a:cs typeface="Consolas" pitchFamily="34" charset="-120"/>
              </a:rPr>
              <a:t>WHAT WE SAW</a:t>
            </a:r>
            <a:endParaRPr lang="en-US" sz="1100" dirty="0"/>
          </a:p>
        </p:txBody>
      </p:sp>
      <p:sp>
        <p:nvSpPr>
          <p:cNvPr id="14" name="Gauge segment"/>
          <p:cNvSpPr/>
          <p:nvPr/>
        </p:nvSpPr>
        <p:spPr>
          <a:xfrm>
            <a:off x="1010151" y="3088490"/>
            <a:ext cx="1676960" cy="1676960"/>
          </a:xfrm>
          <a:prstGeom prst="blockArc">
            <a:avLst>
              <a:gd name="adj1" fmla="val 10836000"/>
              <a:gd name="adj2" fmla="val 11364000"/>
              <a:gd name="adj3" fmla="val 13000"/>
            </a:avLst>
          </a:prstGeom>
          <a:solidFill>
            <a:srgbClr val="4E6A88"/>
          </a:solidFill>
          <a:ln/>
        </p:spPr>
        <p:txBody>
          <a:bodyPr/>
          <a:lstStyle/>
          <a:p>
            <a:endParaRPr lang="en-US"/>
          </a:p>
        </p:txBody>
      </p:sp>
      <p:sp>
        <p:nvSpPr>
          <p:cNvPr id="15" name="Gauge segment"/>
          <p:cNvSpPr/>
          <p:nvPr/>
        </p:nvSpPr>
        <p:spPr>
          <a:xfrm>
            <a:off x="1010151" y="3088490"/>
            <a:ext cx="1676960" cy="1676960"/>
          </a:xfrm>
          <a:prstGeom prst="blockArc">
            <a:avLst>
              <a:gd name="adj1" fmla="val 11436000"/>
              <a:gd name="adj2" fmla="val 11964000"/>
              <a:gd name="adj3" fmla="val 13000"/>
            </a:avLst>
          </a:prstGeom>
          <a:solidFill>
            <a:srgbClr val="637278"/>
          </a:solidFill>
          <a:ln/>
        </p:spPr>
        <p:txBody>
          <a:bodyPr/>
          <a:lstStyle/>
          <a:p>
            <a:endParaRPr lang="en-US"/>
          </a:p>
        </p:txBody>
      </p:sp>
      <p:sp>
        <p:nvSpPr>
          <p:cNvPr id="16" name="Gauge segment"/>
          <p:cNvSpPr/>
          <p:nvPr/>
        </p:nvSpPr>
        <p:spPr>
          <a:xfrm>
            <a:off x="1010151" y="3088490"/>
            <a:ext cx="1676960" cy="1676960"/>
          </a:xfrm>
          <a:prstGeom prst="blockArc">
            <a:avLst>
              <a:gd name="adj1" fmla="val 12036000"/>
              <a:gd name="adj2" fmla="val 12564000"/>
              <a:gd name="adj3" fmla="val 13000"/>
            </a:avLst>
          </a:prstGeom>
          <a:solidFill>
            <a:srgbClr val="787A68"/>
          </a:solidFill>
          <a:ln/>
        </p:spPr>
        <p:txBody>
          <a:bodyPr/>
          <a:lstStyle/>
          <a:p>
            <a:endParaRPr lang="en-US"/>
          </a:p>
        </p:txBody>
      </p:sp>
      <p:sp>
        <p:nvSpPr>
          <p:cNvPr id="17" name="Gauge segment"/>
          <p:cNvSpPr/>
          <p:nvPr/>
        </p:nvSpPr>
        <p:spPr>
          <a:xfrm>
            <a:off x="1010151" y="3088490"/>
            <a:ext cx="1676960" cy="1676960"/>
          </a:xfrm>
          <a:prstGeom prst="blockArc">
            <a:avLst>
              <a:gd name="adj1" fmla="val 12636000"/>
              <a:gd name="adj2" fmla="val 13164000"/>
              <a:gd name="adj3" fmla="val 13000"/>
            </a:avLst>
          </a:prstGeom>
          <a:solidFill>
            <a:srgbClr val="8C8358"/>
          </a:solidFill>
          <a:ln/>
        </p:spPr>
        <p:txBody>
          <a:bodyPr/>
          <a:lstStyle/>
          <a:p>
            <a:endParaRPr lang="en-US"/>
          </a:p>
        </p:txBody>
      </p:sp>
      <p:sp>
        <p:nvSpPr>
          <p:cNvPr id="18" name="Gauge segment"/>
          <p:cNvSpPr/>
          <p:nvPr/>
        </p:nvSpPr>
        <p:spPr>
          <a:xfrm>
            <a:off x="1010151" y="3088490"/>
            <a:ext cx="1676960" cy="1676960"/>
          </a:xfrm>
          <a:prstGeom prst="blockArc">
            <a:avLst>
              <a:gd name="adj1" fmla="val 13236000"/>
              <a:gd name="adj2" fmla="val 13764000"/>
              <a:gd name="adj3" fmla="val 13000"/>
            </a:avLst>
          </a:prstGeom>
          <a:solidFill>
            <a:srgbClr val="A18B48"/>
          </a:solidFill>
          <a:ln/>
        </p:spPr>
        <p:txBody>
          <a:bodyPr/>
          <a:lstStyle/>
          <a:p>
            <a:endParaRPr lang="en-US"/>
          </a:p>
        </p:txBody>
      </p:sp>
      <p:sp>
        <p:nvSpPr>
          <p:cNvPr id="19" name="Gauge segment"/>
          <p:cNvSpPr/>
          <p:nvPr/>
        </p:nvSpPr>
        <p:spPr>
          <a:xfrm>
            <a:off x="1010151" y="3088490"/>
            <a:ext cx="1676960" cy="1676960"/>
          </a:xfrm>
          <a:prstGeom prst="blockArc">
            <a:avLst>
              <a:gd name="adj1" fmla="val 13836000"/>
              <a:gd name="adj2" fmla="val 14364000"/>
              <a:gd name="adj3" fmla="val 13000"/>
            </a:avLst>
          </a:prstGeom>
          <a:solidFill>
            <a:srgbClr val="B69338"/>
          </a:solidFill>
          <a:ln/>
        </p:spPr>
        <p:txBody>
          <a:bodyPr/>
          <a:lstStyle/>
          <a:p>
            <a:endParaRPr lang="en-US"/>
          </a:p>
        </p:txBody>
      </p:sp>
      <p:sp>
        <p:nvSpPr>
          <p:cNvPr id="20" name="Gauge segment"/>
          <p:cNvSpPr/>
          <p:nvPr/>
        </p:nvSpPr>
        <p:spPr>
          <a:xfrm>
            <a:off x="1010151" y="3088490"/>
            <a:ext cx="1676960" cy="1676960"/>
          </a:xfrm>
          <a:prstGeom prst="blockArc">
            <a:avLst>
              <a:gd name="adj1" fmla="val 14436000"/>
              <a:gd name="adj2" fmla="val 14964000"/>
              <a:gd name="adj3" fmla="val 13000"/>
            </a:avLst>
          </a:prstGeom>
          <a:solidFill>
            <a:srgbClr val="CB9B28"/>
          </a:solidFill>
          <a:ln/>
        </p:spPr>
        <p:txBody>
          <a:bodyPr/>
          <a:lstStyle/>
          <a:p>
            <a:endParaRPr lang="en-US"/>
          </a:p>
        </p:txBody>
      </p:sp>
      <p:sp>
        <p:nvSpPr>
          <p:cNvPr id="21" name="Gauge segment"/>
          <p:cNvSpPr/>
          <p:nvPr/>
        </p:nvSpPr>
        <p:spPr>
          <a:xfrm>
            <a:off x="1010151" y="3088490"/>
            <a:ext cx="1676960" cy="1676960"/>
          </a:xfrm>
          <a:prstGeom prst="blockArc">
            <a:avLst>
              <a:gd name="adj1" fmla="val 15036000"/>
              <a:gd name="adj2" fmla="val 15564000"/>
              <a:gd name="adj3" fmla="val 13000"/>
            </a:avLst>
          </a:prstGeom>
          <a:solidFill>
            <a:srgbClr val="E0A418"/>
          </a:solidFill>
          <a:ln/>
        </p:spPr>
        <p:txBody>
          <a:bodyPr/>
          <a:lstStyle/>
          <a:p>
            <a:endParaRPr lang="en-US"/>
          </a:p>
        </p:txBody>
      </p:sp>
      <p:sp>
        <p:nvSpPr>
          <p:cNvPr id="22" name="Gauge segment"/>
          <p:cNvSpPr/>
          <p:nvPr/>
        </p:nvSpPr>
        <p:spPr>
          <a:xfrm>
            <a:off x="1010151" y="3088490"/>
            <a:ext cx="1676960" cy="1676960"/>
          </a:xfrm>
          <a:prstGeom prst="blockArc">
            <a:avLst>
              <a:gd name="adj1" fmla="val 15636000"/>
              <a:gd name="adj2" fmla="val 16164000"/>
              <a:gd name="adj3" fmla="val 13000"/>
            </a:avLst>
          </a:prstGeom>
          <a:solidFill>
            <a:srgbClr val="F5AC08"/>
          </a:solidFill>
          <a:ln/>
        </p:spPr>
        <p:txBody>
          <a:bodyPr/>
          <a:lstStyle/>
          <a:p>
            <a:endParaRPr lang="en-US"/>
          </a:p>
        </p:txBody>
      </p:sp>
      <p:sp>
        <p:nvSpPr>
          <p:cNvPr id="23" name="Gauge segment"/>
          <p:cNvSpPr/>
          <p:nvPr/>
        </p:nvSpPr>
        <p:spPr>
          <a:xfrm>
            <a:off x="1010151" y="3088490"/>
            <a:ext cx="1676960" cy="1676960"/>
          </a:xfrm>
          <a:prstGeom prst="blockArc">
            <a:avLst>
              <a:gd name="adj1" fmla="val 16236000"/>
              <a:gd name="adj2" fmla="val 16764000"/>
              <a:gd name="adj3" fmla="val 13000"/>
            </a:avLst>
          </a:prstGeom>
          <a:solidFill>
            <a:srgbClr val="FFAA03"/>
          </a:solidFill>
          <a:ln/>
        </p:spPr>
        <p:txBody>
          <a:bodyPr/>
          <a:lstStyle/>
          <a:p>
            <a:endParaRPr lang="en-US"/>
          </a:p>
        </p:txBody>
      </p:sp>
      <p:sp>
        <p:nvSpPr>
          <p:cNvPr id="24" name="Gauge segment"/>
          <p:cNvSpPr/>
          <p:nvPr/>
        </p:nvSpPr>
        <p:spPr>
          <a:xfrm>
            <a:off x="1010151" y="3088490"/>
            <a:ext cx="1676960" cy="1676960"/>
          </a:xfrm>
          <a:prstGeom prst="blockArc">
            <a:avLst>
              <a:gd name="adj1" fmla="val 16836000"/>
              <a:gd name="adj2" fmla="val 17364000"/>
              <a:gd name="adj3" fmla="val 13000"/>
            </a:avLst>
          </a:prstGeom>
          <a:solidFill>
            <a:srgbClr val="FF9D0A"/>
          </a:solidFill>
          <a:ln/>
        </p:spPr>
        <p:txBody>
          <a:bodyPr/>
          <a:lstStyle/>
          <a:p>
            <a:endParaRPr lang="en-US"/>
          </a:p>
        </p:txBody>
      </p:sp>
      <p:sp>
        <p:nvSpPr>
          <p:cNvPr id="25" name="Gauge segment"/>
          <p:cNvSpPr/>
          <p:nvPr/>
        </p:nvSpPr>
        <p:spPr>
          <a:xfrm>
            <a:off x="1010151" y="3088490"/>
            <a:ext cx="1676960" cy="1676960"/>
          </a:xfrm>
          <a:prstGeom prst="blockArc">
            <a:avLst>
              <a:gd name="adj1" fmla="val 17436000"/>
              <a:gd name="adj2" fmla="val 17964000"/>
              <a:gd name="adj3" fmla="val 13000"/>
            </a:avLst>
          </a:prstGeom>
          <a:solidFill>
            <a:srgbClr val="FF9111"/>
          </a:solidFill>
          <a:ln/>
        </p:spPr>
        <p:txBody>
          <a:bodyPr/>
          <a:lstStyle/>
          <a:p>
            <a:endParaRPr lang="en-US"/>
          </a:p>
        </p:txBody>
      </p:sp>
      <p:sp>
        <p:nvSpPr>
          <p:cNvPr id="26" name="Gauge segment"/>
          <p:cNvSpPr/>
          <p:nvPr/>
        </p:nvSpPr>
        <p:spPr>
          <a:xfrm>
            <a:off x="1010151" y="3088490"/>
            <a:ext cx="1676960" cy="1676960"/>
          </a:xfrm>
          <a:prstGeom prst="blockArc">
            <a:avLst>
              <a:gd name="adj1" fmla="val 18036000"/>
              <a:gd name="adj2" fmla="val 18564000"/>
              <a:gd name="adj3" fmla="val 13000"/>
            </a:avLst>
          </a:prstGeom>
          <a:solidFill>
            <a:srgbClr val="FF8418"/>
          </a:solidFill>
          <a:ln/>
        </p:spPr>
        <p:txBody>
          <a:bodyPr/>
          <a:lstStyle/>
          <a:p>
            <a:endParaRPr lang="en-US"/>
          </a:p>
        </p:txBody>
      </p:sp>
      <p:sp>
        <p:nvSpPr>
          <p:cNvPr id="27" name="Gauge segment"/>
          <p:cNvSpPr/>
          <p:nvPr/>
        </p:nvSpPr>
        <p:spPr>
          <a:xfrm>
            <a:off x="1010151" y="3088490"/>
            <a:ext cx="1676960" cy="1676960"/>
          </a:xfrm>
          <a:prstGeom prst="blockArc">
            <a:avLst>
              <a:gd name="adj1" fmla="val 18636000"/>
              <a:gd name="adj2" fmla="val 19164000"/>
              <a:gd name="adj3" fmla="val 13000"/>
            </a:avLst>
          </a:prstGeom>
          <a:solidFill>
            <a:srgbClr val="FF771F"/>
          </a:solidFill>
          <a:ln/>
        </p:spPr>
        <p:txBody>
          <a:bodyPr/>
          <a:lstStyle/>
          <a:p>
            <a:endParaRPr lang="en-US"/>
          </a:p>
        </p:txBody>
      </p:sp>
      <p:sp>
        <p:nvSpPr>
          <p:cNvPr id="28" name="Gauge segment"/>
          <p:cNvSpPr/>
          <p:nvPr/>
        </p:nvSpPr>
        <p:spPr>
          <a:xfrm>
            <a:off x="1010151" y="3088490"/>
            <a:ext cx="1676960" cy="1676960"/>
          </a:xfrm>
          <a:prstGeom prst="blockArc">
            <a:avLst>
              <a:gd name="adj1" fmla="val 19236000"/>
              <a:gd name="adj2" fmla="val 19764000"/>
              <a:gd name="adj3" fmla="val 13000"/>
            </a:avLst>
          </a:prstGeom>
          <a:solidFill>
            <a:srgbClr val="FF6B26"/>
          </a:solidFill>
          <a:ln/>
        </p:spPr>
        <p:txBody>
          <a:bodyPr/>
          <a:lstStyle/>
          <a:p>
            <a:endParaRPr lang="en-US"/>
          </a:p>
        </p:txBody>
      </p:sp>
      <p:sp>
        <p:nvSpPr>
          <p:cNvPr id="29" name="Gauge segment"/>
          <p:cNvSpPr/>
          <p:nvPr/>
        </p:nvSpPr>
        <p:spPr>
          <a:xfrm>
            <a:off x="1010151" y="3088490"/>
            <a:ext cx="1676960" cy="1676960"/>
          </a:xfrm>
          <a:prstGeom prst="blockArc">
            <a:avLst>
              <a:gd name="adj1" fmla="val 19836000"/>
              <a:gd name="adj2" fmla="val 20364000"/>
              <a:gd name="adj3" fmla="val 13000"/>
            </a:avLst>
          </a:prstGeom>
          <a:solidFill>
            <a:srgbClr val="FF5E2C"/>
          </a:solidFill>
          <a:ln/>
        </p:spPr>
        <p:txBody>
          <a:bodyPr/>
          <a:lstStyle/>
          <a:p>
            <a:endParaRPr lang="en-US"/>
          </a:p>
        </p:txBody>
      </p:sp>
      <p:sp>
        <p:nvSpPr>
          <p:cNvPr id="30" name="Gauge segment"/>
          <p:cNvSpPr/>
          <p:nvPr/>
        </p:nvSpPr>
        <p:spPr>
          <a:xfrm>
            <a:off x="1010151" y="3088490"/>
            <a:ext cx="1676960" cy="1676960"/>
          </a:xfrm>
          <a:prstGeom prst="blockArc">
            <a:avLst>
              <a:gd name="adj1" fmla="val 20436000"/>
              <a:gd name="adj2" fmla="val 20964000"/>
              <a:gd name="adj3" fmla="val 13000"/>
            </a:avLst>
          </a:prstGeom>
          <a:solidFill>
            <a:srgbClr val="FF5233"/>
          </a:solidFill>
          <a:ln/>
        </p:spPr>
        <p:txBody>
          <a:bodyPr/>
          <a:lstStyle/>
          <a:p>
            <a:endParaRPr lang="en-US"/>
          </a:p>
        </p:txBody>
      </p:sp>
      <p:sp>
        <p:nvSpPr>
          <p:cNvPr id="31" name="Gauge segment"/>
          <p:cNvSpPr/>
          <p:nvPr/>
        </p:nvSpPr>
        <p:spPr>
          <a:xfrm>
            <a:off x="1010151" y="3088490"/>
            <a:ext cx="1676960" cy="1676960"/>
          </a:xfrm>
          <a:prstGeom prst="blockArc">
            <a:avLst>
              <a:gd name="adj1" fmla="val 21036000"/>
              <a:gd name="adj2" fmla="val 21564000"/>
              <a:gd name="adj3" fmla="val 13000"/>
            </a:avLst>
          </a:prstGeom>
          <a:solidFill>
            <a:srgbClr val="FF453A"/>
          </a:solidFill>
          <a:ln/>
        </p:spPr>
        <p:txBody>
          <a:bodyPr/>
          <a:lstStyle/>
          <a:p>
            <a:endParaRPr lang="en-US"/>
          </a:p>
        </p:txBody>
      </p:sp>
      <p:sp>
        <p:nvSpPr>
          <p:cNvPr id="32" name="Gauge needle"/>
          <p:cNvSpPr/>
          <p:nvPr/>
        </p:nvSpPr>
        <p:spPr>
          <a:xfrm flipV="1">
            <a:off x="1848631" y="3559904"/>
            <a:ext cx="620675" cy="367066"/>
          </a:xfrm>
          <a:prstGeom prst="line">
            <a:avLst/>
          </a:prstGeom>
          <a:noFill/>
          <a:ln w="31750">
            <a:solidFill>
              <a:srgbClr val="E6EDF3"/>
            </a:solidFill>
            <a:prstDash val="solid"/>
          </a:ln>
        </p:spPr>
        <p:txBody>
          <a:bodyPr/>
          <a:lstStyle/>
          <a:p>
            <a:endParaRPr lang="en-US"/>
          </a:p>
        </p:txBody>
      </p:sp>
      <p:sp>
        <p:nvSpPr>
          <p:cNvPr id="33" name="Gauge hub"/>
          <p:cNvSpPr/>
          <p:nvPr/>
        </p:nvSpPr>
        <p:spPr>
          <a:xfrm>
            <a:off x="1773168" y="3851507"/>
            <a:ext cx="150926" cy="150926"/>
          </a:xfrm>
          <a:prstGeom prst="ellipse">
            <a:avLst/>
          </a:prstGeom>
          <a:solidFill>
            <a:srgbClr val="E6EDF3"/>
          </a:solidFill>
          <a:ln/>
        </p:spPr>
        <p:txBody>
          <a:bodyPr/>
          <a:lstStyle/>
          <a:p>
            <a:endParaRPr lang="en-US"/>
          </a:p>
        </p:txBody>
      </p:sp>
      <p:sp>
        <p:nvSpPr>
          <p:cNvPr id="34" name="Text 31"/>
          <p:cNvSpPr txBox="1"/>
          <p:nvPr/>
        </p:nvSpPr>
        <p:spPr>
          <a:xfrm>
            <a:off x="1010151" y="4049015"/>
            <a:ext cx="1676960" cy="372658"/>
          </a:xfrm>
          <a:prstGeom prst="rect">
            <a:avLst/>
          </a:prstGeom>
          <a:noFill/>
          <a:ln/>
        </p:spPr>
        <p:txBody>
          <a:bodyPr wrap="square" lIns="0" tIns="0" rIns="0" bIns="0" rtlCol="0" anchor="t"/>
          <a:lstStyle/>
          <a:p>
            <a:pPr marL="0" indent="0" algn="ctr">
              <a:buNone/>
            </a:pPr>
            <a:r>
              <a:rPr lang="en-US" sz="2600" b="1" dirty="0">
                <a:solidFill>
                  <a:srgbClr val="FF453A"/>
                </a:solidFill>
                <a:latin typeface="Consolas" pitchFamily="34" charset="0"/>
                <a:ea typeface="Consolas" pitchFamily="34" charset="-122"/>
                <a:cs typeface="Consolas" pitchFamily="34" charset="-120"/>
              </a:rPr>
              <a:t>0.83</a:t>
            </a:r>
            <a:endParaRPr lang="en-US" sz="2600" dirty="0"/>
          </a:p>
        </p:txBody>
      </p:sp>
      <p:sp>
        <p:nvSpPr>
          <p:cNvPr id="35" name="Text 32"/>
          <p:cNvSpPr txBox="1"/>
          <p:nvPr/>
        </p:nvSpPr>
        <p:spPr>
          <a:xfrm>
            <a:off x="777240" y="4421673"/>
            <a:ext cx="2142782" cy="582278"/>
          </a:xfrm>
          <a:prstGeom prst="rect">
            <a:avLst/>
          </a:prstGeom>
          <a:noFill/>
          <a:ln/>
        </p:spPr>
        <p:txBody>
          <a:bodyPr wrap="square" lIns="0" tIns="0" rIns="0" bIns="0" rtlCol="0" anchor="t"/>
          <a:lstStyle/>
          <a:p>
            <a:pPr marL="0" indent="0" algn="ctr">
              <a:buNone/>
            </a:pPr>
            <a:r>
              <a:rPr lang="en-US" sz="1300" dirty="0">
                <a:solidFill>
                  <a:srgbClr val="93A1B3"/>
                </a:solidFill>
                <a:latin typeface="Segoe UI" pitchFamily="34" charset="0"/>
                <a:ea typeface="Segoe UI" pitchFamily="34" charset="-122"/>
                <a:cs typeface="Segoe UI" pitchFamily="34" charset="-120"/>
              </a:rPr>
              <a:t>Japanese, average</a:t>
            </a:r>
            <a:endParaRPr lang="en-US" sz="1300" dirty="0"/>
          </a:p>
        </p:txBody>
      </p:sp>
      <p:sp>
        <p:nvSpPr>
          <p:cNvPr id="36" name="Gauge segment"/>
          <p:cNvSpPr/>
          <p:nvPr/>
        </p:nvSpPr>
        <p:spPr>
          <a:xfrm>
            <a:off x="3622249" y="3088490"/>
            <a:ext cx="1676960" cy="1676960"/>
          </a:xfrm>
          <a:prstGeom prst="blockArc">
            <a:avLst>
              <a:gd name="adj1" fmla="val 10836000"/>
              <a:gd name="adj2" fmla="val 11364000"/>
              <a:gd name="adj3" fmla="val 13000"/>
            </a:avLst>
          </a:prstGeom>
          <a:solidFill>
            <a:srgbClr val="4E6A88"/>
          </a:solidFill>
          <a:ln/>
        </p:spPr>
        <p:txBody>
          <a:bodyPr/>
          <a:lstStyle/>
          <a:p>
            <a:endParaRPr lang="en-US"/>
          </a:p>
        </p:txBody>
      </p:sp>
      <p:sp>
        <p:nvSpPr>
          <p:cNvPr id="37" name="Gauge segment"/>
          <p:cNvSpPr/>
          <p:nvPr/>
        </p:nvSpPr>
        <p:spPr>
          <a:xfrm>
            <a:off x="3622249" y="3088490"/>
            <a:ext cx="1676960" cy="1676960"/>
          </a:xfrm>
          <a:prstGeom prst="blockArc">
            <a:avLst>
              <a:gd name="adj1" fmla="val 11436000"/>
              <a:gd name="adj2" fmla="val 11964000"/>
              <a:gd name="adj3" fmla="val 13000"/>
            </a:avLst>
          </a:prstGeom>
          <a:solidFill>
            <a:srgbClr val="637278"/>
          </a:solidFill>
          <a:ln/>
        </p:spPr>
        <p:txBody>
          <a:bodyPr/>
          <a:lstStyle/>
          <a:p>
            <a:endParaRPr lang="en-US"/>
          </a:p>
        </p:txBody>
      </p:sp>
      <p:sp>
        <p:nvSpPr>
          <p:cNvPr id="38" name="Gauge segment"/>
          <p:cNvSpPr/>
          <p:nvPr/>
        </p:nvSpPr>
        <p:spPr>
          <a:xfrm>
            <a:off x="3622249" y="3088490"/>
            <a:ext cx="1676960" cy="1676960"/>
          </a:xfrm>
          <a:prstGeom prst="blockArc">
            <a:avLst>
              <a:gd name="adj1" fmla="val 12036000"/>
              <a:gd name="adj2" fmla="val 12564000"/>
              <a:gd name="adj3" fmla="val 13000"/>
            </a:avLst>
          </a:prstGeom>
          <a:solidFill>
            <a:srgbClr val="787A68"/>
          </a:solidFill>
          <a:ln/>
        </p:spPr>
        <p:txBody>
          <a:bodyPr/>
          <a:lstStyle/>
          <a:p>
            <a:endParaRPr lang="en-US"/>
          </a:p>
        </p:txBody>
      </p:sp>
      <p:sp>
        <p:nvSpPr>
          <p:cNvPr id="39" name="Gauge segment"/>
          <p:cNvSpPr/>
          <p:nvPr/>
        </p:nvSpPr>
        <p:spPr>
          <a:xfrm>
            <a:off x="3622249" y="3088490"/>
            <a:ext cx="1676960" cy="1676960"/>
          </a:xfrm>
          <a:prstGeom prst="blockArc">
            <a:avLst>
              <a:gd name="adj1" fmla="val 12636000"/>
              <a:gd name="adj2" fmla="val 13164000"/>
              <a:gd name="adj3" fmla="val 13000"/>
            </a:avLst>
          </a:prstGeom>
          <a:solidFill>
            <a:srgbClr val="8C8358"/>
          </a:solidFill>
          <a:ln/>
        </p:spPr>
        <p:txBody>
          <a:bodyPr/>
          <a:lstStyle/>
          <a:p>
            <a:endParaRPr lang="en-US"/>
          </a:p>
        </p:txBody>
      </p:sp>
      <p:sp>
        <p:nvSpPr>
          <p:cNvPr id="40" name="Gauge segment"/>
          <p:cNvSpPr/>
          <p:nvPr/>
        </p:nvSpPr>
        <p:spPr>
          <a:xfrm>
            <a:off x="3622249" y="3088490"/>
            <a:ext cx="1676960" cy="1676960"/>
          </a:xfrm>
          <a:prstGeom prst="blockArc">
            <a:avLst>
              <a:gd name="adj1" fmla="val 13236000"/>
              <a:gd name="adj2" fmla="val 13764000"/>
              <a:gd name="adj3" fmla="val 13000"/>
            </a:avLst>
          </a:prstGeom>
          <a:solidFill>
            <a:srgbClr val="A18B48"/>
          </a:solidFill>
          <a:ln/>
        </p:spPr>
        <p:txBody>
          <a:bodyPr/>
          <a:lstStyle/>
          <a:p>
            <a:endParaRPr lang="en-US"/>
          </a:p>
        </p:txBody>
      </p:sp>
      <p:sp>
        <p:nvSpPr>
          <p:cNvPr id="41" name="Gauge segment"/>
          <p:cNvSpPr/>
          <p:nvPr/>
        </p:nvSpPr>
        <p:spPr>
          <a:xfrm>
            <a:off x="3622249" y="3088490"/>
            <a:ext cx="1676960" cy="1676960"/>
          </a:xfrm>
          <a:prstGeom prst="blockArc">
            <a:avLst>
              <a:gd name="adj1" fmla="val 13836000"/>
              <a:gd name="adj2" fmla="val 14364000"/>
              <a:gd name="adj3" fmla="val 13000"/>
            </a:avLst>
          </a:prstGeom>
          <a:solidFill>
            <a:srgbClr val="B69338"/>
          </a:solidFill>
          <a:ln/>
        </p:spPr>
        <p:txBody>
          <a:bodyPr/>
          <a:lstStyle/>
          <a:p>
            <a:endParaRPr lang="en-US"/>
          </a:p>
        </p:txBody>
      </p:sp>
      <p:sp>
        <p:nvSpPr>
          <p:cNvPr id="42" name="Gauge segment"/>
          <p:cNvSpPr/>
          <p:nvPr/>
        </p:nvSpPr>
        <p:spPr>
          <a:xfrm>
            <a:off x="3622249" y="3088490"/>
            <a:ext cx="1676960" cy="1676960"/>
          </a:xfrm>
          <a:prstGeom prst="blockArc">
            <a:avLst>
              <a:gd name="adj1" fmla="val 14436000"/>
              <a:gd name="adj2" fmla="val 14964000"/>
              <a:gd name="adj3" fmla="val 13000"/>
            </a:avLst>
          </a:prstGeom>
          <a:solidFill>
            <a:srgbClr val="CB9B28"/>
          </a:solidFill>
          <a:ln/>
        </p:spPr>
        <p:txBody>
          <a:bodyPr/>
          <a:lstStyle/>
          <a:p>
            <a:endParaRPr lang="en-US"/>
          </a:p>
        </p:txBody>
      </p:sp>
      <p:sp>
        <p:nvSpPr>
          <p:cNvPr id="43" name="Gauge segment"/>
          <p:cNvSpPr/>
          <p:nvPr/>
        </p:nvSpPr>
        <p:spPr>
          <a:xfrm>
            <a:off x="3622249" y="3088490"/>
            <a:ext cx="1676960" cy="1676960"/>
          </a:xfrm>
          <a:prstGeom prst="blockArc">
            <a:avLst>
              <a:gd name="adj1" fmla="val 15036000"/>
              <a:gd name="adj2" fmla="val 15564000"/>
              <a:gd name="adj3" fmla="val 13000"/>
            </a:avLst>
          </a:prstGeom>
          <a:solidFill>
            <a:srgbClr val="E0A418"/>
          </a:solidFill>
          <a:ln/>
        </p:spPr>
        <p:txBody>
          <a:bodyPr/>
          <a:lstStyle/>
          <a:p>
            <a:endParaRPr lang="en-US"/>
          </a:p>
        </p:txBody>
      </p:sp>
      <p:sp>
        <p:nvSpPr>
          <p:cNvPr id="44" name="Gauge segment"/>
          <p:cNvSpPr/>
          <p:nvPr/>
        </p:nvSpPr>
        <p:spPr>
          <a:xfrm>
            <a:off x="3622249" y="3088490"/>
            <a:ext cx="1676960" cy="1676960"/>
          </a:xfrm>
          <a:prstGeom prst="blockArc">
            <a:avLst>
              <a:gd name="adj1" fmla="val 15636000"/>
              <a:gd name="adj2" fmla="val 16164000"/>
              <a:gd name="adj3" fmla="val 13000"/>
            </a:avLst>
          </a:prstGeom>
          <a:solidFill>
            <a:srgbClr val="F5AC08"/>
          </a:solidFill>
          <a:ln/>
        </p:spPr>
        <p:txBody>
          <a:bodyPr/>
          <a:lstStyle/>
          <a:p>
            <a:endParaRPr lang="en-US"/>
          </a:p>
        </p:txBody>
      </p:sp>
      <p:sp>
        <p:nvSpPr>
          <p:cNvPr id="45" name="Gauge segment"/>
          <p:cNvSpPr/>
          <p:nvPr/>
        </p:nvSpPr>
        <p:spPr>
          <a:xfrm>
            <a:off x="3622249" y="3088490"/>
            <a:ext cx="1676960" cy="1676960"/>
          </a:xfrm>
          <a:prstGeom prst="blockArc">
            <a:avLst>
              <a:gd name="adj1" fmla="val 16236000"/>
              <a:gd name="adj2" fmla="val 16764000"/>
              <a:gd name="adj3" fmla="val 13000"/>
            </a:avLst>
          </a:prstGeom>
          <a:solidFill>
            <a:srgbClr val="FFAA03"/>
          </a:solidFill>
          <a:ln/>
        </p:spPr>
        <p:txBody>
          <a:bodyPr/>
          <a:lstStyle/>
          <a:p>
            <a:endParaRPr lang="en-US"/>
          </a:p>
        </p:txBody>
      </p:sp>
      <p:sp>
        <p:nvSpPr>
          <p:cNvPr id="46" name="Gauge segment"/>
          <p:cNvSpPr/>
          <p:nvPr/>
        </p:nvSpPr>
        <p:spPr>
          <a:xfrm>
            <a:off x="3622249" y="3088490"/>
            <a:ext cx="1676960" cy="1676960"/>
          </a:xfrm>
          <a:prstGeom prst="blockArc">
            <a:avLst>
              <a:gd name="adj1" fmla="val 16836000"/>
              <a:gd name="adj2" fmla="val 17364000"/>
              <a:gd name="adj3" fmla="val 13000"/>
            </a:avLst>
          </a:prstGeom>
          <a:solidFill>
            <a:srgbClr val="FF9D0A"/>
          </a:solidFill>
          <a:ln/>
        </p:spPr>
        <p:txBody>
          <a:bodyPr/>
          <a:lstStyle/>
          <a:p>
            <a:endParaRPr lang="en-US"/>
          </a:p>
        </p:txBody>
      </p:sp>
      <p:sp>
        <p:nvSpPr>
          <p:cNvPr id="47" name="Gauge segment"/>
          <p:cNvSpPr/>
          <p:nvPr/>
        </p:nvSpPr>
        <p:spPr>
          <a:xfrm>
            <a:off x="3622249" y="3088490"/>
            <a:ext cx="1676960" cy="1676960"/>
          </a:xfrm>
          <a:prstGeom prst="blockArc">
            <a:avLst>
              <a:gd name="adj1" fmla="val 17436000"/>
              <a:gd name="adj2" fmla="val 17964000"/>
              <a:gd name="adj3" fmla="val 13000"/>
            </a:avLst>
          </a:prstGeom>
          <a:solidFill>
            <a:srgbClr val="FF9111"/>
          </a:solidFill>
          <a:ln/>
        </p:spPr>
        <p:txBody>
          <a:bodyPr/>
          <a:lstStyle/>
          <a:p>
            <a:endParaRPr lang="en-US"/>
          </a:p>
        </p:txBody>
      </p:sp>
      <p:sp>
        <p:nvSpPr>
          <p:cNvPr id="48" name="Gauge segment"/>
          <p:cNvSpPr/>
          <p:nvPr/>
        </p:nvSpPr>
        <p:spPr>
          <a:xfrm>
            <a:off x="3622249" y="3088490"/>
            <a:ext cx="1676960" cy="1676960"/>
          </a:xfrm>
          <a:prstGeom prst="blockArc">
            <a:avLst>
              <a:gd name="adj1" fmla="val 18036000"/>
              <a:gd name="adj2" fmla="val 18564000"/>
              <a:gd name="adj3" fmla="val 13000"/>
            </a:avLst>
          </a:prstGeom>
          <a:solidFill>
            <a:srgbClr val="FF8418"/>
          </a:solidFill>
          <a:ln/>
        </p:spPr>
        <p:txBody>
          <a:bodyPr/>
          <a:lstStyle/>
          <a:p>
            <a:endParaRPr lang="en-US"/>
          </a:p>
        </p:txBody>
      </p:sp>
      <p:sp>
        <p:nvSpPr>
          <p:cNvPr id="49" name="Gauge segment"/>
          <p:cNvSpPr/>
          <p:nvPr/>
        </p:nvSpPr>
        <p:spPr>
          <a:xfrm>
            <a:off x="3622249" y="3088490"/>
            <a:ext cx="1676960" cy="1676960"/>
          </a:xfrm>
          <a:prstGeom prst="blockArc">
            <a:avLst>
              <a:gd name="adj1" fmla="val 18636000"/>
              <a:gd name="adj2" fmla="val 19164000"/>
              <a:gd name="adj3" fmla="val 13000"/>
            </a:avLst>
          </a:prstGeom>
          <a:solidFill>
            <a:srgbClr val="FF771F"/>
          </a:solidFill>
          <a:ln/>
        </p:spPr>
        <p:txBody>
          <a:bodyPr/>
          <a:lstStyle/>
          <a:p>
            <a:endParaRPr lang="en-US"/>
          </a:p>
        </p:txBody>
      </p:sp>
      <p:sp>
        <p:nvSpPr>
          <p:cNvPr id="50" name="Gauge segment"/>
          <p:cNvSpPr/>
          <p:nvPr/>
        </p:nvSpPr>
        <p:spPr>
          <a:xfrm>
            <a:off x="3622249" y="3088490"/>
            <a:ext cx="1676960" cy="1676960"/>
          </a:xfrm>
          <a:prstGeom prst="blockArc">
            <a:avLst>
              <a:gd name="adj1" fmla="val 19236000"/>
              <a:gd name="adj2" fmla="val 19764000"/>
              <a:gd name="adj3" fmla="val 13000"/>
            </a:avLst>
          </a:prstGeom>
          <a:solidFill>
            <a:srgbClr val="FF6B26"/>
          </a:solidFill>
          <a:ln/>
        </p:spPr>
        <p:txBody>
          <a:bodyPr/>
          <a:lstStyle/>
          <a:p>
            <a:endParaRPr lang="en-US"/>
          </a:p>
        </p:txBody>
      </p:sp>
      <p:sp>
        <p:nvSpPr>
          <p:cNvPr id="51" name="Gauge segment"/>
          <p:cNvSpPr/>
          <p:nvPr/>
        </p:nvSpPr>
        <p:spPr>
          <a:xfrm>
            <a:off x="3622249" y="3088490"/>
            <a:ext cx="1676960" cy="1676960"/>
          </a:xfrm>
          <a:prstGeom prst="blockArc">
            <a:avLst>
              <a:gd name="adj1" fmla="val 19836000"/>
              <a:gd name="adj2" fmla="val 20364000"/>
              <a:gd name="adj3" fmla="val 13000"/>
            </a:avLst>
          </a:prstGeom>
          <a:solidFill>
            <a:srgbClr val="FF5E2C"/>
          </a:solidFill>
          <a:ln/>
        </p:spPr>
        <p:txBody>
          <a:bodyPr/>
          <a:lstStyle/>
          <a:p>
            <a:endParaRPr lang="en-US"/>
          </a:p>
        </p:txBody>
      </p:sp>
      <p:sp>
        <p:nvSpPr>
          <p:cNvPr id="52" name="Gauge segment"/>
          <p:cNvSpPr/>
          <p:nvPr/>
        </p:nvSpPr>
        <p:spPr>
          <a:xfrm>
            <a:off x="3622249" y="3088490"/>
            <a:ext cx="1676960" cy="1676960"/>
          </a:xfrm>
          <a:prstGeom prst="blockArc">
            <a:avLst>
              <a:gd name="adj1" fmla="val 20436000"/>
              <a:gd name="adj2" fmla="val 20964000"/>
              <a:gd name="adj3" fmla="val 13000"/>
            </a:avLst>
          </a:prstGeom>
          <a:solidFill>
            <a:srgbClr val="FF5233"/>
          </a:solidFill>
          <a:ln/>
        </p:spPr>
        <p:txBody>
          <a:bodyPr/>
          <a:lstStyle/>
          <a:p>
            <a:endParaRPr lang="en-US"/>
          </a:p>
        </p:txBody>
      </p:sp>
      <p:sp>
        <p:nvSpPr>
          <p:cNvPr id="53" name="Gauge segment"/>
          <p:cNvSpPr/>
          <p:nvPr/>
        </p:nvSpPr>
        <p:spPr>
          <a:xfrm>
            <a:off x="3622249" y="3088490"/>
            <a:ext cx="1676960" cy="1676960"/>
          </a:xfrm>
          <a:prstGeom prst="blockArc">
            <a:avLst>
              <a:gd name="adj1" fmla="val 21036000"/>
              <a:gd name="adj2" fmla="val 21564000"/>
              <a:gd name="adj3" fmla="val 13000"/>
            </a:avLst>
          </a:prstGeom>
          <a:solidFill>
            <a:srgbClr val="FF453A"/>
          </a:solidFill>
          <a:ln/>
        </p:spPr>
        <p:txBody>
          <a:bodyPr/>
          <a:lstStyle/>
          <a:p>
            <a:endParaRPr lang="en-US"/>
          </a:p>
        </p:txBody>
      </p:sp>
      <p:sp>
        <p:nvSpPr>
          <p:cNvPr id="54" name="Gauge needle"/>
          <p:cNvSpPr/>
          <p:nvPr/>
        </p:nvSpPr>
        <p:spPr>
          <a:xfrm>
            <a:off x="3851891" y="3540589"/>
            <a:ext cx="608838" cy="386381"/>
          </a:xfrm>
          <a:prstGeom prst="line">
            <a:avLst/>
          </a:prstGeom>
          <a:noFill/>
          <a:ln w="31750">
            <a:solidFill>
              <a:srgbClr val="E6EDF3"/>
            </a:solidFill>
            <a:prstDash val="solid"/>
          </a:ln>
        </p:spPr>
        <p:txBody>
          <a:bodyPr/>
          <a:lstStyle/>
          <a:p>
            <a:endParaRPr lang="en-US"/>
          </a:p>
        </p:txBody>
      </p:sp>
      <p:sp>
        <p:nvSpPr>
          <p:cNvPr id="55" name="Gauge hub"/>
          <p:cNvSpPr/>
          <p:nvPr/>
        </p:nvSpPr>
        <p:spPr>
          <a:xfrm>
            <a:off x="4385266" y="3851507"/>
            <a:ext cx="150926" cy="150926"/>
          </a:xfrm>
          <a:prstGeom prst="ellipse">
            <a:avLst/>
          </a:prstGeom>
          <a:solidFill>
            <a:srgbClr val="E6EDF3"/>
          </a:solidFill>
          <a:ln/>
        </p:spPr>
        <p:txBody>
          <a:bodyPr/>
          <a:lstStyle/>
          <a:p>
            <a:endParaRPr lang="en-US"/>
          </a:p>
        </p:txBody>
      </p:sp>
      <p:sp>
        <p:nvSpPr>
          <p:cNvPr id="56" name="Text 53"/>
          <p:cNvSpPr txBox="1"/>
          <p:nvPr/>
        </p:nvSpPr>
        <p:spPr>
          <a:xfrm>
            <a:off x="3622249" y="4049015"/>
            <a:ext cx="1676960" cy="372658"/>
          </a:xfrm>
          <a:prstGeom prst="rect">
            <a:avLst/>
          </a:prstGeom>
          <a:noFill/>
          <a:ln/>
        </p:spPr>
        <p:txBody>
          <a:bodyPr wrap="square" lIns="0" tIns="0" rIns="0" bIns="0" rtlCol="0" anchor="t"/>
          <a:lstStyle/>
          <a:p>
            <a:pPr marL="0" indent="0" algn="ctr">
              <a:buNone/>
            </a:pPr>
            <a:r>
              <a:rPr lang="en-US" sz="2600" b="1" dirty="0">
                <a:solidFill>
                  <a:srgbClr val="E6EDF3"/>
                </a:solidFill>
                <a:latin typeface="Consolas" pitchFamily="34" charset="0"/>
                <a:ea typeface="Consolas" pitchFamily="34" charset="-122"/>
                <a:cs typeface="Consolas" pitchFamily="34" charset="-120"/>
              </a:rPr>
              <a:t>0.18</a:t>
            </a:r>
            <a:endParaRPr lang="en-US" sz="2600" dirty="0"/>
          </a:p>
        </p:txBody>
      </p:sp>
      <p:sp>
        <p:nvSpPr>
          <p:cNvPr id="57" name="Text 54"/>
          <p:cNvSpPr txBox="1"/>
          <p:nvPr/>
        </p:nvSpPr>
        <p:spPr>
          <a:xfrm>
            <a:off x="3389338" y="4421673"/>
            <a:ext cx="2142782" cy="582278"/>
          </a:xfrm>
          <a:prstGeom prst="rect">
            <a:avLst/>
          </a:prstGeom>
          <a:noFill/>
          <a:ln/>
        </p:spPr>
        <p:txBody>
          <a:bodyPr wrap="square" lIns="0" tIns="0" rIns="0" bIns="0" rtlCol="0" anchor="t"/>
          <a:lstStyle/>
          <a:p>
            <a:pPr marL="0" indent="0" algn="ctr">
              <a:buNone/>
            </a:pPr>
            <a:r>
              <a:rPr lang="en-US" sz="1300" dirty="0">
                <a:solidFill>
                  <a:srgbClr val="93A1B3"/>
                </a:solidFill>
                <a:latin typeface="Segoe UI" pitchFamily="34" charset="0"/>
                <a:ea typeface="Segoe UI" pitchFamily="34" charset="-122"/>
                <a:cs typeface="Segoe UI" pitchFamily="34" charset="-120"/>
              </a:rPr>
              <a:t>English, average</a:t>
            </a:r>
            <a:endParaRPr lang="en-US" sz="1300" dirty="0"/>
          </a:p>
        </p:txBody>
      </p:sp>
      <p:sp>
        <p:nvSpPr>
          <p:cNvPr id="58" name="Text 55"/>
          <p:cNvSpPr txBox="1"/>
          <p:nvPr/>
        </p:nvSpPr>
        <p:spPr>
          <a:xfrm>
            <a:off x="6263640" y="1938528"/>
            <a:ext cx="5468112" cy="822960"/>
          </a:xfrm>
          <a:prstGeom prst="rect">
            <a:avLst/>
          </a:prstGeom>
          <a:noFill/>
          <a:ln/>
        </p:spPr>
        <p:txBody>
          <a:bodyPr wrap="square" lIns="0" tIns="0" rIns="0" bIns="0" rtlCol="0" anchor="t"/>
          <a:lstStyle/>
          <a:p>
            <a:pPr marL="0" indent="0">
              <a:buNone/>
            </a:pPr>
            <a:r>
              <a:rPr lang="en-US" sz="1400" b="1" dirty="0">
                <a:solidFill>
                  <a:srgbClr val="FFB000"/>
                </a:solidFill>
                <a:latin typeface="Consolas" pitchFamily="34" charset="0"/>
                <a:ea typeface="Consolas" pitchFamily="34" charset="-122"/>
                <a:cs typeface="Consolas" pitchFamily="34" charset="-120"/>
              </a:rPr>
              <a:t>120</a:t>
            </a:r>
            <a:r>
              <a:rPr lang="en-US" sz="1400" dirty="0">
                <a:solidFill>
                  <a:srgbClr val="E6EDF3"/>
                </a:solidFill>
                <a:latin typeface="Segoe UI" pitchFamily="34" charset="0"/>
                <a:ea typeface="Segoe UI" pitchFamily="34" charset="-122"/>
                <a:cs typeface="Segoe UI" pitchFamily="34" charset="-120"/>
              </a:rPr>
              <a:t> of 1,764 posts are Japanese; the model calls </a:t>
            </a:r>
            <a:r>
              <a:rPr lang="en-US" sz="1400" b="1" dirty="0">
                <a:solidFill>
                  <a:srgbClr val="FF453A"/>
                </a:solidFill>
                <a:latin typeface="Consolas" pitchFamily="34" charset="0"/>
                <a:ea typeface="Consolas" pitchFamily="34" charset="-122"/>
                <a:cs typeface="Consolas" pitchFamily="34" charset="-120"/>
              </a:rPr>
              <a:t>100</a:t>
            </a:r>
            <a:r>
              <a:rPr lang="en-US" sz="1400" dirty="0">
                <a:solidFill>
                  <a:srgbClr val="E6EDF3"/>
                </a:solidFill>
                <a:latin typeface="Segoe UI" pitchFamily="34" charset="0"/>
                <a:ea typeface="Segoe UI" pitchFamily="34" charset="-122"/>
                <a:cs typeface="Segoe UI" pitchFamily="34" charset="-120"/>
              </a:rPr>
              <a:t> of them alarmed. It only learned English, and seems to read text it cannot understand as negative.</a:t>
            </a:r>
            <a:endParaRPr lang="en-US" sz="1400" dirty="0"/>
          </a:p>
        </p:txBody>
      </p:sp>
      <p:sp>
        <p:nvSpPr>
          <p:cNvPr id="59" name="Text 56"/>
          <p:cNvSpPr txBox="1"/>
          <p:nvPr/>
        </p:nvSpPr>
        <p:spPr>
          <a:xfrm>
            <a:off x="6263640" y="3200400"/>
            <a:ext cx="5468112" cy="594360"/>
          </a:xfrm>
          <a:prstGeom prst="rect">
            <a:avLst/>
          </a:prstGeom>
          <a:noFill/>
          <a:ln/>
        </p:spPr>
        <p:txBody>
          <a:bodyPr wrap="square" lIns="0" tIns="0" rIns="0" bIns="0" rtlCol="0" anchor="t"/>
          <a:lstStyle/>
          <a:p>
            <a:pPr marL="0" indent="0">
              <a:buNone/>
            </a:pPr>
            <a:r>
              <a:rPr lang="en-US" sz="1400" dirty="0">
                <a:solidFill>
                  <a:srgbClr val="E6EDF3"/>
                </a:solidFill>
                <a:latin typeface="Segoe UI" pitchFamily="34" charset="0"/>
                <a:ea typeface="Segoe UI" pitchFamily="34" charset="-122"/>
                <a:cs typeface="Segoe UI" pitchFamily="34" charset="-120"/>
              </a:rPr>
              <a:t>Our test held only 3 Japanese posts, so it could not show this. We found it only by looking at what the collector had stored.</a:t>
            </a:r>
            <a:endParaRPr lang="en-US" sz="1400" dirty="0"/>
          </a:p>
        </p:txBody>
      </p:sp>
      <p:sp>
        <p:nvSpPr>
          <p:cNvPr id="60" name="Text 57"/>
          <p:cNvSpPr txBox="1"/>
          <p:nvPr/>
        </p:nvSpPr>
        <p:spPr>
          <a:xfrm>
            <a:off x="6263640" y="4279392"/>
            <a:ext cx="5468112" cy="822960"/>
          </a:xfrm>
          <a:prstGeom prst="rect">
            <a:avLst/>
          </a:prstGeom>
          <a:noFill/>
          <a:ln/>
        </p:spPr>
        <p:txBody>
          <a:bodyPr wrap="square" lIns="0" tIns="0" rIns="0" bIns="0" rtlCol="0" anchor="t"/>
          <a:lstStyle/>
          <a:p>
            <a:pPr marL="0" indent="0">
              <a:buNone/>
            </a:pPr>
            <a:r>
              <a:rPr lang="en-US" sz="1400" dirty="0">
                <a:solidFill>
                  <a:srgbClr val="E6EDF3"/>
                </a:solidFill>
                <a:latin typeface="Segoe UI" pitchFamily="34" charset="0"/>
                <a:ea typeface="Segoe UI" pitchFamily="34" charset="-122"/>
                <a:cs typeface="Segoe UI" pitchFamily="34" charset="-120"/>
              </a:rPr>
              <a:t>102 of the 120 come from automated accounts, which are left out by default; 18 still count, over 13 CVEs. Next: leave non-English posts out of the averages by default.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4 · PROBLEM-SOLUTION FIT</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Why not something simpler? Each one misses what the officer needs</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AppSec Santa (2026) · Zafran (2026) · our stream, day 1 · our 1,764 collected posts · our test, 100 hand-labelled posts</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09</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45920"/>
            <a:ext cx="2647874" cy="2606040"/>
          </a:xfrm>
          <a:prstGeom prst="roundRect">
            <a:avLst>
              <a:gd name="adj" fmla="val 2807"/>
            </a:avLst>
          </a:prstGeom>
          <a:solidFill>
            <a:srgbClr val="121922"/>
          </a:solidFill>
          <a:ln w="9525">
            <a:solidFill>
              <a:srgbClr val="2A3646"/>
            </a:solidFill>
            <a:prstDash val="solid"/>
          </a:ln>
        </p:spPr>
        <p:txBody>
          <a:bodyPr/>
          <a:lstStyle/>
          <a:p>
            <a:endParaRPr lang="en-US"/>
          </a:p>
        </p:txBody>
      </p:sp>
      <p:sp>
        <p:nvSpPr>
          <p:cNvPr id="7" name="Text 5"/>
          <p:cNvSpPr txBox="1"/>
          <p:nvPr/>
        </p:nvSpPr>
        <p:spPr>
          <a:xfrm>
            <a:off x="658368" y="1783080"/>
            <a:ext cx="2245538" cy="274320"/>
          </a:xfrm>
          <a:prstGeom prst="rect">
            <a:avLst/>
          </a:prstGeom>
          <a:noFill/>
          <a:ln/>
        </p:spPr>
        <p:txBody>
          <a:bodyPr wrap="square" lIns="0" tIns="0" rIns="0" bIns="0" rtlCol="0" anchor="t"/>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ONLY THE CVSS SCORE</a:t>
            </a:r>
            <a:endParaRPr lang="en-US" sz="1100" dirty="0"/>
          </a:p>
        </p:txBody>
      </p:sp>
      <p:sp>
        <p:nvSpPr>
          <p:cNvPr id="8" name="Text 6"/>
          <p:cNvSpPr txBox="1"/>
          <p:nvPr/>
        </p:nvSpPr>
        <p:spPr>
          <a:xfrm>
            <a:off x="658368" y="2103120"/>
            <a:ext cx="2245538" cy="685800"/>
          </a:xfrm>
          <a:prstGeom prst="rect">
            <a:avLst/>
          </a:prstGeom>
          <a:noFill/>
          <a:ln/>
        </p:spPr>
        <p:txBody>
          <a:bodyPr wrap="square" lIns="0" tIns="0" rIns="0" bIns="0" rtlCol="0" anchor="ctr"/>
          <a:lstStyle/>
          <a:p>
            <a:pPr marL="0" indent="0">
              <a:buNone/>
            </a:pPr>
            <a:r>
              <a:rPr lang="en-US" sz="4000" b="1" dirty="0">
                <a:solidFill>
                  <a:srgbClr val="7AA2C8"/>
                </a:solidFill>
                <a:latin typeface="Consolas" pitchFamily="34" charset="0"/>
                <a:ea typeface="Consolas" pitchFamily="34" charset="-122"/>
                <a:cs typeface="Consolas" pitchFamily="34" charset="-120"/>
              </a:rPr>
              <a:t>28%</a:t>
            </a:r>
            <a:endParaRPr lang="en-US" sz="4000" dirty="0"/>
          </a:p>
        </p:txBody>
      </p:sp>
      <p:sp>
        <p:nvSpPr>
          <p:cNvPr id="9" name="Text 7"/>
          <p:cNvSpPr txBox="1"/>
          <p:nvPr/>
        </p:nvSpPr>
        <p:spPr>
          <a:xfrm>
            <a:off x="658368" y="2880360"/>
            <a:ext cx="2245538" cy="1417320"/>
          </a:xfrm>
          <a:prstGeom prst="rect">
            <a:avLst/>
          </a:prstGeom>
          <a:noFill/>
          <a:ln/>
        </p:spPr>
        <p:txBody>
          <a:bodyPr wrap="square" lIns="0" tIns="0" rIns="0" bIns="0" rtlCol="0" anchor="t"/>
          <a:lstStyle/>
          <a:p>
            <a:pPr marL="0" indent="0">
              <a:buNone/>
            </a:pPr>
            <a:r>
              <a:rPr lang="en-US" sz="1300" dirty="0">
                <a:solidFill>
                  <a:srgbClr val="E6EDF3"/>
                </a:solidFill>
                <a:latin typeface="Segoe UI" pitchFamily="34" charset="0"/>
                <a:ea typeface="Segoe UI" pitchFamily="34" charset="-122"/>
                <a:cs typeface="Segoe UI" pitchFamily="34" charset="-120"/>
              </a:rPr>
              <a:t>of 2025 CVEs got a full NVD analysis; 87 of 89 had no NVD score on our day 1. It measures severity in theory, not worry about attacks now.</a:t>
            </a:r>
            <a:endParaRPr lang="en-US" sz="1300" dirty="0"/>
          </a:p>
        </p:txBody>
      </p:sp>
      <p:sp>
        <p:nvSpPr>
          <p:cNvPr id="10" name="Panel"/>
          <p:cNvSpPr/>
          <p:nvPr/>
        </p:nvSpPr>
        <p:spPr>
          <a:xfrm>
            <a:off x="3333674" y="1645920"/>
            <a:ext cx="2647874" cy="2606040"/>
          </a:xfrm>
          <a:prstGeom prst="roundRect">
            <a:avLst>
              <a:gd name="adj" fmla="val 2807"/>
            </a:avLst>
          </a:prstGeom>
          <a:solidFill>
            <a:srgbClr val="121922"/>
          </a:solidFill>
          <a:ln w="9525">
            <a:solidFill>
              <a:srgbClr val="2A3646"/>
            </a:solidFill>
            <a:prstDash val="solid"/>
          </a:ln>
        </p:spPr>
        <p:txBody>
          <a:bodyPr/>
          <a:lstStyle/>
          <a:p>
            <a:endParaRPr lang="en-US"/>
          </a:p>
        </p:txBody>
      </p:sp>
      <p:sp>
        <p:nvSpPr>
          <p:cNvPr id="11" name="Text 9"/>
          <p:cNvSpPr txBox="1"/>
          <p:nvPr/>
        </p:nvSpPr>
        <p:spPr>
          <a:xfrm>
            <a:off x="3534842" y="1783080"/>
            <a:ext cx="2245538" cy="274320"/>
          </a:xfrm>
          <a:prstGeom prst="rect">
            <a:avLst/>
          </a:prstGeom>
          <a:noFill/>
          <a:ln/>
        </p:spPr>
        <p:txBody>
          <a:bodyPr wrap="square" lIns="0" tIns="0" rIns="0" bIns="0" rtlCol="0" anchor="t"/>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ONLY COUNTING POSTS</a:t>
            </a:r>
            <a:endParaRPr lang="en-US" sz="1100" dirty="0"/>
          </a:p>
        </p:txBody>
      </p:sp>
      <p:sp>
        <p:nvSpPr>
          <p:cNvPr id="12" name="Text 10"/>
          <p:cNvSpPr txBox="1"/>
          <p:nvPr/>
        </p:nvSpPr>
        <p:spPr>
          <a:xfrm>
            <a:off x="3534842" y="2103120"/>
            <a:ext cx="2245538" cy="685800"/>
          </a:xfrm>
          <a:prstGeom prst="rect">
            <a:avLst/>
          </a:prstGeom>
          <a:noFill/>
          <a:ln/>
        </p:spPr>
        <p:txBody>
          <a:bodyPr wrap="square" lIns="0" tIns="0" rIns="0" bIns="0" rtlCol="0" anchor="ctr"/>
          <a:lstStyle/>
          <a:p>
            <a:pPr marL="0" indent="0">
              <a:buNone/>
            </a:pPr>
            <a:r>
              <a:rPr lang="en-US" sz="4000" b="1" dirty="0">
                <a:solidFill>
                  <a:srgbClr val="FF453A"/>
                </a:solidFill>
                <a:latin typeface="Consolas" pitchFamily="34" charset="0"/>
                <a:ea typeface="Consolas" pitchFamily="34" charset="-122"/>
                <a:cs typeface="Consolas" pitchFamily="34" charset="-120"/>
              </a:rPr>
              <a:t>75%</a:t>
            </a:r>
            <a:endParaRPr lang="en-US" sz="4000" dirty="0"/>
          </a:p>
        </p:txBody>
      </p:sp>
      <p:sp>
        <p:nvSpPr>
          <p:cNvPr id="13" name="Text 11"/>
          <p:cNvSpPr txBox="1"/>
          <p:nvPr/>
        </p:nvSpPr>
        <p:spPr>
          <a:xfrm>
            <a:off x="3534842" y="2880360"/>
            <a:ext cx="2245538" cy="1417320"/>
          </a:xfrm>
          <a:prstGeom prst="rect">
            <a:avLst/>
          </a:prstGeom>
          <a:noFill/>
          <a:ln/>
        </p:spPr>
        <p:txBody>
          <a:bodyPr wrap="square" lIns="0" tIns="0" rIns="0" bIns="0" rtlCol="0" anchor="t"/>
          <a:lstStyle/>
          <a:p>
            <a:pPr marL="0" indent="0">
              <a:buNone/>
            </a:pPr>
            <a:r>
              <a:rPr lang="en-US" sz="1300" dirty="0">
                <a:solidFill>
                  <a:srgbClr val="E6EDF3"/>
                </a:solidFill>
                <a:latin typeface="Segoe UI" pitchFamily="34" charset="0"/>
                <a:ea typeface="Segoe UI" pitchFamily="34" charset="-122"/>
                <a:cs typeface="Segoe UI" pitchFamily="34" charset="-120"/>
              </a:rPr>
              <a:t>of our posts come from accounts that look automated and post every CVE. A busy discussion can be calm. Volume is not alarm.</a:t>
            </a:r>
            <a:endParaRPr lang="en-US" sz="1300" dirty="0"/>
          </a:p>
        </p:txBody>
      </p:sp>
      <p:sp>
        <p:nvSpPr>
          <p:cNvPr id="14" name="Panel"/>
          <p:cNvSpPr/>
          <p:nvPr/>
        </p:nvSpPr>
        <p:spPr>
          <a:xfrm>
            <a:off x="6210148" y="1645920"/>
            <a:ext cx="2647874" cy="2606040"/>
          </a:xfrm>
          <a:prstGeom prst="roundRect">
            <a:avLst>
              <a:gd name="adj" fmla="val 2807"/>
            </a:avLst>
          </a:prstGeom>
          <a:solidFill>
            <a:srgbClr val="121922"/>
          </a:solidFill>
          <a:ln w="9525">
            <a:solidFill>
              <a:srgbClr val="2A3646"/>
            </a:solidFill>
            <a:prstDash val="solid"/>
          </a:ln>
        </p:spPr>
        <p:txBody>
          <a:bodyPr/>
          <a:lstStyle/>
          <a:p>
            <a:endParaRPr lang="en-US"/>
          </a:p>
        </p:txBody>
      </p:sp>
      <p:sp>
        <p:nvSpPr>
          <p:cNvPr id="15" name="Text 13"/>
          <p:cNvSpPr txBox="1"/>
          <p:nvPr/>
        </p:nvSpPr>
        <p:spPr>
          <a:xfrm>
            <a:off x="6411316" y="1783080"/>
            <a:ext cx="2245538" cy="274320"/>
          </a:xfrm>
          <a:prstGeom prst="rect">
            <a:avLst/>
          </a:prstGeom>
          <a:noFill/>
          <a:ln/>
        </p:spPr>
        <p:txBody>
          <a:bodyPr wrap="square" lIns="0" tIns="0" rIns="0" bIns="0" rtlCol="0" anchor="t"/>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WAITING FOR CISA</a:t>
            </a:r>
            <a:endParaRPr lang="en-US" sz="1100" dirty="0"/>
          </a:p>
        </p:txBody>
      </p:sp>
      <p:sp>
        <p:nvSpPr>
          <p:cNvPr id="16" name="Text 14"/>
          <p:cNvSpPr txBox="1"/>
          <p:nvPr/>
        </p:nvSpPr>
        <p:spPr>
          <a:xfrm>
            <a:off x="6411316" y="2103120"/>
            <a:ext cx="2245538" cy="685800"/>
          </a:xfrm>
          <a:prstGeom prst="rect">
            <a:avLst/>
          </a:prstGeom>
          <a:noFill/>
          <a:ln/>
        </p:spPr>
        <p:txBody>
          <a:bodyPr wrap="square" lIns="0" tIns="0" rIns="0" bIns="0" rtlCol="0" anchor="ctr"/>
          <a:lstStyle/>
          <a:p>
            <a:pPr marL="0" indent="0">
              <a:buNone/>
            </a:pPr>
            <a:r>
              <a:rPr lang="en-US" sz="4000" b="1" dirty="0">
                <a:solidFill>
                  <a:srgbClr val="7AA2C8"/>
                </a:solidFill>
                <a:latin typeface="Consolas" pitchFamily="34" charset="0"/>
                <a:ea typeface="Consolas" pitchFamily="34" charset="-122"/>
                <a:cs typeface="Consolas" pitchFamily="34" charset="-120"/>
              </a:rPr>
              <a:t>245</a:t>
            </a:r>
            <a:endParaRPr lang="en-US" sz="4000" dirty="0"/>
          </a:p>
        </p:txBody>
      </p:sp>
      <p:sp>
        <p:nvSpPr>
          <p:cNvPr id="17" name="Text 15"/>
          <p:cNvSpPr txBox="1"/>
          <p:nvPr/>
        </p:nvSpPr>
        <p:spPr>
          <a:xfrm>
            <a:off x="6411316" y="2880360"/>
            <a:ext cx="2245538" cy="1417320"/>
          </a:xfrm>
          <a:prstGeom prst="rect">
            <a:avLst/>
          </a:prstGeom>
          <a:noFill/>
          <a:ln/>
        </p:spPr>
        <p:txBody>
          <a:bodyPr wrap="square" lIns="0" tIns="0" rIns="0" bIns="0" rtlCol="0" anchor="t"/>
          <a:lstStyle/>
          <a:p>
            <a:pPr marL="0" indent="0">
              <a:buNone/>
            </a:pPr>
            <a:r>
              <a:rPr lang="en-US" sz="1300" dirty="0">
                <a:solidFill>
                  <a:srgbClr val="E6EDF3"/>
                </a:solidFill>
                <a:latin typeface="Segoe UI" pitchFamily="34" charset="0"/>
                <a:ea typeface="Segoe UI" pitchFamily="34" charset="-122"/>
                <a:cs typeface="Segoe UI" pitchFamily="34" charset="-120"/>
              </a:rPr>
              <a:t>vulnerabilities added in 2025, each only after exploitation was confirmed: the moment you wanted to be ahead of.</a:t>
            </a:r>
            <a:endParaRPr lang="en-US" sz="1300" dirty="0"/>
          </a:p>
        </p:txBody>
      </p:sp>
      <p:sp>
        <p:nvSpPr>
          <p:cNvPr id="18" name="Panel"/>
          <p:cNvSpPr/>
          <p:nvPr/>
        </p:nvSpPr>
        <p:spPr>
          <a:xfrm>
            <a:off x="9086621" y="1645920"/>
            <a:ext cx="2647874" cy="2606040"/>
          </a:xfrm>
          <a:prstGeom prst="roundRect">
            <a:avLst>
              <a:gd name="adj" fmla="val 2807"/>
            </a:avLst>
          </a:prstGeom>
          <a:solidFill>
            <a:srgbClr val="121922"/>
          </a:solidFill>
          <a:ln w="9525">
            <a:solidFill>
              <a:srgbClr val="2A3646"/>
            </a:solidFill>
            <a:prstDash val="solid"/>
          </a:ln>
        </p:spPr>
        <p:txBody>
          <a:bodyPr/>
          <a:lstStyle/>
          <a:p>
            <a:endParaRPr lang="en-US"/>
          </a:p>
        </p:txBody>
      </p:sp>
      <p:sp>
        <p:nvSpPr>
          <p:cNvPr id="19" name="Text 17"/>
          <p:cNvSpPr txBox="1"/>
          <p:nvPr/>
        </p:nvSpPr>
        <p:spPr>
          <a:xfrm>
            <a:off x="9287789" y="1783080"/>
            <a:ext cx="2245538" cy="274320"/>
          </a:xfrm>
          <a:prstGeom prst="rect">
            <a:avLst/>
          </a:prstGeom>
          <a:noFill/>
          <a:ln/>
        </p:spPr>
        <p:txBody>
          <a:bodyPr wrap="square" lIns="0" tIns="0" rIns="0" bIns="0" rtlCol="0" anchor="t"/>
          <a:lstStyle/>
          <a:p>
            <a:pPr marL="0" indent="0">
              <a:buNone/>
            </a:pPr>
            <a:r>
              <a:rPr lang="en-US" sz="1100" b="1" kern="0" spc="100" dirty="0">
                <a:solidFill>
                  <a:srgbClr val="93A1B3"/>
                </a:solidFill>
                <a:latin typeface="Consolas" pitchFamily="34" charset="0"/>
                <a:ea typeface="Consolas" pitchFamily="34" charset="-122"/>
                <a:cs typeface="Consolas" pitchFamily="34" charset="-120"/>
              </a:rPr>
              <a:t>A WORD LIST</a:t>
            </a:r>
            <a:endParaRPr lang="en-US" sz="1100" dirty="0"/>
          </a:p>
        </p:txBody>
      </p:sp>
      <p:sp>
        <p:nvSpPr>
          <p:cNvPr id="20" name="Text 18"/>
          <p:cNvSpPr txBox="1"/>
          <p:nvPr/>
        </p:nvSpPr>
        <p:spPr>
          <a:xfrm>
            <a:off x="9287789" y="2103120"/>
            <a:ext cx="2245538" cy="685800"/>
          </a:xfrm>
          <a:prstGeom prst="rect">
            <a:avLst/>
          </a:prstGeom>
          <a:noFill/>
          <a:ln/>
        </p:spPr>
        <p:txBody>
          <a:bodyPr wrap="square" lIns="0" tIns="0" rIns="0" bIns="0" rtlCol="0" anchor="ctr"/>
          <a:lstStyle/>
          <a:p>
            <a:pPr marL="0" indent="0">
              <a:buNone/>
            </a:pPr>
            <a:r>
              <a:rPr lang="en-US" sz="4000" b="1" dirty="0">
                <a:solidFill>
                  <a:srgbClr val="FFB000"/>
                </a:solidFill>
                <a:latin typeface="Consolas" pitchFamily="34" charset="0"/>
                <a:ea typeface="Consolas" pitchFamily="34" charset="-122"/>
                <a:cs typeface="Consolas" pitchFamily="34" charset="-120"/>
              </a:rPr>
              <a:t>0.83</a:t>
            </a:r>
            <a:endParaRPr lang="en-US" sz="4000" dirty="0"/>
          </a:p>
        </p:txBody>
      </p:sp>
      <p:sp>
        <p:nvSpPr>
          <p:cNvPr id="21" name="Text 19"/>
          <p:cNvSpPr txBox="1"/>
          <p:nvPr/>
        </p:nvSpPr>
        <p:spPr>
          <a:xfrm>
            <a:off x="9287789" y="2880360"/>
            <a:ext cx="2245538" cy="1417320"/>
          </a:xfrm>
          <a:prstGeom prst="rect">
            <a:avLst/>
          </a:prstGeom>
          <a:noFill/>
          <a:ln/>
        </p:spPr>
        <p:txBody>
          <a:bodyPr wrap="square" lIns="0" tIns="0" rIns="0" bIns="0" rtlCol="0" anchor="t"/>
          <a:lstStyle/>
          <a:p>
            <a:pPr marL="0" indent="0">
              <a:buNone/>
            </a:pPr>
            <a:r>
              <a:rPr lang="en-US" sz="1300" dirty="0">
                <a:solidFill>
                  <a:srgbClr val="E6EDF3"/>
                </a:solidFill>
                <a:latin typeface="Segoe UI" pitchFamily="34" charset="0"/>
                <a:ea typeface="Segoe UI" pitchFamily="34" charset="-122"/>
                <a:cs typeface="Segoe UI" pitchFamily="34" charset="-120"/>
              </a:rPr>
              <a:t>F1 against 0.86 for our model: the closest rival. It finds 15 of 20 alarmed posts where the model finds 18, and only knows the phrases we wrote.</a:t>
            </a:r>
            <a:endParaRPr lang="en-US" sz="1300" dirty="0"/>
          </a:p>
        </p:txBody>
      </p:sp>
      <p:sp>
        <p:nvSpPr>
          <p:cNvPr id="22" name="Panel"/>
          <p:cNvSpPr/>
          <p:nvPr/>
        </p:nvSpPr>
        <p:spPr>
          <a:xfrm>
            <a:off x="457200" y="4617720"/>
            <a:ext cx="11277295" cy="777240"/>
          </a:xfrm>
          <a:prstGeom prst="roundRect">
            <a:avLst>
              <a:gd name="adj" fmla="val 9412"/>
            </a:avLst>
          </a:prstGeom>
          <a:solidFill>
            <a:srgbClr val="2A1F05"/>
          </a:solidFill>
          <a:ln w="19050">
            <a:solidFill>
              <a:srgbClr val="FFB000"/>
            </a:solidFill>
            <a:prstDash val="solid"/>
          </a:ln>
        </p:spPr>
        <p:txBody>
          <a:bodyPr/>
          <a:lstStyle/>
          <a:p>
            <a:endParaRPr lang="en-US"/>
          </a:p>
        </p:txBody>
      </p:sp>
      <p:sp>
        <p:nvSpPr>
          <p:cNvPr id="23" name="Text 21"/>
          <p:cNvSpPr txBox="1"/>
          <p:nvPr/>
        </p:nvSpPr>
        <p:spPr>
          <a:xfrm>
            <a:off x="731520" y="4617720"/>
            <a:ext cx="10728655" cy="777240"/>
          </a:xfrm>
          <a:prstGeom prst="rect">
            <a:avLst/>
          </a:prstGeom>
          <a:noFill/>
          <a:ln/>
        </p:spPr>
        <p:txBody>
          <a:bodyPr wrap="square" lIns="0" tIns="0" rIns="0" bIns="0" rtlCol="0" anchor="ctr"/>
          <a:lstStyle/>
          <a:p>
            <a:pPr marL="0" indent="0" algn="ctr">
              <a:buNone/>
            </a:pPr>
            <a:r>
              <a:rPr lang="en-US" sz="2000" dirty="0">
                <a:solidFill>
                  <a:srgbClr val="FFB000"/>
                </a:solidFill>
                <a:latin typeface="Segoe UI Semibold" pitchFamily="34" charset="0"/>
                <a:ea typeface="Segoe UI Semibold" pitchFamily="34" charset="-122"/>
                <a:cs typeface="Segoe UI Semibold" pitchFamily="34" charset="-120"/>
              </a:rPr>
              <a:t>Reliable enough to decide what to read first. Not reliable enough to decide what to patch.</a:t>
            </a:r>
            <a:endParaRPr lang="en-US" sz="2000" dirty="0"/>
          </a:p>
        </p:txBody>
      </p:sp>
      <p:sp>
        <p:nvSpPr>
          <p:cNvPr id="24" name="Text 22"/>
          <p:cNvSpPr txBox="1"/>
          <p:nvPr/>
        </p:nvSpPr>
        <p:spPr>
          <a:xfrm>
            <a:off x="457200" y="5532120"/>
            <a:ext cx="11277295" cy="640080"/>
          </a:xfrm>
          <a:prstGeom prst="rect">
            <a:avLst/>
          </a:prstGeom>
          <a:noFill/>
          <a:ln/>
        </p:spPr>
        <p:txBody>
          <a:bodyPr wrap="square" lIns="0" tIns="0" rIns="0" bIns="0" rtlCol="0" anchor="t"/>
          <a:lstStyle/>
          <a:p>
            <a:pPr marL="0" indent="0">
              <a:buNone/>
            </a:pPr>
            <a:r>
              <a:rPr lang="en-US" sz="1300" b="1" dirty="0">
                <a:solidFill>
                  <a:srgbClr val="E6EDF3"/>
                </a:solidFill>
                <a:latin typeface="Segoe UI" pitchFamily="34" charset="0"/>
                <a:ea typeface="Segoe UI" pitchFamily="34" charset="-122"/>
                <a:cs typeface="Segoe UI" pitchFamily="34" charset="-120"/>
              </a:rPr>
              <a:t>Why it fits this user: </a:t>
            </a:r>
            <a:r>
              <a:rPr lang="en-US" sz="1300" dirty="0">
                <a:solidFill>
                  <a:srgbClr val="E6EDF3"/>
                </a:solidFill>
                <a:latin typeface="Segoe UI" pitchFamily="34" charset="0"/>
                <a:ea typeface="Segoe UI" pitchFamily="34" charset="-122"/>
                <a:cs typeface="Segoe UI" pitchFamily="34" charset="-120"/>
              </a:rPr>
              <a:t>it reorders the list they already go through every week · the posts behind a peak are evidence for the IT manager and the board · it runs on a laptop or Raspberry Pi · it may move a CVE up the list, never down.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RUBRIC 6 · ETHICAL REASONING</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Five risks specific to this stream and this model, and what we did</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ETHICS.md · our 1,764 collected posts · our source check, 11 October 2026 · our test, 100 hand-labelled posts</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10</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graphicFrame>
        <p:nvGraphicFramePr>
          <p:cNvPr id="10" name="Ethics table"/>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4660392"/>
        </p:xfrm>
        <a:graphic>
          <a:graphicData uri="http://schemas.openxmlformats.org/drawingml/2006/table">
            <a:tbl>
              <a:tblPr/>
              <a:tblGrid>
                <a:gridCol w="3063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922215">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93A1B3"/>
                          </a:solidFill>
                          <a:latin typeface="Consolas" pitchFamily="34" charset="0"/>
                          <a:ea typeface="Consolas" pitchFamily="34" charset="-122"/>
                          <a:cs typeface="Consolas" pitchFamily="34" charset="-120"/>
                        </a:rPr>
                        <a:t>RISK</a:t>
                      </a:r>
                      <a:endParaRPr lang="en-US" sz="1100" dirty="0">
                        <a:latin typeface="Consolas" charset="0"/>
                        <a:ea typeface="Consolas" charset="0"/>
                        <a:cs typeface="Consolas"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A2330"/>
                    </a:solidFill>
                  </a:tcPr>
                </a:tc>
                <a:tc>
                  <a:txBody>
                    <a:bodyPr/>
                    <a:lstStyle/>
                    <a:p>
                      <a:pPr marL="0" indent="0">
                        <a:buNone/>
                      </a:pPr>
                      <a:r>
                        <a:rPr lang="en-US" sz="1100" b="1" dirty="0">
                          <a:solidFill>
                            <a:srgbClr val="93A1B3"/>
                          </a:solidFill>
                          <a:latin typeface="Consolas" pitchFamily="34" charset="0"/>
                          <a:ea typeface="Consolas" pitchFamily="34" charset="-122"/>
                          <a:cs typeface="Consolas" pitchFamily="34" charset="-120"/>
                        </a:rPr>
                        <a:t>CONSEQUENCE FOR THE OFFICER AND RESIDENTS</a:t>
                      </a:r>
                      <a:endParaRPr lang="en-US" sz="1100" dirty="0">
                        <a:latin typeface="Consolas" charset="0"/>
                        <a:ea typeface="Consolas" charset="0"/>
                        <a:cs typeface="Consolas"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A2330"/>
                    </a:solidFill>
                  </a:tcPr>
                </a:tc>
                <a:tc>
                  <a:txBody>
                    <a:bodyPr/>
                    <a:lstStyle/>
                    <a:p>
                      <a:pPr marL="0" indent="0">
                        <a:buNone/>
                      </a:pPr>
                      <a:r>
                        <a:rPr lang="en-US" sz="1100" b="1" dirty="0">
                          <a:solidFill>
                            <a:srgbClr val="93A1B3"/>
                          </a:solidFill>
                          <a:latin typeface="Consolas" pitchFamily="34" charset="0"/>
                          <a:ea typeface="Consolas" pitchFamily="34" charset="-122"/>
                          <a:cs typeface="Consolas" pitchFamily="34" charset="-120"/>
                        </a:rPr>
                        <a:t>WHAT WE DID</a:t>
                      </a:r>
                      <a:endParaRPr lang="en-US" sz="1100" dirty="0">
                        <a:latin typeface="Consolas" charset="0"/>
                        <a:ea typeface="Consolas" charset="0"/>
                        <a:cs typeface="Consolas"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A2330"/>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FF453A"/>
                          </a:solidFill>
                          <a:latin typeface="Segoe UI" pitchFamily="34" charset="0"/>
                          <a:ea typeface="Segoe UI" pitchFamily="34" charset="-122"/>
                          <a:cs typeface="Segoe UI" pitchFamily="34" charset="-120"/>
                        </a:rPr>
                        <a:t>Silence is not safety</a:t>
                      </a:r>
                      <a:endParaRPr lang="en-US" sz="1300" dirty="0">
                        <a:latin typeface="Segoe UI" charset="0"/>
                        <a:ea typeface="Segoe UI" charset="0"/>
                        <a:cs typeface="Segoe UI" charset="0"/>
                      </a:endParaRPr>
                    </a:p>
                    <a:p>
                      <a:pPr marL="0" indent="0">
                        <a:buNone/>
                      </a:pPr>
                      <a:r>
                        <a:rPr lang="en-US" sz="1100" dirty="0">
                          <a:solidFill>
                            <a:srgbClr val="93A1B3"/>
                          </a:solidFill>
                          <a:latin typeface="Segoe UI" pitchFamily="34" charset="0"/>
                          <a:ea typeface="Segoe UI" pitchFamily="34" charset="-122"/>
                          <a:cs typeface="Segoe UI" pitchFamily="34" charset="-120"/>
                        </a:rPr>
                        <a:t>English, Western stream: Dutch municipal software is barely discussed</a:t>
                      </a:r>
                      <a:endParaRPr lang="en-US" sz="13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50" dirty="0">
                          <a:solidFill>
                            <a:srgbClr val="E6EDF3"/>
                          </a:solidFill>
                          <a:latin typeface="Segoe UI" pitchFamily="34" charset="0"/>
                          <a:ea typeface="Segoe UI" pitchFamily="34" charset="-122"/>
                          <a:cs typeface="Segoe UI" pitchFamily="34" charset="-120"/>
                        </a:rPr>
                        <a:t>A quiet line reads as “no problem”, so the patch waits</a:t>
                      </a:r>
                      <a:endParaRPr lang="en-US" sz="125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00" dirty="0">
                          <a:solidFill>
                            <a:srgbClr val="E6EDF3"/>
                          </a:solidFill>
                          <a:latin typeface="Segoe UI" pitchFamily="34" charset="0"/>
                          <a:ea typeface="Segoe UI" pitchFamily="34" charset="-122"/>
                          <a:cs typeface="Segoe UI" pitchFamily="34" charset="-120"/>
                        </a:rPr>
                        <a:t>Posts and accounts on every score; “low data” on 800 of 847 CVEs; CISA status always shown; moves a CVE up, never down</a:t>
                      </a:r>
                      <a:endParaRPr lang="en-US" sz="12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extLst>
                  <a:ext uri="{0D108BD9-81ED-4DB2-BD59-A6C34878D82A}">
                    <a16:rowId xmlns:a16="http://schemas.microsoft.com/office/drawing/2014/main" val="10001"/>
                  </a:ext>
                </a:extLst>
              </a:tr>
              <a:tr h="868680">
                <a:tc>
                  <a:txBody>
                    <a:bodyPr/>
                    <a:lstStyle/>
                    <a:p>
                      <a:pPr marL="0" indent="0">
                        <a:buNone/>
                      </a:pPr>
                      <a:r>
                        <a:rPr lang="en-US" sz="1300" b="1" dirty="0">
                          <a:solidFill>
                            <a:srgbClr val="FFB000"/>
                          </a:solidFill>
                          <a:latin typeface="Segoe UI" pitchFamily="34" charset="0"/>
                          <a:ea typeface="Segoe UI" pitchFamily="34" charset="-122"/>
                          <a:cs typeface="Segoe UI" pitchFamily="34" charset="-120"/>
                        </a:rPr>
                        <a:t>Bots write most of it</a:t>
                      </a:r>
                      <a:endParaRPr lang="en-US" sz="1300" dirty="0">
                        <a:latin typeface="Segoe UI" charset="0"/>
                        <a:ea typeface="Segoe UI" charset="0"/>
                        <a:cs typeface="Segoe UI" charset="0"/>
                      </a:endParaRPr>
                    </a:p>
                    <a:p>
                      <a:pPr marL="0" indent="0">
                        <a:buNone/>
                      </a:pPr>
                      <a:r>
                        <a:rPr lang="en-US" sz="1100" dirty="0">
                          <a:solidFill>
                            <a:srgbClr val="93A1B3"/>
                          </a:solidFill>
                          <a:latin typeface="Segoe UI" pitchFamily="34" charset="0"/>
                          <a:ea typeface="Segoe UI" pitchFamily="34" charset="-122"/>
                          <a:cs typeface="Segoe UI" pitchFamily="34" charset="-120"/>
                        </a:rPr>
                        <a:t>47 of 209 accounts wrote 75% of the posts</a:t>
                      </a:r>
                      <a:endParaRPr lang="en-US" sz="13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tc>
                  <a:txBody>
                    <a:bodyPr/>
                    <a:lstStyle/>
                    <a:p>
                      <a:pPr marL="0" indent="0">
                        <a:buNone/>
                      </a:pPr>
                      <a:r>
                        <a:rPr lang="en-US" sz="1250" dirty="0">
                          <a:solidFill>
                            <a:srgbClr val="E6EDF3"/>
                          </a:solidFill>
                          <a:latin typeface="Segoe UI" pitchFamily="34" charset="0"/>
                          <a:ea typeface="Segoe UI" pitchFamily="34" charset="-122"/>
                          <a:cs typeface="Segoe UI" pitchFamily="34" charset="-120"/>
                        </a:rPr>
                        <a:t>One loud account pushes the wrong CVE to the top</a:t>
                      </a:r>
                      <a:endParaRPr lang="en-US" sz="125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tc>
                  <a:txBody>
                    <a:bodyPr/>
                    <a:lstStyle/>
                    <a:p>
                      <a:pPr marL="0" indent="0">
                        <a:buNone/>
                      </a:pPr>
                      <a:r>
                        <a:rPr lang="en-US" sz="1200" dirty="0">
                          <a:solidFill>
                            <a:srgbClr val="E6EDF3"/>
                          </a:solidFill>
                          <a:latin typeface="Segoe UI" pitchFamily="34" charset="0"/>
                          <a:ea typeface="Segoe UI" pitchFamily="34" charset="-122"/>
                          <a:cs typeface="Segoe UI" pitchFamily="34" charset="-120"/>
                        </a:rPr>
                        <a:t>Own bot rules (Mastodon’s flag caught 9 of 103); bots left out by default; one account counts at most 3 times</a:t>
                      </a:r>
                      <a:endParaRPr lang="en-US" sz="12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2"/>
                  </a:ext>
                </a:extLst>
              </a:tr>
              <a:tr h="868680">
                <a:tc>
                  <a:txBody>
                    <a:bodyPr/>
                    <a:lstStyle/>
                    <a:p>
                      <a:pPr marL="0" indent="0">
                        <a:buNone/>
                      </a:pPr>
                      <a:r>
                        <a:rPr lang="en-US" sz="1300" b="1" dirty="0">
                          <a:solidFill>
                            <a:srgbClr val="FFB000"/>
                          </a:solidFill>
                          <a:latin typeface="Segoe UI" pitchFamily="34" charset="0"/>
                          <a:ea typeface="Segoe UI" pitchFamily="34" charset="-122"/>
                          <a:cs typeface="Segoe UI" pitchFamily="34" charset="-120"/>
                        </a:rPr>
                        <a:t>The model misreads</a:t>
                      </a:r>
                      <a:endParaRPr lang="en-US" sz="1300" dirty="0">
                        <a:latin typeface="Segoe UI" charset="0"/>
                        <a:ea typeface="Segoe UI" charset="0"/>
                        <a:cs typeface="Segoe UI" charset="0"/>
                      </a:endParaRPr>
                    </a:p>
                    <a:p>
                      <a:pPr marL="0" indent="0">
                        <a:buNone/>
                      </a:pPr>
                      <a:r>
                        <a:rPr lang="en-US" sz="1100" dirty="0">
                          <a:solidFill>
                            <a:srgbClr val="93A1B3"/>
                          </a:solidFill>
                          <a:latin typeface="Segoe UI" pitchFamily="34" charset="0"/>
                          <a:ea typeface="Segoe UI" pitchFamily="34" charset="-122"/>
                          <a:cs typeface="Segoe UI" pitchFamily="34" charset="-120"/>
                        </a:rPr>
                        <a:t>Downloaded, it missed 2 in 3 warnings</a:t>
                      </a:r>
                      <a:endParaRPr lang="en-US" sz="13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50" dirty="0">
                          <a:solidFill>
                            <a:srgbClr val="E6EDF3"/>
                          </a:solidFill>
                          <a:latin typeface="Segoe UI" pitchFamily="34" charset="0"/>
                          <a:ea typeface="Segoe UI" pitchFamily="34" charset="-122"/>
                          <a:cs typeface="Segoe UI" pitchFamily="34" charset="-120"/>
                        </a:rPr>
                        <a:t>Looks objective, but misses warnings or goes stale</a:t>
                      </a:r>
                      <a:endParaRPr lang="en-US" sz="125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00" dirty="0">
                          <a:solidFill>
                            <a:srgbClr val="E6EDF3"/>
                          </a:solidFill>
                          <a:latin typeface="Segoe UI" pitchFamily="34" charset="0"/>
                          <a:ea typeface="Segoe UI" pitchFamily="34" charset="-122"/>
                          <a:cs typeface="Segoe UI" pitchFamily="34" charset="-120"/>
                        </a:rPr>
                        <a:t>Bar set beforehand; fine-tuned; test date on the dashboard; non-English marked. Next: retest monthly</a:t>
                      </a:r>
                      <a:endParaRPr lang="en-US" sz="12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extLst>
                  <a:ext uri="{0D108BD9-81ED-4DB2-BD59-A6C34878D82A}">
                    <a16:rowId xmlns:a16="http://schemas.microsoft.com/office/drawing/2014/main" val="10003"/>
                  </a:ext>
                </a:extLst>
              </a:tr>
              <a:tr h="868680">
                <a:tc>
                  <a:txBody>
                    <a:bodyPr/>
                    <a:lstStyle/>
                    <a:p>
                      <a:pPr marL="0" indent="0">
                        <a:buNone/>
                      </a:pPr>
                      <a:r>
                        <a:rPr lang="en-US" sz="1300" b="1" dirty="0">
                          <a:solidFill>
                            <a:srgbClr val="FFB000"/>
                          </a:solidFill>
                          <a:latin typeface="Segoe UI" pitchFamily="34" charset="0"/>
                          <a:ea typeface="Segoe UI" pitchFamily="34" charset="-122"/>
                          <a:cs typeface="Segoe UI" pitchFamily="34" charset="-120"/>
                        </a:rPr>
                        <a:t>The people in the data</a:t>
                      </a:r>
                      <a:endParaRPr lang="en-US" sz="1300" dirty="0">
                        <a:latin typeface="Segoe UI" charset="0"/>
                        <a:ea typeface="Segoe UI" charset="0"/>
                        <a:cs typeface="Segoe UI" charset="0"/>
                      </a:endParaRPr>
                    </a:p>
                    <a:p>
                      <a:pPr marL="0" indent="0">
                        <a:buNone/>
                      </a:pPr>
                      <a:r>
                        <a:rPr lang="en-US" sz="1100" dirty="0">
                          <a:solidFill>
                            <a:srgbClr val="93A1B3"/>
                          </a:solidFill>
                          <a:latin typeface="Segoe UI" pitchFamily="34" charset="0"/>
                          <a:ea typeface="Segoe UI" pitchFamily="34" charset="-122"/>
                          <a:cs typeface="Segoe UI" pitchFamily="34" charset="-120"/>
                        </a:rPr>
                        <a:t>Real authors who did not ask to be analysed</a:t>
                      </a:r>
                      <a:endParaRPr lang="en-US" sz="13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tc>
                  <a:txBody>
                    <a:bodyPr/>
                    <a:lstStyle/>
                    <a:p>
                      <a:pPr marL="0" indent="0">
                        <a:buNone/>
                      </a:pPr>
                      <a:r>
                        <a:rPr lang="en-US" sz="1250" dirty="0">
                          <a:solidFill>
                            <a:srgbClr val="E6EDF3"/>
                          </a:solidFill>
                          <a:latin typeface="Segoe UI" pitchFamily="34" charset="0"/>
                          <a:ea typeface="Segoe UI" pitchFamily="34" charset="-122"/>
                          <a:cs typeface="Segoe UI" pitchFamily="34" charset="-120"/>
                        </a:rPr>
                        <a:t>Who is alarmed about what becomes a profile of researchers</a:t>
                      </a:r>
                      <a:endParaRPr lang="en-US" sz="125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tc>
                  <a:txBody>
                    <a:bodyPr/>
                    <a:lstStyle/>
                    <a:p>
                      <a:pPr marL="0" indent="0">
                        <a:buNone/>
                      </a:pPr>
                      <a:r>
                        <a:rPr lang="en-US" sz="1200" dirty="0">
                          <a:solidFill>
                            <a:srgbClr val="E6EDF3"/>
                          </a:solidFill>
                          <a:latin typeface="Segoe UI" pitchFamily="34" charset="0"/>
                          <a:ea typeface="Segoe UI" pitchFamily="34" charset="-122"/>
                          <a:cs typeface="Segoe UI" pitchFamily="34" charset="-120"/>
                        </a:rPr>
                        <a:t>Hashed accounts, no names or profiles; opt-outs skipped; Bluesky deletions deleted; dashboard local only</a:t>
                      </a:r>
                      <a:endParaRPr lang="en-US" sz="12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21922"/>
                    </a:solidFill>
                  </a:tcPr>
                </a:tc>
                <a:extLst>
                  <a:ext uri="{0D108BD9-81ED-4DB2-BD59-A6C34878D82A}">
                    <a16:rowId xmlns:a16="http://schemas.microsoft.com/office/drawing/2014/main" val="10004"/>
                  </a:ext>
                </a:extLst>
              </a:tr>
              <a:tr h="758952">
                <a:tc>
                  <a:txBody>
                    <a:bodyPr/>
                    <a:lstStyle/>
                    <a:p>
                      <a:pPr marL="0" indent="0">
                        <a:buNone/>
                      </a:pPr>
                      <a:r>
                        <a:rPr lang="en-US" sz="1300" b="1" dirty="0">
                          <a:solidFill>
                            <a:srgbClr val="FFB000"/>
                          </a:solidFill>
                          <a:latin typeface="Segoe UI" pitchFamily="34" charset="0"/>
                          <a:ea typeface="Segoe UI" pitchFamily="34" charset="-122"/>
                          <a:cs typeface="Segoe UI" pitchFamily="34" charset="-120"/>
                        </a:rPr>
                        <a:t>Trusting the line too much</a:t>
                      </a:r>
                      <a:endParaRPr lang="en-US" sz="1300" dirty="0">
                        <a:latin typeface="Segoe UI" charset="0"/>
                        <a:ea typeface="Segoe UI" charset="0"/>
                        <a:cs typeface="Segoe UI" charset="0"/>
                      </a:endParaRPr>
                    </a:p>
                    <a:p>
                      <a:pPr marL="0" indent="0">
                        <a:buNone/>
                      </a:pPr>
                      <a:r>
                        <a:rPr lang="en-US" sz="1100" dirty="0">
                          <a:solidFill>
                            <a:srgbClr val="93A1B3"/>
                          </a:solidFill>
                          <a:latin typeface="Segoe UI" pitchFamily="34" charset="0"/>
                          <a:ea typeface="Segoe UI" pitchFamily="34" charset="-122"/>
                          <a:cs typeface="Segoe UI" pitchFamily="34" charset="-120"/>
                        </a:rPr>
                        <a:t>A chart looks objective</a:t>
                      </a:r>
                      <a:endParaRPr lang="en-US" sz="13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50" dirty="0">
                          <a:solidFill>
                            <a:srgbClr val="E6EDF3"/>
                          </a:solidFill>
                          <a:latin typeface="Segoe UI" pitchFamily="34" charset="0"/>
                          <a:ea typeface="Segoe UI" pitchFamily="34" charset="-122"/>
                          <a:cs typeface="Segoe UI" pitchFamily="34" charset="-120"/>
                        </a:rPr>
                        <a:t>“Alarm was low, so we waited”: residents carry the risk</a:t>
                      </a:r>
                      <a:endParaRPr lang="en-US" sz="125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tc>
                  <a:txBody>
                    <a:bodyPr/>
                    <a:lstStyle/>
                    <a:p>
                      <a:pPr marL="0" indent="0">
                        <a:buNone/>
                      </a:pPr>
                      <a:r>
                        <a:rPr lang="en-US" sz="1200" dirty="0">
                          <a:solidFill>
                            <a:srgbClr val="E6EDF3"/>
                          </a:solidFill>
                          <a:latin typeface="Segoe UI" pitchFamily="34" charset="0"/>
                          <a:ea typeface="Segoe UI" pitchFamily="34" charset="-122"/>
                          <a:cs typeface="Segoe UI" pitchFamily="34" charset="-120"/>
                        </a:rPr>
                        <a:t>“Must not be used for” list; never says “patch now”; warning when the data is old</a:t>
                      </a:r>
                      <a:endParaRPr lang="en-US" sz="1200" dirty="0">
                        <a:latin typeface="Segoe UI" charset="0"/>
                        <a:ea typeface="Segoe UI" charset="0"/>
                        <a:cs typeface="Segoe UI" charset="0"/>
                      </a:endParaRPr>
                    </a:p>
                  </a:txBody>
                  <a:tcPr marL="109728" marR="109728" anchor="ctr">
                    <a:lnL w="12700" cap="flat" cmpd="sng" algn="ctr">
                      <a:solidFill>
                        <a:srgbClr val="0B0F14"/>
                      </a:solidFill>
                      <a:prstDash val="solid"/>
                      <a:round/>
                      <a:headEnd type="none" w="med" len="med"/>
                      <a:tailEnd type="none" w="med" len="med"/>
                    </a:lnL>
                    <a:lnR w="12700" cap="flat" cmpd="sng" algn="ctr">
                      <a:solidFill>
                        <a:srgbClr val="0B0F14"/>
                      </a:solidFill>
                      <a:prstDash val="solid"/>
                      <a:round/>
                      <a:headEnd type="none" w="med" len="med"/>
                      <a:tailEnd type="none" w="med" len="med"/>
                    </a:lnR>
                    <a:lnT w="12700" cap="flat" cmpd="sng" algn="ctr">
                      <a:solidFill>
                        <a:srgbClr val="0B0F14"/>
                      </a:solidFill>
                      <a:prstDash val="solid"/>
                      <a:round/>
                      <a:headEnd type="none" w="med" len="med"/>
                      <a:tailEnd type="none" w="med" len="med"/>
                    </a:lnT>
                    <a:lnB w="12700" cap="flat" cmpd="sng" algn="ctr">
                      <a:solidFill>
                        <a:srgbClr val="0B0F14"/>
                      </a:solidFill>
                      <a:prstDash val="solid"/>
                      <a:round/>
                      <a:headEnd type="none" w="med" len="med"/>
                      <a:tailEnd type="none" w="med" len="med"/>
                    </a:lnB>
                    <a:solidFill>
                      <a:srgbClr val="151D2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APPROACH · OUR INPUT VS AI</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We made the choices, AI helped build, no chat model scores a post</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 README.md (How we worked on this, The honest test)</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11</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45920"/>
            <a:ext cx="3576218" cy="3520440"/>
          </a:xfrm>
          <a:prstGeom prst="roundRect">
            <a:avLst>
              <a:gd name="adj" fmla="val 2078"/>
            </a:avLst>
          </a:prstGeom>
          <a:solidFill>
            <a:srgbClr val="121922"/>
          </a:solidFill>
          <a:ln w="9525">
            <a:solidFill>
              <a:srgbClr val="2A3646"/>
            </a:solidFill>
            <a:prstDash val="solid"/>
          </a:ln>
        </p:spPr>
        <p:txBody>
          <a:bodyPr/>
          <a:lstStyle/>
          <a:p>
            <a:endParaRPr lang="en-US"/>
          </a:p>
        </p:txBody>
      </p:sp>
      <p:sp>
        <p:nvSpPr>
          <p:cNvPr id="7" name="Column dot"/>
          <p:cNvSpPr/>
          <p:nvPr/>
        </p:nvSpPr>
        <p:spPr>
          <a:xfrm>
            <a:off x="658368" y="1828800"/>
            <a:ext cx="182880" cy="182880"/>
          </a:xfrm>
          <a:prstGeom prst="ellipse">
            <a:avLst/>
          </a:prstGeom>
          <a:solidFill>
            <a:srgbClr val="FFB000"/>
          </a:solidFill>
          <a:ln/>
        </p:spPr>
        <p:txBody>
          <a:bodyPr/>
          <a:lstStyle/>
          <a:p>
            <a:endParaRPr lang="en-US"/>
          </a:p>
        </p:txBody>
      </p:sp>
      <p:sp>
        <p:nvSpPr>
          <p:cNvPr id="8" name="Text 6"/>
          <p:cNvSpPr txBox="1"/>
          <p:nvPr/>
        </p:nvSpPr>
        <p:spPr>
          <a:xfrm>
            <a:off x="960120" y="1783080"/>
            <a:ext cx="2890418" cy="274320"/>
          </a:xfrm>
          <a:prstGeom prst="rect">
            <a:avLst/>
          </a:prstGeom>
          <a:noFill/>
          <a:ln/>
        </p:spPr>
        <p:txBody>
          <a:bodyPr wrap="square" lIns="0" tIns="0" rIns="0" bIns="0" rtlCol="0" anchor="ctr"/>
          <a:lstStyle/>
          <a:p>
            <a:pPr marL="0" indent="0">
              <a:buNone/>
            </a:pPr>
            <a:r>
              <a:rPr lang="en-US" sz="1200" b="1" kern="0" spc="100" dirty="0">
                <a:solidFill>
                  <a:srgbClr val="FFB000"/>
                </a:solidFill>
                <a:latin typeface="Consolas" pitchFamily="34" charset="0"/>
                <a:ea typeface="Consolas" pitchFamily="34" charset="-122"/>
                <a:cs typeface="Consolas" pitchFamily="34" charset="-120"/>
              </a:rPr>
              <a:t>OUR CHOICES</a:t>
            </a:r>
            <a:endParaRPr lang="en-US" sz="1200" dirty="0"/>
          </a:p>
        </p:txBody>
      </p:sp>
      <p:sp>
        <p:nvSpPr>
          <p:cNvPr id="9" name="Text 7"/>
          <p:cNvSpPr txBox="1"/>
          <p:nvPr/>
        </p:nvSpPr>
        <p:spPr>
          <a:xfrm>
            <a:off x="658368" y="2194560"/>
            <a:ext cx="3173882" cy="283464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The idea and the user: a municipal security officer</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The bar for “good enough”, set before any result</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Labelling the 100 test posts ourselves, with our guide</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Fine-tuning, after the model found only 7 of 20</a:t>
            </a:r>
            <a:endParaRPr lang="en-US" sz="1500" dirty="0"/>
          </a:p>
        </p:txBody>
      </p:sp>
      <p:sp>
        <p:nvSpPr>
          <p:cNvPr id="10" name="Panel"/>
          <p:cNvSpPr/>
          <p:nvPr/>
        </p:nvSpPr>
        <p:spPr>
          <a:xfrm>
            <a:off x="4307738" y="1645920"/>
            <a:ext cx="3576218" cy="3520440"/>
          </a:xfrm>
          <a:prstGeom prst="roundRect">
            <a:avLst>
              <a:gd name="adj" fmla="val 2078"/>
            </a:avLst>
          </a:prstGeom>
          <a:solidFill>
            <a:srgbClr val="121922"/>
          </a:solidFill>
          <a:ln w="9525">
            <a:solidFill>
              <a:srgbClr val="2A3646"/>
            </a:solidFill>
            <a:prstDash val="solid"/>
          </a:ln>
        </p:spPr>
        <p:txBody>
          <a:bodyPr/>
          <a:lstStyle/>
          <a:p>
            <a:endParaRPr lang="en-US"/>
          </a:p>
        </p:txBody>
      </p:sp>
      <p:sp>
        <p:nvSpPr>
          <p:cNvPr id="11" name="Column dot"/>
          <p:cNvSpPr/>
          <p:nvPr/>
        </p:nvSpPr>
        <p:spPr>
          <a:xfrm>
            <a:off x="4508906" y="1828800"/>
            <a:ext cx="182880" cy="182880"/>
          </a:xfrm>
          <a:prstGeom prst="ellipse">
            <a:avLst/>
          </a:prstGeom>
          <a:solidFill>
            <a:srgbClr val="7AA2C8"/>
          </a:solidFill>
          <a:ln/>
        </p:spPr>
        <p:txBody>
          <a:bodyPr/>
          <a:lstStyle/>
          <a:p>
            <a:endParaRPr lang="en-US"/>
          </a:p>
        </p:txBody>
      </p:sp>
      <p:sp>
        <p:nvSpPr>
          <p:cNvPr id="12" name="Text 10"/>
          <p:cNvSpPr txBox="1"/>
          <p:nvPr/>
        </p:nvSpPr>
        <p:spPr>
          <a:xfrm>
            <a:off x="4810658" y="1783080"/>
            <a:ext cx="2890418" cy="274320"/>
          </a:xfrm>
          <a:prstGeom prst="rect">
            <a:avLst/>
          </a:prstGeom>
          <a:noFill/>
          <a:ln/>
        </p:spPr>
        <p:txBody>
          <a:bodyPr wrap="square" lIns="0" tIns="0" rIns="0" bIns="0" rtlCol="0" anchor="ctr"/>
          <a:lstStyle/>
          <a:p>
            <a:pPr marL="0" indent="0">
              <a:buNone/>
            </a:pPr>
            <a:r>
              <a:rPr lang="en-US" sz="1200" b="1" kern="0" spc="100" dirty="0">
                <a:solidFill>
                  <a:srgbClr val="7AA2C8"/>
                </a:solidFill>
                <a:latin typeface="Consolas" pitchFamily="34" charset="0"/>
                <a:ea typeface="Consolas" pitchFamily="34" charset="-122"/>
                <a:cs typeface="Consolas" pitchFamily="34" charset="-120"/>
              </a:rPr>
              <a:t>WHAT AI DID</a:t>
            </a:r>
            <a:endParaRPr lang="en-US" sz="1200" dirty="0"/>
          </a:p>
        </p:txBody>
      </p:sp>
      <p:sp>
        <p:nvSpPr>
          <p:cNvPr id="13" name="Text 11"/>
          <p:cNvSpPr txBox="1"/>
          <p:nvPr/>
        </p:nvSpPr>
        <p:spPr>
          <a:xfrm>
            <a:off x="4508906" y="2194560"/>
            <a:ext cx="3173882" cy="283464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Claude: checked the APIs and improved our plan</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Claude Code: wrote the code step by step, directed by us</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Claude: labelled most of the 900 training posts with our guide</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Claude Code: drafted the terms review and README wording</a:t>
            </a:r>
            <a:endParaRPr lang="en-US" sz="1500" dirty="0"/>
          </a:p>
        </p:txBody>
      </p:sp>
      <p:sp>
        <p:nvSpPr>
          <p:cNvPr id="14" name="Panel"/>
          <p:cNvSpPr/>
          <p:nvPr/>
        </p:nvSpPr>
        <p:spPr>
          <a:xfrm>
            <a:off x="8158277" y="1645920"/>
            <a:ext cx="3576218" cy="3520440"/>
          </a:xfrm>
          <a:prstGeom prst="roundRect">
            <a:avLst>
              <a:gd name="adj" fmla="val 2078"/>
            </a:avLst>
          </a:prstGeom>
          <a:solidFill>
            <a:srgbClr val="121922"/>
          </a:solidFill>
          <a:ln w="9525">
            <a:solidFill>
              <a:srgbClr val="2A3646"/>
            </a:solidFill>
            <a:prstDash val="solid"/>
          </a:ln>
        </p:spPr>
        <p:txBody>
          <a:bodyPr/>
          <a:lstStyle/>
          <a:p>
            <a:endParaRPr lang="en-US"/>
          </a:p>
        </p:txBody>
      </p:sp>
      <p:sp>
        <p:nvSpPr>
          <p:cNvPr id="15" name="Column dot"/>
          <p:cNvSpPr/>
          <p:nvPr/>
        </p:nvSpPr>
        <p:spPr>
          <a:xfrm>
            <a:off x="8359445" y="1828800"/>
            <a:ext cx="182880" cy="182880"/>
          </a:xfrm>
          <a:prstGeom prst="ellipse">
            <a:avLst/>
          </a:prstGeom>
          <a:solidFill>
            <a:srgbClr val="4CC38A"/>
          </a:solidFill>
          <a:ln/>
        </p:spPr>
        <p:txBody>
          <a:bodyPr/>
          <a:lstStyle/>
          <a:p>
            <a:endParaRPr lang="en-US"/>
          </a:p>
        </p:txBody>
      </p:sp>
      <p:sp>
        <p:nvSpPr>
          <p:cNvPr id="16" name="Text 14"/>
          <p:cNvSpPr txBox="1"/>
          <p:nvPr/>
        </p:nvSpPr>
        <p:spPr>
          <a:xfrm>
            <a:off x="8661197" y="1783080"/>
            <a:ext cx="2890418" cy="274320"/>
          </a:xfrm>
          <a:prstGeom prst="rect">
            <a:avLst/>
          </a:prstGeom>
          <a:noFill/>
          <a:ln/>
        </p:spPr>
        <p:txBody>
          <a:bodyPr wrap="square" lIns="0" tIns="0" rIns="0" bIns="0" rtlCol="0" anchor="ctr"/>
          <a:lstStyle/>
          <a:p>
            <a:pPr marL="0" indent="0">
              <a:buNone/>
            </a:pPr>
            <a:r>
              <a:rPr lang="en-US" sz="1200" b="1" kern="0" spc="100" dirty="0">
                <a:solidFill>
                  <a:srgbClr val="4CC38A"/>
                </a:solidFill>
                <a:latin typeface="Consolas" pitchFamily="34" charset="0"/>
                <a:ea typeface="Consolas" pitchFamily="34" charset="-122"/>
                <a:cs typeface="Consolas" pitchFamily="34" charset="-120"/>
              </a:rPr>
              <a:t>WHAT WE CHECKED BY HAND</a:t>
            </a:r>
            <a:endParaRPr lang="en-US" sz="1200" dirty="0"/>
          </a:p>
        </p:txBody>
      </p:sp>
      <p:sp>
        <p:nvSpPr>
          <p:cNvPr id="17" name="Text 15"/>
          <p:cNvSpPr txBox="1"/>
          <p:nvPr/>
        </p:nvSpPr>
        <p:spPr>
          <a:xfrm>
            <a:off x="8359445" y="2194560"/>
            <a:ext cx="3173882" cy="283464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Every AI training label, corrected where we disagreed</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The 47 labels the AI itself marked as doubtful</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Every link, number and source in the README</a:t>
            </a:r>
            <a:endParaRPr lang="en-US" sz="1500" dirty="0"/>
          </a:p>
          <a:p>
            <a:pPr marL="177800" indent="-177800">
              <a:spcAft>
                <a:spcPts val="900"/>
              </a:spcAft>
              <a:buSzPct val="100000"/>
              <a:buChar char="•"/>
            </a:pPr>
            <a:r>
              <a:rPr lang="en-US" sz="1500" dirty="0">
                <a:solidFill>
                  <a:srgbClr val="E6EDF3"/>
                </a:solidFill>
                <a:latin typeface="Segoe UI" pitchFamily="34" charset="0"/>
                <a:ea typeface="Segoe UI" pitchFamily="34" charset="-122"/>
                <a:cs typeface="Segoe UI" pitchFamily="34" charset="-120"/>
              </a:rPr>
              <a:t>Every score is measured against our own labels</a:t>
            </a:r>
            <a:endParaRPr lang="en-US" sz="1500" dirty="0"/>
          </a:p>
        </p:txBody>
      </p:sp>
      <p:sp>
        <p:nvSpPr>
          <p:cNvPr id="18" name="Panel"/>
          <p:cNvSpPr/>
          <p:nvPr/>
        </p:nvSpPr>
        <p:spPr>
          <a:xfrm>
            <a:off x="457200" y="5349240"/>
            <a:ext cx="11277295" cy="822960"/>
          </a:xfrm>
          <a:prstGeom prst="roundRect">
            <a:avLst>
              <a:gd name="adj" fmla="val 8889"/>
            </a:avLst>
          </a:prstGeom>
          <a:solidFill>
            <a:srgbClr val="2A1F05"/>
          </a:solidFill>
          <a:ln w="19050">
            <a:solidFill>
              <a:srgbClr val="FFB000"/>
            </a:solidFill>
            <a:prstDash val="solid"/>
          </a:ln>
        </p:spPr>
        <p:txBody>
          <a:bodyPr/>
          <a:lstStyle/>
          <a:p>
            <a:endParaRPr lang="en-US"/>
          </a:p>
        </p:txBody>
      </p:sp>
      <p:sp>
        <p:nvSpPr>
          <p:cNvPr id="19" name="Text 17"/>
          <p:cNvSpPr txBox="1"/>
          <p:nvPr/>
        </p:nvSpPr>
        <p:spPr>
          <a:xfrm>
            <a:off x="731520" y="5349240"/>
            <a:ext cx="10728655" cy="822960"/>
          </a:xfrm>
          <a:prstGeom prst="rect">
            <a:avLst/>
          </a:prstGeom>
          <a:noFill/>
          <a:ln/>
        </p:spPr>
        <p:txBody>
          <a:bodyPr wrap="square" lIns="0" tIns="0" rIns="0" bIns="0" rtlCol="0" anchor="ctr"/>
          <a:lstStyle/>
          <a:p>
            <a:pPr marL="0" indent="0">
              <a:buNone/>
            </a:pPr>
            <a:r>
              <a:rPr lang="en-US" sz="1500" b="1" dirty="0">
                <a:solidFill>
                  <a:srgbClr val="FFB000"/>
                </a:solidFill>
                <a:latin typeface="Segoe UI" pitchFamily="34" charset="0"/>
                <a:ea typeface="Segoe UI" pitchFamily="34" charset="-122"/>
                <a:cs typeface="Segoe UI" pitchFamily="34" charset="-120"/>
              </a:rPr>
              <a:t>No chat model scores a post. </a:t>
            </a:r>
            <a:r>
              <a:rPr lang="en-US" sz="1500" dirty="0">
                <a:solidFill>
                  <a:srgbClr val="E6EDF3"/>
                </a:solidFill>
                <a:latin typeface="Segoe UI" pitchFamily="34" charset="0"/>
                <a:ea typeface="Segoe UI" pitchFamily="34" charset="-122"/>
                <a:cs typeface="Segoe UI" pitchFamily="34" charset="-120"/>
              </a:rPr>
              <a:t>Our own code runs the Hugging Face model on every post. The tool reads, measures and shows; it answers no questions.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686800" cy="274320"/>
          </a:xfrm>
          <a:prstGeom prst="rect">
            <a:avLst/>
          </a:prstGeom>
          <a:noFill/>
          <a:ln/>
        </p:spPr>
        <p:txBody>
          <a:bodyPr wrap="square" lIns="0" tIns="0" rIns="0" bIns="0" rtlCol="0" anchor="ctr"/>
          <a:lstStyle/>
          <a:p>
            <a:pPr marL="0" indent="0">
              <a:buNone/>
            </a:pPr>
            <a:r>
              <a:rPr lang="en-US" sz="1200" b="1" kern="0" spc="200" dirty="0">
                <a:solidFill>
                  <a:srgbClr val="FFB000"/>
                </a:solidFill>
                <a:latin typeface="Consolas" pitchFamily="34" charset="0"/>
                <a:ea typeface="Consolas" pitchFamily="34" charset="-122"/>
                <a:cs typeface="Consolas" pitchFamily="34" charset="-120"/>
              </a:rPr>
              <a:t>QUESTIONS</a:t>
            </a:r>
            <a:endParaRPr lang="en-US" sz="1200" dirty="0"/>
          </a:p>
        </p:txBody>
      </p:sp>
      <p:sp>
        <p:nvSpPr>
          <p:cNvPr id="3" name="Text 0"/>
          <p:cNvSpPr>
            <a:spLocks noGrp="1"/>
          </p:cNvSpPr>
          <p:nvPr>
            <p:ph type="title" idx="101" hasCustomPrompt="1"/>
          </p:nvPr>
        </p:nvSpPr>
        <p:spPr>
          <a:xfrm>
            <a:off x="457200" y="621792"/>
            <a:ext cx="11277295" cy="822960"/>
          </a:xfrm>
          <a:prstGeom prst="rect">
            <a:avLst/>
          </a:prstGeom>
          <a:noFill/>
          <a:ln/>
        </p:spPr>
        <p:txBody>
          <a:bodyPr wrap="square" lIns="0" tIns="0" rIns="0" bIns="0" rtlCol="0" anchor="ctr"/>
          <a:lstStyle/>
          <a:p>
            <a:pPr marL="0" indent="0" algn="l">
              <a:buNone/>
            </a:pPr>
            <a:r>
              <a:rPr lang="en-US" sz="2800" dirty="0">
                <a:solidFill>
                  <a:srgbClr val="E6EDF3"/>
                </a:solidFill>
                <a:latin typeface="Segoe UI Semibold" pitchFamily="34" charset="0"/>
                <a:ea typeface="Segoe UI Semibold" pitchFamily="34" charset="-122"/>
                <a:cs typeface="Segoe UI Semibold" pitchFamily="34" charset="-120"/>
              </a:rPr>
              <a:t>Three questions, three answers</a:t>
            </a:r>
            <a:endParaRPr lang="en-US" sz="2800" dirty="0"/>
          </a:p>
        </p:txBody>
      </p:sp>
      <p:sp>
        <p:nvSpPr>
          <p:cNvPr id="4" name="Text 0"/>
          <p:cNvSpPr>
            <a:spLocks noGrp="1"/>
          </p:cNvSpPr>
          <p:nvPr>
            <p:ph type="body" idx="102" hasCustomPrompt="1"/>
          </p:nvPr>
        </p:nvSpPr>
        <p:spPr>
          <a:xfrm>
            <a:off x="457200" y="6400800"/>
            <a:ext cx="11277295" cy="274320"/>
          </a:xfrm>
          <a:prstGeom prst="rect">
            <a:avLst/>
          </a:prstGeom>
          <a:noFill/>
          <a:ln/>
        </p:spPr>
        <p:txBody>
          <a:bodyPr wrap="square" lIns="0" tIns="0" rIns="0" bIns="0" rtlCol="0" anchor="ctr"/>
          <a:lstStyle/>
          <a:p>
            <a:pPr marL="0" indent="0">
              <a:buNone/>
            </a:pPr>
            <a:r>
              <a:rPr lang="en-US" sz="1000" dirty="0">
                <a:solidFill>
                  <a:srgbClr val="93A1B3"/>
                </a:solidFill>
                <a:latin typeface="Segoe UI" pitchFamily="34" charset="0"/>
                <a:ea typeface="Segoe UI" pitchFamily="34" charset="-122"/>
                <a:cs typeface="Segoe UI" pitchFamily="34" charset="-120"/>
              </a:rPr>
              <a:t>Sources: README.md (Our questions, Results) · ETHICS.md · evaluation/results.json</a:t>
            </a:r>
            <a:endParaRPr lang="en-US" sz="1000" dirty="0"/>
          </a:p>
        </p:txBody>
      </p:sp>
      <p:sp>
        <p:nvSpPr>
          <p:cNvPr id="5" name="Slide counter"/>
          <p:cNvSpPr txBox="1"/>
          <p:nvPr/>
        </p:nvSpPr>
        <p:spPr>
          <a:xfrm>
            <a:off x="8442655" y="292608"/>
            <a:ext cx="3291840" cy="274320"/>
          </a:xfrm>
          <a:prstGeom prst="rect">
            <a:avLst/>
          </a:prstGeom>
          <a:noFill/>
          <a:ln/>
        </p:spPr>
        <p:txBody>
          <a:bodyPr wrap="square" lIns="0" tIns="0" rIns="0" bIns="0" rtlCol="0" anchor="ctr"/>
          <a:lstStyle/>
          <a:p>
            <a:pPr marL="0" indent="0" algn="r">
              <a:buNone/>
            </a:pPr>
            <a:r>
              <a:rPr lang="en-US" sz="1100" dirty="0">
                <a:solidFill>
                  <a:srgbClr val="93A1B3"/>
                </a:solidFill>
                <a:latin typeface="Consolas" pitchFamily="34" charset="0"/>
                <a:ea typeface="Consolas" pitchFamily="34" charset="-122"/>
                <a:cs typeface="Consolas" pitchFamily="34" charset="-120"/>
              </a:rPr>
              <a:t>CVE-PANIC-METER // </a:t>
            </a:r>
            <a:r>
              <a:rPr lang="en-US" sz="1100" b="1" dirty="0">
                <a:solidFill>
                  <a:srgbClr val="E6EDF3"/>
                </a:solidFill>
                <a:latin typeface="Consolas" pitchFamily="34" charset="0"/>
                <a:ea typeface="Consolas" pitchFamily="34" charset="-122"/>
                <a:cs typeface="Consolas" pitchFamily="34" charset="-120"/>
              </a:rPr>
              <a:t>12</a:t>
            </a:r>
            <a:r>
              <a:rPr lang="en-US" sz="1100" dirty="0">
                <a:solidFill>
                  <a:srgbClr val="93A1B3"/>
                </a:solidFill>
                <a:latin typeface="Consolas" pitchFamily="34" charset="0"/>
                <a:ea typeface="Consolas" pitchFamily="34" charset="-122"/>
                <a:cs typeface="Consolas" pitchFamily="34" charset="-120"/>
              </a:rPr>
              <a:t> / 12</a:t>
            </a:r>
            <a:endParaRPr lang="en-US" sz="1100" dirty="0"/>
          </a:p>
        </p:txBody>
      </p:sp>
      <p:sp>
        <p:nvSpPr>
          <p:cNvPr id="6" name="Panel"/>
          <p:cNvSpPr/>
          <p:nvPr/>
        </p:nvSpPr>
        <p:spPr>
          <a:xfrm>
            <a:off x="457200" y="1691640"/>
            <a:ext cx="6949440" cy="731520"/>
          </a:xfrm>
          <a:prstGeom prst="roundRect">
            <a:avLst>
              <a:gd name="adj" fmla="val 10000"/>
            </a:avLst>
          </a:prstGeom>
          <a:solidFill>
            <a:srgbClr val="121922"/>
          </a:solidFill>
          <a:ln w="9525">
            <a:solidFill>
              <a:srgbClr val="2A3646"/>
            </a:solidFill>
            <a:prstDash val="solid"/>
          </a:ln>
        </p:spPr>
        <p:txBody>
          <a:bodyPr/>
          <a:lstStyle/>
          <a:p>
            <a:endParaRPr lang="en-US"/>
          </a:p>
        </p:txBody>
      </p:sp>
      <p:sp>
        <p:nvSpPr>
          <p:cNvPr id="7" name="Text 5"/>
          <p:cNvSpPr txBox="1"/>
          <p:nvPr/>
        </p:nvSpPr>
        <p:spPr>
          <a:xfrm>
            <a:off x="685800" y="1691640"/>
            <a:ext cx="3017520" cy="731520"/>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Can the model tell alarm from an announcement?</a:t>
            </a:r>
            <a:endParaRPr lang="en-US" sz="1400" dirty="0"/>
          </a:p>
        </p:txBody>
      </p:sp>
      <p:sp>
        <p:nvSpPr>
          <p:cNvPr id="8" name="Text 6"/>
          <p:cNvSpPr txBox="1"/>
          <p:nvPr/>
        </p:nvSpPr>
        <p:spPr>
          <a:xfrm>
            <a:off x="3840480" y="1691640"/>
            <a:ext cx="3429000" cy="731520"/>
          </a:xfrm>
          <a:prstGeom prst="rect">
            <a:avLst/>
          </a:prstGeom>
          <a:noFill/>
          <a:ln/>
        </p:spPr>
        <p:txBody>
          <a:bodyPr wrap="square" lIns="0" tIns="0" rIns="0" bIns="0" rtlCol="0" anchor="ctr"/>
          <a:lstStyle/>
          <a:p>
            <a:pPr marL="0" indent="0">
              <a:buNone/>
            </a:pPr>
            <a:r>
              <a:rPr lang="en-US" sz="1350" dirty="0">
                <a:solidFill>
                  <a:srgbClr val="FFB000"/>
                </a:solidFill>
                <a:latin typeface="Segoe UI" pitchFamily="34" charset="0"/>
                <a:ea typeface="Segoe UI" pitchFamily="34" charset="-122"/>
                <a:cs typeface="Segoe UI" pitchFamily="34" charset="-120"/>
              </a:rPr>
              <a:t>Not as downloaded: 7 of 20. Fine-tuned on our own stream: 18 of 20.</a:t>
            </a:r>
            <a:endParaRPr lang="en-US" sz="1350" dirty="0"/>
          </a:p>
        </p:txBody>
      </p:sp>
      <p:sp>
        <p:nvSpPr>
          <p:cNvPr id="9" name="Panel"/>
          <p:cNvSpPr/>
          <p:nvPr/>
        </p:nvSpPr>
        <p:spPr>
          <a:xfrm>
            <a:off x="457200" y="2560320"/>
            <a:ext cx="6949440" cy="731520"/>
          </a:xfrm>
          <a:prstGeom prst="roundRect">
            <a:avLst>
              <a:gd name="adj" fmla="val 10000"/>
            </a:avLst>
          </a:prstGeom>
          <a:solidFill>
            <a:srgbClr val="121922"/>
          </a:solidFill>
          <a:ln w="9525">
            <a:solidFill>
              <a:srgbClr val="2A3646"/>
            </a:solidFill>
            <a:prstDash val="solid"/>
          </a:ln>
        </p:spPr>
        <p:txBody>
          <a:bodyPr/>
          <a:lstStyle/>
          <a:p>
            <a:endParaRPr lang="en-US"/>
          </a:p>
        </p:txBody>
      </p:sp>
      <p:sp>
        <p:nvSpPr>
          <p:cNvPr id="10" name="Text 8"/>
          <p:cNvSpPr txBox="1"/>
          <p:nvPr/>
        </p:nvSpPr>
        <p:spPr>
          <a:xfrm>
            <a:off x="685800" y="2560320"/>
            <a:ext cx="3017520" cy="731520"/>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Does alarm add to the CVSS score and the CISA list?</a:t>
            </a:r>
            <a:endParaRPr lang="en-US" sz="1400" dirty="0"/>
          </a:p>
        </p:txBody>
      </p:sp>
      <p:sp>
        <p:nvSpPr>
          <p:cNvPr id="11" name="Text 9"/>
          <p:cNvSpPr txBox="1"/>
          <p:nvPr/>
        </p:nvSpPr>
        <p:spPr>
          <a:xfrm>
            <a:off x="3840480" y="2560320"/>
            <a:ext cx="3429000" cy="731520"/>
          </a:xfrm>
          <a:prstGeom prst="rect">
            <a:avLst/>
          </a:prstGeom>
          <a:noFill/>
          <a:ln/>
        </p:spPr>
        <p:txBody>
          <a:bodyPr wrap="square" lIns="0" tIns="0" rIns="0" bIns="0" rtlCol="0" anchor="ctr"/>
          <a:lstStyle/>
          <a:p>
            <a:pPr marL="0" indent="0">
              <a:buNone/>
            </a:pPr>
            <a:r>
              <a:rPr lang="en-US" sz="1350" dirty="0">
                <a:solidFill>
                  <a:srgbClr val="FFB000"/>
                </a:solidFill>
                <a:latin typeface="Segoe UI" pitchFamily="34" charset="0"/>
                <a:ea typeface="Segoe UI" pitchFamily="34" charset="-122"/>
                <a:cs typeface="Segoe UI" pitchFamily="34" charset="-120"/>
              </a:rPr>
              <a:t>It adds the tone of the specialists while the official score is still missing.</a:t>
            </a:r>
            <a:endParaRPr lang="en-US" sz="1350" dirty="0"/>
          </a:p>
        </p:txBody>
      </p:sp>
      <p:sp>
        <p:nvSpPr>
          <p:cNvPr id="12" name="Panel"/>
          <p:cNvSpPr/>
          <p:nvPr/>
        </p:nvSpPr>
        <p:spPr>
          <a:xfrm>
            <a:off x="457200" y="3429000"/>
            <a:ext cx="6949440" cy="731520"/>
          </a:xfrm>
          <a:prstGeom prst="roundRect">
            <a:avLst>
              <a:gd name="adj" fmla="val 10000"/>
            </a:avLst>
          </a:prstGeom>
          <a:solidFill>
            <a:srgbClr val="121922"/>
          </a:solidFill>
          <a:ln w="9525">
            <a:solidFill>
              <a:srgbClr val="2A3646"/>
            </a:solidFill>
            <a:prstDash val="solid"/>
          </a:ln>
        </p:spPr>
        <p:txBody>
          <a:bodyPr/>
          <a:lstStyle/>
          <a:p>
            <a:endParaRPr lang="en-US"/>
          </a:p>
        </p:txBody>
      </p:sp>
      <p:sp>
        <p:nvSpPr>
          <p:cNvPr id="13" name="Text 11"/>
          <p:cNvSpPr txBox="1"/>
          <p:nvPr/>
        </p:nvSpPr>
        <p:spPr>
          <a:xfrm>
            <a:off x="685800" y="3429000"/>
            <a:ext cx="3017520" cy="731520"/>
          </a:xfrm>
          <a:prstGeom prst="rect">
            <a:avLst/>
          </a:prstGeom>
          <a:noFill/>
          <a:ln/>
        </p:spPr>
        <p:txBody>
          <a:bodyPr wrap="square" lIns="0" tIns="0" rIns="0" bIns="0" rtlCol="0" anchor="ctr"/>
          <a:lstStyle/>
          <a:p>
            <a:pPr marL="0" indent="0">
              <a:buNone/>
            </a:pPr>
            <a:r>
              <a:rPr lang="en-US" sz="1400" dirty="0">
                <a:solidFill>
                  <a:srgbClr val="E6EDF3"/>
                </a:solidFill>
                <a:latin typeface="Segoe UI Semibold" pitchFamily="34" charset="0"/>
                <a:ea typeface="Segoe UI Semibold" pitchFamily="34" charset="-122"/>
                <a:cs typeface="Segoe UI Semibold" pitchFamily="34" charset="-120"/>
              </a:rPr>
              <a:t>Reliable enough for the officer?</a:t>
            </a:r>
            <a:endParaRPr lang="en-US" sz="1400" dirty="0"/>
          </a:p>
        </p:txBody>
      </p:sp>
      <p:sp>
        <p:nvSpPr>
          <p:cNvPr id="14" name="Text 12"/>
          <p:cNvSpPr txBox="1"/>
          <p:nvPr/>
        </p:nvSpPr>
        <p:spPr>
          <a:xfrm>
            <a:off x="3840480" y="3429000"/>
            <a:ext cx="3429000" cy="731520"/>
          </a:xfrm>
          <a:prstGeom prst="rect">
            <a:avLst/>
          </a:prstGeom>
          <a:noFill/>
          <a:ln/>
        </p:spPr>
        <p:txBody>
          <a:bodyPr wrap="square" lIns="0" tIns="0" rIns="0" bIns="0" rtlCol="0" anchor="ctr"/>
          <a:lstStyle/>
          <a:p>
            <a:pPr marL="0" indent="0">
              <a:buNone/>
            </a:pPr>
            <a:r>
              <a:rPr lang="en-US" sz="1350" dirty="0">
                <a:solidFill>
                  <a:srgbClr val="FFB000"/>
                </a:solidFill>
                <a:latin typeface="Segoe UI" pitchFamily="34" charset="0"/>
                <a:ea typeface="Segoe UI" pitchFamily="34" charset="-122"/>
                <a:cs typeface="Segoe UI" pitchFamily="34" charset="-120"/>
              </a:rPr>
              <a:t>Half our bar: +0.03 F1 over a word list, where we asked for +0.15.</a:t>
            </a:r>
            <a:endParaRPr lang="en-US" sz="1350" dirty="0"/>
          </a:p>
        </p:txBody>
      </p:sp>
      <p:sp>
        <p:nvSpPr>
          <p:cNvPr id="15" name="Text 13"/>
          <p:cNvSpPr txBox="1"/>
          <p:nvPr/>
        </p:nvSpPr>
        <p:spPr>
          <a:xfrm>
            <a:off x="457200" y="4434840"/>
            <a:ext cx="7132320" cy="1097280"/>
          </a:xfrm>
          <a:prstGeom prst="rect">
            <a:avLst/>
          </a:prstGeom>
          <a:noFill/>
          <a:ln/>
        </p:spPr>
        <p:txBody>
          <a:bodyPr wrap="square" lIns="0" tIns="0" rIns="0" bIns="0" rtlCol="0" anchor="ctr"/>
          <a:lstStyle/>
          <a:p>
            <a:pPr marL="0" indent="0">
              <a:buNone/>
            </a:pPr>
            <a:r>
              <a:rPr lang="en-US" sz="2800" dirty="0">
                <a:solidFill>
                  <a:srgbClr val="E6EDF3"/>
                </a:solidFill>
                <a:latin typeface="Segoe UI Semibold" pitchFamily="34" charset="0"/>
                <a:ea typeface="Segoe UI Semibold" pitchFamily="34" charset="-122"/>
                <a:cs typeface="Segoe UI Semibold" pitchFamily="34" charset="-120"/>
              </a:rPr>
              <a:t>It can help decide what to read.</a:t>
            </a:r>
            <a:endParaRPr lang="en-US" sz="2800" dirty="0"/>
          </a:p>
          <a:p>
            <a:pPr marL="0" indent="0">
              <a:buNone/>
            </a:pPr>
            <a:r>
              <a:rPr lang="en-US" sz="2800" dirty="0">
                <a:solidFill>
                  <a:srgbClr val="E6EDF3"/>
                </a:solidFill>
                <a:latin typeface="Segoe UI Semibold" pitchFamily="34" charset="0"/>
                <a:ea typeface="Segoe UI Semibold" pitchFamily="34" charset="-122"/>
                <a:cs typeface="Segoe UI Semibold" pitchFamily="34" charset="-120"/>
              </a:rPr>
              <a:t>It cannot decide what to patch.</a:t>
            </a:r>
            <a:endParaRPr lang="en-US" sz="2800" dirty="0"/>
          </a:p>
        </p:txBody>
      </p:sp>
      <p:sp>
        <p:nvSpPr>
          <p:cNvPr id="16" name="Text 14"/>
          <p:cNvSpPr txBox="1"/>
          <p:nvPr/>
        </p:nvSpPr>
        <p:spPr>
          <a:xfrm>
            <a:off x="457200" y="5715000"/>
            <a:ext cx="7132320" cy="365760"/>
          </a:xfrm>
          <a:prstGeom prst="rect">
            <a:avLst/>
          </a:prstGeom>
          <a:noFill/>
          <a:ln/>
        </p:spPr>
        <p:txBody>
          <a:bodyPr wrap="square" lIns="0" tIns="0" rIns="0" bIns="0" rtlCol="0" anchor="t"/>
          <a:lstStyle/>
          <a:p>
            <a:pPr marL="0" indent="0">
              <a:buNone/>
            </a:pPr>
            <a:r>
              <a:rPr lang="en-US" sz="1400" dirty="0">
                <a:solidFill>
                  <a:srgbClr val="93A1B3"/>
                </a:solidFill>
                <a:latin typeface="Segoe UI" pitchFamily="34" charset="0"/>
                <a:ea typeface="Segoe UI" pitchFamily="34" charset="-122"/>
                <a:cs typeface="Segoe UI" pitchFamily="34" charset="-120"/>
              </a:rPr>
              <a:t>Lucas Jansze  ·  Muhammad Iqbal  ·  Pavitra Pradeep</a:t>
            </a:r>
            <a:endParaRPr lang="en-US" sz="1400" dirty="0"/>
          </a:p>
        </p:txBody>
      </p:sp>
      <p:sp>
        <p:nvSpPr>
          <p:cNvPr id="17" name="Gauge segment"/>
          <p:cNvSpPr/>
          <p:nvPr/>
        </p:nvSpPr>
        <p:spPr>
          <a:xfrm>
            <a:off x="7772400" y="2331720"/>
            <a:ext cx="3749040" cy="3749040"/>
          </a:xfrm>
          <a:prstGeom prst="blockArc">
            <a:avLst>
              <a:gd name="adj1" fmla="val 10836000"/>
              <a:gd name="adj2" fmla="val 11364000"/>
              <a:gd name="adj3" fmla="val 12000"/>
            </a:avLst>
          </a:prstGeom>
          <a:solidFill>
            <a:srgbClr val="4E6A88"/>
          </a:solidFill>
          <a:ln/>
        </p:spPr>
        <p:txBody>
          <a:bodyPr/>
          <a:lstStyle/>
          <a:p>
            <a:endParaRPr lang="en-US"/>
          </a:p>
        </p:txBody>
      </p:sp>
      <p:sp>
        <p:nvSpPr>
          <p:cNvPr id="18" name="Gauge segment"/>
          <p:cNvSpPr/>
          <p:nvPr/>
        </p:nvSpPr>
        <p:spPr>
          <a:xfrm>
            <a:off x="7772400" y="2331720"/>
            <a:ext cx="3749040" cy="3749040"/>
          </a:xfrm>
          <a:prstGeom prst="blockArc">
            <a:avLst>
              <a:gd name="adj1" fmla="val 11436000"/>
              <a:gd name="adj2" fmla="val 11964000"/>
              <a:gd name="adj3" fmla="val 12000"/>
            </a:avLst>
          </a:prstGeom>
          <a:solidFill>
            <a:srgbClr val="637278"/>
          </a:solidFill>
          <a:ln/>
        </p:spPr>
        <p:txBody>
          <a:bodyPr/>
          <a:lstStyle/>
          <a:p>
            <a:endParaRPr lang="en-US"/>
          </a:p>
        </p:txBody>
      </p:sp>
      <p:sp>
        <p:nvSpPr>
          <p:cNvPr id="19" name="Gauge segment"/>
          <p:cNvSpPr/>
          <p:nvPr/>
        </p:nvSpPr>
        <p:spPr>
          <a:xfrm>
            <a:off x="7772400" y="2331720"/>
            <a:ext cx="3749040" cy="3749040"/>
          </a:xfrm>
          <a:prstGeom prst="blockArc">
            <a:avLst>
              <a:gd name="adj1" fmla="val 12036000"/>
              <a:gd name="adj2" fmla="val 12564000"/>
              <a:gd name="adj3" fmla="val 12000"/>
            </a:avLst>
          </a:prstGeom>
          <a:solidFill>
            <a:srgbClr val="787A68"/>
          </a:solidFill>
          <a:ln/>
        </p:spPr>
        <p:txBody>
          <a:bodyPr/>
          <a:lstStyle/>
          <a:p>
            <a:endParaRPr lang="en-US"/>
          </a:p>
        </p:txBody>
      </p:sp>
      <p:sp>
        <p:nvSpPr>
          <p:cNvPr id="20" name="Gauge segment"/>
          <p:cNvSpPr/>
          <p:nvPr/>
        </p:nvSpPr>
        <p:spPr>
          <a:xfrm>
            <a:off x="7772400" y="2331720"/>
            <a:ext cx="3749040" cy="3749040"/>
          </a:xfrm>
          <a:prstGeom prst="blockArc">
            <a:avLst>
              <a:gd name="adj1" fmla="val 12636000"/>
              <a:gd name="adj2" fmla="val 13164000"/>
              <a:gd name="adj3" fmla="val 12000"/>
            </a:avLst>
          </a:prstGeom>
          <a:solidFill>
            <a:srgbClr val="8C8358"/>
          </a:solidFill>
          <a:ln/>
        </p:spPr>
        <p:txBody>
          <a:bodyPr/>
          <a:lstStyle/>
          <a:p>
            <a:endParaRPr lang="en-US"/>
          </a:p>
        </p:txBody>
      </p:sp>
      <p:sp>
        <p:nvSpPr>
          <p:cNvPr id="21" name="Gauge segment"/>
          <p:cNvSpPr/>
          <p:nvPr/>
        </p:nvSpPr>
        <p:spPr>
          <a:xfrm>
            <a:off x="7772400" y="2331720"/>
            <a:ext cx="3749040" cy="3749040"/>
          </a:xfrm>
          <a:prstGeom prst="blockArc">
            <a:avLst>
              <a:gd name="adj1" fmla="val 13236000"/>
              <a:gd name="adj2" fmla="val 13764000"/>
              <a:gd name="adj3" fmla="val 12000"/>
            </a:avLst>
          </a:prstGeom>
          <a:solidFill>
            <a:srgbClr val="A18B48"/>
          </a:solidFill>
          <a:ln/>
        </p:spPr>
        <p:txBody>
          <a:bodyPr/>
          <a:lstStyle/>
          <a:p>
            <a:endParaRPr lang="en-US"/>
          </a:p>
        </p:txBody>
      </p:sp>
      <p:sp>
        <p:nvSpPr>
          <p:cNvPr id="22" name="Gauge segment"/>
          <p:cNvSpPr/>
          <p:nvPr/>
        </p:nvSpPr>
        <p:spPr>
          <a:xfrm>
            <a:off x="7772400" y="2331720"/>
            <a:ext cx="3749040" cy="3749040"/>
          </a:xfrm>
          <a:prstGeom prst="blockArc">
            <a:avLst>
              <a:gd name="adj1" fmla="val 13836000"/>
              <a:gd name="adj2" fmla="val 14364000"/>
              <a:gd name="adj3" fmla="val 12000"/>
            </a:avLst>
          </a:prstGeom>
          <a:solidFill>
            <a:srgbClr val="B69338"/>
          </a:solidFill>
          <a:ln/>
        </p:spPr>
        <p:txBody>
          <a:bodyPr/>
          <a:lstStyle/>
          <a:p>
            <a:endParaRPr lang="en-US"/>
          </a:p>
        </p:txBody>
      </p:sp>
      <p:sp>
        <p:nvSpPr>
          <p:cNvPr id="23" name="Gauge segment"/>
          <p:cNvSpPr/>
          <p:nvPr/>
        </p:nvSpPr>
        <p:spPr>
          <a:xfrm>
            <a:off x="7772400" y="2331720"/>
            <a:ext cx="3749040" cy="3749040"/>
          </a:xfrm>
          <a:prstGeom prst="blockArc">
            <a:avLst>
              <a:gd name="adj1" fmla="val 14436000"/>
              <a:gd name="adj2" fmla="val 14964000"/>
              <a:gd name="adj3" fmla="val 12000"/>
            </a:avLst>
          </a:prstGeom>
          <a:solidFill>
            <a:srgbClr val="CB9B28"/>
          </a:solidFill>
          <a:ln/>
        </p:spPr>
        <p:txBody>
          <a:bodyPr/>
          <a:lstStyle/>
          <a:p>
            <a:endParaRPr lang="en-US"/>
          </a:p>
        </p:txBody>
      </p:sp>
      <p:sp>
        <p:nvSpPr>
          <p:cNvPr id="24" name="Gauge segment"/>
          <p:cNvSpPr/>
          <p:nvPr/>
        </p:nvSpPr>
        <p:spPr>
          <a:xfrm>
            <a:off x="7772400" y="2331720"/>
            <a:ext cx="3749040" cy="3749040"/>
          </a:xfrm>
          <a:prstGeom prst="blockArc">
            <a:avLst>
              <a:gd name="adj1" fmla="val 15036000"/>
              <a:gd name="adj2" fmla="val 15564000"/>
              <a:gd name="adj3" fmla="val 12000"/>
            </a:avLst>
          </a:prstGeom>
          <a:solidFill>
            <a:srgbClr val="E0A418"/>
          </a:solidFill>
          <a:ln/>
        </p:spPr>
        <p:txBody>
          <a:bodyPr/>
          <a:lstStyle/>
          <a:p>
            <a:endParaRPr lang="en-US"/>
          </a:p>
        </p:txBody>
      </p:sp>
      <p:sp>
        <p:nvSpPr>
          <p:cNvPr id="25" name="Gauge segment"/>
          <p:cNvSpPr/>
          <p:nvPr/>
        </p:nvSpPr>
        <p:spPr>
          <a:xfrm>
            <a:off x="7772400" y="2331720"/>
            <a:ext cx="3749040" cy="3749040"/>
          </a:xfrm>
          <a:prstGeom prst="blockArc">
            <a:avLst>
              <a:gd name="adj1" fmla="val 15636000"/>
              <a:gd name="adj2" fmla="val 16164000"/>
              <a:gd name="adj3" fmla="val 12000"/>
            </a:avLst>
          </a:prstGeom>
          <a:solidFill>
            <a:srgbClr val="F5AC08"/>
          </a:solidFill>
          <a:ln/>
        </p:spPr>
        <p:txBody>
          <a:bodyPr/>
          <a:lstStyle/>
          <a:p>
            <a:endParaRPr lang="en-US"/>
          </a:p>
        </p:txBody>
      </p:sp>
      <p:sp>
        <p:nvSpPr>
          <p:cNvPr id="26" name="Gauge segment"/>
          <p:cNvSpPr/>
          <p:nvPr/>
        </p:nvSpPr>
        <p:spPr>
          <a:xfrm>
            <a:off x="7772400" y="2331720"/>
            <a:ext cx="3749040" cy="3749040"/>
          </a:xfrm>
          <a:prstGeom prst="blockArc">
            <a:avLst>
              <a:gd name="adj1" fmla="val 16236000"/>
              <a:gd name="adj2" fmla="val 16764000"/>
              <a:gd name="adj3" fmla="val 12000"/>
            </a:avLst>
          </a:prstGeom>
          <a:solidFill>
            <a:srgbClr val="FFAA03"/>
          </a:solidFill>
          <a:ln/>
        </p:spPr>
        <p:txBody>
          <a:bodyPr/>
          <a:lstStyle/>
          <a:p>
            <a:endParaRPr lang="en-US"/>
          </a:p>
        </p:txBody>
      </p:sp>
      <p:sp>
        <p:nvSpPr>
          <p:cNvPr id="27" name="Gauge segment"/>
          <p:cNvSpPr/>
          <p:nvPr/>
        </p:nvSpPr>
        <p:spPr>
          <a:xfrm>
            <a:off x="7772400" y="2331720"/>
            <a:ext cx="3749040" cy="3749040"/>
          </a:xfrm>
          <a:prstGeom prst="blockArc">
            <a:avLst>
              <a:gd name="adj1" fmla="val 16836000"/>
              <a:gd name="adj2" fmla="val 17364000"/>
              <a:gd name="adj3" fmla="val 12000"/>
            </a:avLst>
          </a:prstGeom>
          <a:solidFill>
            <a:srgbClr val="FF9D0A"/>
          </a:solidFill>
          <a:ln/>
        </p:spPr>
        <p:txBody>
          <a:bodyPr/>
          <a:lstStyle/>
          <a:p>
            <a:endParaRPr lang="en-US"/>
          </a:p>
        </p:txBody>
      </p:sp>
      <p:sp>
        <p:nvSpPr>
          <p:cNvPr id="28" name="Gauge segment"/>
          <p:cNvSpPr/>
          <p:nvPr/>
        </p:nvSpPr>
        <p:spPr>
          <a:xfrm>
            <a:off x="7772400" y="2331720"/>
            <a:ext cx="3749040" cy="3749040"/>
          </a:xfrm>
          <a:prstGeom prst="blockArc">
            <a:avLst>
              <a:gd name="adj1" fmla="val 17436000"/>
              <a:gd name="adj2" fmla="val 17964000"/>
              <a:gd name="adj3" fmla="val 12000"/>
            </a:avLst>
          </a:prstGeom>
          <a:solidFill>
            <a:srgbClr val="FF9111"/>
          </a:solidFill>
          <a:ln/>
        </p:spPr>
        <p:txBody>
          <a:bodyPr/>
          <a:lstStyle/>
          <a:p>
            <a:endParaRPr lang="en-US"/>
          </a:p>
        </p:txBody>
      </p:sp>
      <p:sp>
        <p:nvSpPr>
          <p:cNvPr id="29" name="Gauge segment"/>
          <p:cNvSpPr/>
          <p:nvPr/>
        </p:nvSpPr>
        <p:spPr>
          <a:xfrm>
            <a:off x="7772400" y="2331720"/>
            <a:ext cx="3749040" cy="3749040"/>
          </a:xfrm>
          <a:prstGeom prst="blockArc">
            <a:avLst>
              <a:gd name="adj1" fmla="val 18036000"/>
              <a:gd name="adj2" fmla="val 18564000"/>
              <a:gd name="adj3" fmla="val 12000"/>
            </a:avLst>
          </a:prstGeom>
          <a:solidFill>
            <a:srgbClr val="FF8418"/>
          </a:solidFill>
          <a:ln/>
        </p:spPr>
        <p:txBody>
          <a:bodyPr/>
          <a:lstStyle/>
          <a:p>
            <a:endParaRPr lang="en-US"/>
          </a:p>
        </p:txBody>
      </p:sp>
      <p:sp>
        <p:nvSpPr>
          <p:cNvPr id="30" name="Gauge segment"/>
          <p:cNvSpPr/>
          <p:nvPr/>
        </p:nvSpPr>
        <p:spPr>
          <a:xfrm>
            <a:off x="7772400" y="2331720"/>
            <a:ext cx="3749040" cy="3749040"/>
          </a:xfrm>
          <a:prstGeom prst="blockArc">
            <a:avLst>
              <a:gd name="adj1" fmla="val 18636000"/>
              <a:gd name="adj2" fmla="val 19164000"/>
              <a:gd name="adj3" fmla="val 12000"/>
            </a:avLst>
          </a:prstGeom>
          <a:solidFill>
            <a:srgbClr val="FF771F"/>
          </a:solidFill>
          <a:ln/>
        </p:spPr>
        <p:txBody>
          <a:bodyPr/>
          <a:lstStyle/>
          <a:p>
            <a:endParaRPr lang="en-US"/>
          </a:p>
        </p:txBody>
      </p:sp>
      <p:sp>
        <p:nvSpPr>
          <p:cNvPr id="31" name="Gauge segment"/>
          <p:cNvSpPr/>
          <p:nvPr/>
        </p:nvSpPr>
        <p:spPr>
          <a:xfrm>
            <a:off x="7772400" y="2331720"/>
            <a:ext cx="3749040" cy="3749040"/>
          </a:xfrm>
          <a:prstGeom prst="blockArc">
            <a:avLst>
              <a:gd name="adj1" fmla="val 19236000"/>
              <a:gd name="adj2" fmla="val 19764000"/>
              <a:gd name="adj3" fmla="val 12000"/>
            </a:avLst>
          </a:prstGeom>
          <a:solidFill>
            <a:srgbClr val="FF6B26"/>
          </a:solidFill>
          <a:ln/>
        </p:spPr>
        <p:txBody>
          <a:bodyPr/>
          <a:lstStyle/>
          <a:p>
            <a:endParaRPr lang="en-US"/>
          </a:p>
        </p:txBody>
      </p:sp>
      <p:sp>
        <p:nvSpPr>
          <p:cNvPr id="32" name="Gauge segment"/>
          <p:cNvSpPr/>
          <p:nvPr/>
        </p:nvSpPr>
        <p:spPr>
          <a:xfrm>
            <a:off x="7772400" y="2331720"/>
            <a:ext cx="3749040" cy="3749040"/>
          </a:xfrm>
          <a:prstGeom prst="blockArc">
            <a:avLst>
              <a:gd name="adj1" fmla="val 19836000"/>
              <a:gd name="adj2" fmla="val 20364000"/>
              <a:gd name="adj3" fmla="val 12000"/>
            </a:avLst>
          </a:prstGeom>
          <a:solidFill>
            <a:srgbClr val="FF5E2C"/>
          </a:solidFill>
          <a:ln/>
        </p:spPr>
        <p:txBody>
          <a:bodyPr/>
          <a:lstStyle/>
          <a:p>
            <a:endParaRPr lang="en-US"/>
          </a:p>
        </p:txBody>
      </p:sp>
      <p:sp>
        <p:nvSpPr>
          <p:cNvPr id="33" name="Gauge segment"/>
          <p:cNvSpPr/>
          <p:nvPr/>
        </p:nvSpPr>
        <p:spPr>
          <a:xfrm>
            <a:off x="7772400" y="2331720"/>
            <a:ext cx="3749040" cy="3749040"/>
          </a:xfrm>
          <a:prstGeom prst="blockArc">
            <a:avLst>
              <a:gd name="adj1" fmla="val 20436000"/>
              <a:gd name="adj2" fmla="val 20964000"/>
              <a:gd name="adj3" fmla="val 12000"/>
            </a:avLst>
          </a:prstGeom>
          <a:solidFill>
            <a:srgbClr val="FF5233"/>
          </a:solidFill>
          <a:ln/>
        </p:spPr>
        <p:txBody>
          <a:bodyPr/>
          <a:lstStyle/>
          <a:p>
            <a:endParaRPr lang="en-US"/>
          </a:p>
        </p:txBody>
      </p:sp>
      <p:sp>
        <p:nvSpPr>
          <p:cNvPr id="34" name="Gauge segment"/>
          <p:cNvSpPr/>
          <p:nvPr/>
        </p:nvSpPr>
        <p:spPr>
          <a:xfrm>
            <a:off x="7772400" y="2331720"/>
            <a:ext cx="3749040" cy="3749040"/>
          </a:xfrm>
          <a:prstGeom prst="blockArc">
            <a:avLst>
              <a:gd name="adj1" fmla="val 21036000"/>
              <a:gd name="adj2" fmla="val 21564000"/>
              <a:gd name="adj3" fmla="val 12000"/>
            </a:avLst>
          </a:prstGeom>
          <a:solidFill>
            <a:srgbClr val="FF453A"/>
          </a:solidFill>
          <a:ln/>
        </p:spPr>
        <p:txBody>
          <a:bodyPr/>
          <a:lstStyle/>
          <a:p>
            <a:endParaRPr lang="en-US"/>
          </a:p>
        </p:txBody>
      </p:sp>
      <p:sp>
        <p:nvSpPr>
          <p:cNvPr id="35" name="Gauge needle"/>
          <p:cNvSpPr/>
          <p:nvPr/>
        </p:nvSpPr>
        <p:spPr>
          <a:xfrm flipV="1">
            <a:off x="9646920" y="3519847"/>
            <a:ext cx="1458660" cy="686393"/>
          </a:xfrm>
          <a:prstGeom prst="line">
            <a:avLst/>
          </a:prstGeom>
          <a:noFill/>
          <a:ln w="44450">
            <a:solidFill>
              <a:srgbClr val="E6EDF3"/>
            </a:solidFill>
            <a:prstDash val="solid"/>
          </a:ln>
        </p:spPr>
        <p:txBody>
          <a:bodyPr/>
          <a:lstStyle/>
          <a:p>
            <a:endParaRPr lang="en-US"/>
          </a:p>
        </p:txBody>
      </p:sp>
      <p:sp>
        <p:nvSpPr>
          <p:cNvPr id="36" name="Gauge hub"/>
          <p:cNvSpPr/>
          <p:nvPr/>
        </p:nvSpPr>
        <p:spPr>
          <a:xfrm>
            <a:off x="9478213" y="4037533"/>
            <a:ext cx="337414" cy="337414"/>
          </a:xfrm>
          <a:prstGeom prst="ellipse">
            <a:avLst/>
          </a:prstGeom>
          <a:solidFill>
            <a:srgbClr val="E6EDF3"/>
          </a:solidFill>
          <a:ln/>
        </p:spPr>
        <p:txBody>
          <a:bodyPr/>
          <a:lstStyle/>
          <a:p>
            <a:endParaRPr lang="en-US"/>
          </a:p>
        </p:txBody>
      </p:sp>
      <p:sp>
        <p:nvSpPr>
          <p:cNvPr id="37" name="Text 35"/>
          <p:cNvSpPr txBox="1"/>
          <p:nvPr/>
        </p:nvSpPr>
        <p:spPr>
          <a:xfrm>
            <a:off x="7772400" y="4526280"/>
            <a:ext cx="3749040" cy="640080"/>
          </a:xfrm>
          <a:prstGeom prst="rect">
            <a:avLst/>
          </a:prstGeom>
          <a:noFill/>
          <a:ln/>
        </p:spPr>
        <p:txBody>
          <a:bodyPr wrap="square" lIns="0" tIns="0" rIns="0" bIns="0" rtlCol="0" anchor="ctr"/>
          <a:lstStyle/>
          <a:p>
            <a:pPr marL="0" indent="0" algn="ctr">
              <a:buNone/>
            </a:pPr>
            <a:r>
              <a:rPr lang="en-US" sz="3000" dirty="0">
                <a:solidFill>
                  <a:srgbClr val="FFB000"/>
                </a:solidFill>
                <a:latin typeface="Segoe UI Semibold" pitchFamily="34" charset="0"/>
                <a:ea typeface="Segoe UI Semibold" pitchFamily="34" charset="-122"/>
                <a:cs typeface="Segoe UI Semibold" pitchFamily="34" charset="-120"/>
              </a:rPr>
              <a:t>Questions?</a:t>
            </a:r>
            <a:endParaRPr lang="en-US" sz="3000" dirty="0"/>
          </a:p>
        </p:txBody>
      </p:sp>
    </p:spTree>
  </p:cSld>
  <p:clrMapOvr>
    <a:masterClrMapping/>
  </p:clrMapOvr>
</p:sld>
</file>

<file path=ppt/theme/theme1.xml><?xml version="1.0" encoding="utf-8"?>
<a:theme xmlns:a="http://schemas.openxmlformats.org/drawingml/2006/main" name="CVE Panic Meter">
  <a:themeElements>
    <a:clrScheme name="CVE Panic Meter">
      <a:dk1>
        <a:srgbClr val="E6EDF3"/>
      </a:dk1>
      <a:lt1>
        <a:srgbClr val="0B0F14"/>
      </a:lt1>
      <a:dk2>
        <a:srgbClr val="93A1B3"/>
      </a:dk2>
      <a:lt2>
        <a:srgbClr val="1A2330"/>
      </a:lt2>
      <a:accent1>
        <a:srgbClr val="FFB000"/>
      </a:accent1>
      <a:accent2>
        <a:srgbClr val="FF453A"/>
      </a:accent2>
      <a:accent3>
        <a:srgbClr val="7AA2C8"/>
      </a:accent3>
      <a:accent4>
        <a:srgbClr val="4CC38A"/>
      </a:accent4>
      <a:accent5>
        <a:srgbClr val="121922"/>
      </a:accent5>
      <a:accent6>
        <a:srgbClr val="2A3646"/>
      </a:accent6>
      <a:hlink>
        <a:srgbClr val="FFB000"/>
      </a:hlink>
      <a:folHlink>
        <a:srgbClr val="7AA2C8"/>
      </a:folHlink>
    </a:clrScheme>
    <a:fontScheme name="CVE Panic Meter">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4786</Words>
  <Application>Microsoft Office PowerPoint</Application>
  <PresentationFormat>Breedbeeld</PresentationFormat>
  <Paragraphs>323</Paragraphs>
  <Slides>12</Slides>
  <Notes>12</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12</vt:i4>
      </vt:variant>
    </vt:vector>
  </HeadingPairs>
  <TitlesOfParts>
    <vt:vector size="17" baseType="lpstr">
      <vt:lpstr>Arial</vt:lpstr>
      <vt:lpstr>Consolas</vt:lpstr>
      <vt:lpstr>Segoe UI</vt:lpstr>
      <vt:lpstr>Segoe UI Semibold</vt:lpstr>
      <vt:lpstr>CVE Panic Meter</vt:lpstr>
      <vt:lpstr>PowerPoint-presentatie</vt:lpstr>
      <vt:lpstr>The official score comes late, attackers come early</vt:lpstr>
      <vt:lpstr>Municipal IT is infrastructure, and small municipalities count too</vt:lpstr>
      <vt:lpstr>Often one person, deciding every week what can wait</vt:lpstr>
      <vt:lpstr>Six steps from live post to dashboard, with the model at the core</vt:lpstr>
      <vt:lpstr>Live: the dashboard the officer opens on Tuesday morning</vt:lpstr>
      <vt:lpstr>Fine-tuned it finds 18 of 20, but it passes only half our own bar</vt:lpstr>
      <vt:lpstr>Japanese posts look alarmed to a model that cannot read them</vt:lpstr>
      <vt:lpstr>Why not something simpler? Each one misses what the officer needs</vt:lpstr>
      <vt:lpstr>Five risks specific to this stream and this model, and what we did</vt:lpstr>
      <vt:lpstr>We made the choices, AI helped build, no chat model scores a post</vt:lpstr>
      <vt:lpstr>Three questions, three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CVE Panic Meter</dc:title>
  <dc:subject>AI for Good, Hackathon 6: Live Pulse, SDG 9</dc:subject>
  <dc:creator>Lucas Jansze, Muhammad Iqbal and Pavitra Pradeep</dc:creator>
  <cp:lastModifiedBy>Lucas jansze Jansze (23052236)</cp:lastModifiedBy>
  <cp:revision>2</cp:revision>
  <dcterms:created xsi:type="dcterms:W3CDTF">2026-10-14T19:25:42Z</dcterms:created>
  <dcterms:modified xsi:type="dcterms:W3CDTF">2026-10-15T08:48:34Z</dcterms:modified>
</cp:coreProperties>
</file>